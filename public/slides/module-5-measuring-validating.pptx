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reminding the room: this is the last hour. By the time you leave, the four artifacts are complete. Affirm: you are not building five separate documents — you are building one program theory in five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'Where does YOUR program currently sit?' Most hands will go to Level 1 or 2. That's honest. The point isn't shame — it's that L3 is achievable, and L4 is for the largest grant pursuits later. Don't ladder past L3 chasing rigor we can't yet sustain.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letter slowly. The most common failure point is R — Relevant. People pick indicators they can collect easily rather than indicators that actually measure the outcome they care about. That's a data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BJJ R-row to make the point about Relevance: sessions attended is easy to collect, but it measures activity, not the outcome we care about (emotional regulation). The collectible indicator is rarely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 assumptions are almost always rated High — they're outside our control. That's the strategic point: the most fragile link in your chain is usually the people themselves. Plan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DECIDE step is where this protocol earns its keep. People over-Keep (out of attachment) and over-Cancel (out of frustration). Modify is usually the right answer — and the one most often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program does no review at all, start monthly. The compliance answer for funders is 'we review annually.' The strategic answer is 'monthly informs quarterly informs annually.' That cadence is how learning organizations actually 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minutes. First 25 minutes: silent build. Final 15: triads — one person reads their plan, the other two stress-test the indicator against the R and T tests, and challenge each assumption's risk rating. Be generous with High ratings — better honest than reassuring.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Acknowledge the work. Five weeks ago many in the room could not articulate the philosophy behind their program. Now they have four interlocking artifacts. That's the achievement of this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close of the substantive content. Read each question aloud, slowly. The point is: 'You now have an answer to each of these. Six months ago, you didn't.'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clearly. This is not an exam. It is evidence that program leads can think strategically about their work and measure its impact. When we get to 100%, MASGLA can do something it has never done before — prove, in a structured way, that its programs change people's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Quiet writing first — 3 minutes. Then a round-robin where each person reads only their answer to question 3. That builds an immediate accountability network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Bridge to the closing slide: the framework is complete. What remains is the work itself — and that is in your hands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0" y="0"/>
            <a:ext cx="4572000" cy="2194560"/>
          </a:xfrm>
          <a:prstGeom prst="rect">
            <a:avLst/>
          </a:prstGeom>
        </p:spPr>
      </p:pic>
      <p:pic>
        <p:nvPicPr>
          <p:cNvPr id="3" name="Image 1" descr="preencoded.png">    </p:cNvPr>
          <p:cNvPicPr>
            <a:picLocks noChangeAspect="1"/>
          </p:cNvPicPr>
          <p:nvPr/>
        </p:nvPicPr>
        <p:blipFill>
          <a:blip r:embed="rId2"/>
          <a:stretch>
            <a:fillRect/>
          </a:stretch>
        </p:blipFill>
        <p:spPr>
          <a:xfrm>
            <a:off x="502920" y="411480"/>
            <a:ext cx="502920" cy="502920"/>
          </a:xfrm>
          <a:prstGeom prst="rect">
            <a:avLst/>
          </a:prstGeom>
        </p:spPr>
      </p:pic>
      <p:sp>
        <p:nvSpPr>
          <p:cNvPr id="4" name="Text 0"/>
          <p:cNvSpPr/>
          <p:nvPr/>
        </p:nvSpPr>
        <p:spPr>
          <a:xfrm>
            <a:off x="1097280" y="393192"/>
            <a:ext cx="1463040" cy="246888"/>
          </a:xfrm>
          <a:prstGeom prst="rect">
            <a:avLst/>
          </a:prstGeom>
          <a:noFill/>
          <a:ln/>
        </p:spPr>
        <p:txBody>
          <a:bodyPr wrap="square" lIns="0" tIns="0" rIns="0" bIns="0" rtlCol="0" anchor="b"/>
          <a:lstStyle/>
          <a:p>
            <a:pPr indent="0" marL="0">
              <a:buNone/>
            </a:pPr>
            <a:r>
              <a:rPr lang="en-US" sz="1300" b="1" dirty="0">
                <a:solidFill>
                  <a:srgbClr val="15314F"/>
                </a:solidFill>
                <a:latin typeface="Calibri" pitchFamily="34" charset="0"/>
                <a:ea typeface="Calibri" pitchFamily="34" charset="-122"/>
                <a:cs typeface="Calibri" pitchFamily="34" charset="-120"/>
              </a:rPr>
              <a:t>AMAL &amp;</a:t>
            </a:r>
            <a:endParaRPr lang="en-US" sz="1300" dirty="0"/>
          </a:p>
        </p:txBody>
      </p:sp>
      <p:sp>
        <p:nvSpPr>
          <p:cNvPr id="5" name="Text 1"/>
          <p:cNvSpPr/>
          <p:nvPr/>
        </p:nvSpPr>
        <p:spPr>
          <a:xfrm>
            <a:off x="1097280" y="603504"/>
            <a:ext cx="1463040" cy="246888"/>
          </a:xfrm>
          <a:prstGeom prst="rect">
            <a:avLst/>
          </a:prstGeom>
          <a:noFill/>
          <a:ln/>
        </p:spPr>
        <p:txBody>
          <a:bodyPr wrap="square" lIns="0" tIns="0" rIns="0" bIns="0" rtlCol="0" anchor="t"/>
          <a:lstStyle/>
          <a:p>
            <a:pPr indent="0" marL="0">
              <a:buNone/>
            </a:pPr>
            <a:r>
              <a:rPr lang="en-US" sz="1300" b="1" dirty="0">
                <a:solidFill>
                  <a:srgbClr val="15314F"/>
                </a:solidFill>
                <a:latin typeface="Calibri" pitchFamily="34" charset="0"/>
                <a:ea typeface="Calibri" pitchFamily="34" charset="-122"/>
                <a:cs typeface="Calibri" pitchFamily="34" charset="-120"/>
              </a:rPr>
              <a:t>COMPANY</a:t>
            </a:r>
            <a:endParaRPr lang="en-US" sz="1300" dirty="0"/>
          </a:p>
        </p:txBody>
      </p:sp>
      <p:sp>
        <p:nvSpPr>
          <p:cNvPr id="6" name="Text 2"/>
          <p:cNvSpPr/>
          <p:nvPr/>
        </p:nvSpPr>
        <p:spPr>
          <a:xfrm>
            <a:off x="1097280" y="813816"/>
            <a:ext cx="1645920" cy="164592"/>
          </a:xfrm>
          <a:prstGeom prst="rect">
            <a:avLst/>
          </a:prstGeom>
          <a:noFill/>
          <a:ln/>
        </p:spPr>
        <p:txBody>
          <a:bodyPr wrap="square" lIns="0" tIns="0" rIns="0" bIns="0" rtlCol="0" anchor="t"/>
          <a:lstStyle/>
          <a:p>
            <a:pPr indent="0" marL="0">
              <a:buNone/>
            </a:pPr>
            <a:r>
              <a:rPr lang="en-US" sz="650" spc="140" kern="0" dirty="0">
                <a:solidFill>
                  <a:srgbClr val="15314F"/>
                </a:solidFill>
                <a:latin typeface="Calibri" pitchFamily="34" charset="0"/>
                <a:ea typeface="Calibri" pitchFamily="34" charset="-122"/>
                <a:cs typeface="Calibri" pitchFamily="34" charset="-120"/>
              </a:rPr>
              <a:t>SCALING SOCIAL IMPACT</a:t>
            </a:r>
            <a:endParaRPr lang="en-US" sz="650" dirty="0"/>
          </a:p>
        </p:txBody>
      </p:sp>
      <p:sp>
        <p:nvSpPr>
          <p:cNvPr id="7" name="Text 3"/>
          <p:cNvSpPr/>
          <p:nvPr/>
        </p:nvSpPr>
        <p:spPr>
          <a:xfrm>
            <a:off x="502920" y="1783080"/>
            <a:ext cx="3657600" cy="292608"/>
          </a:xfrm>
          <a:prstGeom prst="rect">
            <a:avLst/>
          </a:prstGeom>
          <a:noFill/>
          <a:ln/>
        </p:spPr>
        <p:txBody>
          <a:bodyPr wrap="square" lIns="0" tIns="0" rIns="0" bIns="0" rtlCol="0" anchor="ctr"/>
          <a:lstStyle/>
          <a:p>
            <a:pPr indent="0" marL="0">
              <a:buNone/>
            </a:pPr>
            <a:r>
              <a:rPr lang="en-US" sz="1200" b="1" spc="500" kern="0" dirty="0">
                <a:solidFill>
                  <a:srgbClr val="5BA9D8"/>
                </a:solidFill>
                <a:latin typeface="Calibri" pitchFamily="34" charset="0"/>
                <a:ea typeface="Calibri" pitchFamily="34" charset="-122"/>
                <a:cs typeface="Calibri" pitchFamily="34" charset="-120"/>
              </a:rPr>
              <a:t>MODULE 05</a:t>
            </a:r>
            <a:endParaRPr lang="en-US" sz="1200" dirty="0"/>
          </a:p>
        </p:txBody>
      </p:sp>
      <p:sp>
        <p:nvSpPr>
          <p:cNvPr id="8" name="Text 4"/>
          <p:cNvSpPr/>
          <p:nvPr/>
        </p:nvSpPr>
        <p:spPr>
          <a:xfrm>
            <a:off x="502920" y="2103120"/>
            <a:ext cx="8229600" cy="1554480"/>
          </a:xfrm>
          <a:prstGeom prst="rect">
            <a:avLst/>
          </a:prstGeom>
          <a:noFill/>
          <a:ln/>
        </p:spPr>
        <p:txBody>
          <a:bodyPr wrap="square" lIns="0" tIns="0" rIns="0" bIns="0" rtlCol="0" anchor="ctr"/>
          <a:lstStyle/>
          <a:p>
            <a:pPr indent="0" marL="0">
              <a:buNone/>
            </a:pPr>
            <a:r>
              <a:rPr lang="en-US" sz="5000" dirty="0">
                <a:solidFill>
                  <a:srgbClr val="15314F"/>
                </a:solidFill>
                <a:latin typeface="Calibri Light" pitchFamily="34" charset="0"/>
                <a:ea typeface="Calibri Light" pitchFamily="34" charset="-122"/>
                <a:cs typeface="Calibri Light" pitchFamily="34" charset="-120"/>
              </a:rPr>
              <a:t>Measuring &amp;</a:t>
            </a:r>
            <a:endParaRPr lang="en-US" sz="5000" dirty="0"/>
          </a:p>
          <a:p>
            <a:pPr indent="0" marL="0">
              <a:buNone/>
            </a:pPr>
            <a:r>
              <a:rPr lang="en-US" sz="5000" dirty="0">
                <a:solidFill>
                  <a:srgbClr val="15314F"/>
                </a:solidFill>
                <a:latin typeface="Calibri Light" pitchFamily="34" charset="0"/>
                <a:ea typeface="Calibri Light" pitchFamily="34" charset="-122"/>
                <a:cs typeface="Calibri Light" pitchFamily="34" charset="-120"/>
              </a:rPr>
              <a:t>Validating Impact</a:t>
            </a:r>
            <a:endParaRPr lang="en-US" sz="5000" dirty="0"/>
          </a:p>
        </p:txBody>
      </p:sp>
      <p:sp>
        <p:nvSpPr>
          <p:cNvPr id="9" name="Text 5"/>
          <p:cNvSpPr/>
          <p:nvPr/>
        </p:nvSpPr>
        <p:spPr>
          <a:xfrm>
            <a:off x="502920" y="3703320"/>
            <a:ext cx="7772400" cy="457200"/>
          </a:xfrm>
          <a:prstGeom prst="rect">
            <a:avLst/>
          </a:prstGeom>
          <a:noFill/>
          <a:ln/>
        </p:spPr>
        <p:txBody>
          <a:bodyPr wrap="square" lIns="0" tIns="0" rIns="0" bIns="0" rtlCol="0" anchor="ctr"/>
          <a:lstStyle/>
          <a:p>
            <a:pPr indent="0" marL="0">
              <a:buNone/>
            </a:pPr>
            <a:r>
              <a:rPr lang="en-US" sz="1400" dirty="0">
                <a:solidFill>
                  <a:srgbClr val="1F4570"/>
                </a:solidFill>
                <a:latin typeface="Calibri" pitchFamily="34" charset="0"/>
                <a:ea typeface="Calibri" pitchFamily="34" charset="-122"/>
                <a:cs typeface="Calibri" pitchFamily="34" charset="-120"/>
              </a:rPr>
              <a:t>Build a measurement plan with SMART indicators, baselines, and an assumption register.</a:t>
            </a:r>
            <a:endParaRPr lang="en-US" sz="1400" dirty="0"/>
          </a:p>
        </p:txBody>
      </p:sp>
      <p:sp>
        <p:nvSpPr>
          <p:cNvPr id="10" name="Shape 6"/>
          <p:cNvSpPr/>
          <p:nvPr/>
        </p:nvSpPr>
        <p:spPr>
          <a:xfrm>
            <a:off x="502920" y="4640580"/>
            <a:ext cx="8138160" cy="0"/>
          </a:xfrm>
          <a:prstGeom prst="line">
            <a:avLst/>
          </a:prstGeom>
          <a:noFill/>
          <a:ln w="9525">
            <a:solidFill>
              <a:srgbClr val="DCE6EE"/>
            </a:solidFill>
            <a:prstDash val="solid"/>
          </a:ln>
        </p:spPr>
      </p:sp>
      <p:sp>
        <p:nvSpPr>
          <p:cNvPr id="11" name="Text 7"/>
          <p:cNvSpPr/>
          <p:nvPr/>
        </p:nvSpPr>
        <p:spPr>
          <a:xfrm>
            <a:off x="502920" y="4777740"/>
            <a:ext cx="3657600" cy="228600"/>
          </a:xfrm>
          <a:prstGeom prst="rect">
            <a:avLst/>
          </a:prstGeom>
          <a:noFill/>
          <a:ln/>
        </p:spPr>
        <p:txBody>
          <a:bodyPr wrap="square" lIns="0" tIns="0" rIns="0" bIns="0" rtlCol="0" anchor="ctr"/>
          <a:lstStyle/>
          <a:p>
            <a:pPr indent="0" marL="0">
              <a:buNone/>
            </a:pPr>
            <a:r>
              <a:rPr lang="en-US" sz="950" dirty="0">
                <a:solidFill>
                  <a:srgbClr val="5A6F82"/>
                </a:solidFill>
                <a:latin typeface="Calibri" pitchFamily="34" charset="0"/>
                <a:ea typeface="Calibri" pitchFamily="34" charset="-122"/>
                <a:cs typeface="Calibri" pitchFamily="34" charset="-120"/>
              </a:rPr>
              <a:t>www.amalandcompany.com</a:t>
            </a:r>
            <a:endParaRPr lang="en-US" sz="950" dirty="0"/>
          </a:p>
        </p:txBody>
      </p:sp>
      <p:sp>
        <p:nvSpPr>
          <p:cNvPr id="12" name="Text 8"/>
          <p:cNvSpPr/>
          <p:nvPr/>
        </p:nvSpPr>
        <p:spPr>
          <a:xfrm>
            <a:off x="4983480" y="4777740"/>
            <a:ext cx="3657600" cy="228600"/>
          </a:xfrm>
          <a:prstGeom prst="rect">
            <a:avLst/>
          </a:prstGeom>
          <a:noFill/>
          <a:ln/>
        </p:spPr>
        <p:txBody>
          <a:bodyPr wrap="square" lIns="0" tIns="0" rIns="0" bIns="0" rtlCol="0" anchor="ctr"/>
          <a:lstStyle/>
          <a:p>
            <a:pPr algn="r" indent="0" marL="0">
              <a:buNone/>
            </a:pPr>
            <a:r>
              <a:rPr lang="en-US" sz="950" dirty="0">
                <a:solidFill>
                  <a:srgbClr val="5A6F82"/>
                </a:solidFill>
                <a:latin typeface="Calibri" pitchFamily="34" charset="0"/>
                <a:ea typeface="Calibri" pitchFamily="34" charset="-122"/>
                <a:cs typeface="Calibri" pitchFamily="34" charset="-120"/>
              </a:rPr>
              <a:t>Facilitated by Amal &amp; Company</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Where we are</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Module 5 of 5  ·  The final piece — how we know it worked</a:t>
            </a:r>
            <a:endParaRPr lang="en-US" sz="3000" dirty="0"/>
          </a:p>
        </p:txBody>
      </p:sp>
      <p:sp>
        <p:nvSpPr>
          <p:cNvPr id="5" name="Text 2"/>
          <p:cNvSpPr/>
          <p:nvPr/>
        </p:nvSpPr>
        <p:spPr>
          <a:xfrm>
            <a:off x="502920" y="1600200"/>
            <a:ext cx="8138160" cy="822960"/>
          </a:xfrm>
          <a:prstGeom prst="rect">
            <a:avLst/>
          </a:prstGeom>
          <a:noFill/>
          <a:ln/>
        </p:spPr>
        <p:txBody>
          <a:bodyPr wrap="square" lIns="0" tIns="0" rIns="0" bIns="0" rtlCol="0" anchor="ctr"/>
          <a:lstStyle/>
          <a:p>
            <a:pPr indent="0" marL="0">
              <a:buNone/>
            </a:pPr>
            <a:r>
              <a:rPr lang="en-US" sz="1400" dirty="0">
                <a:solidFill>
                  <a:srgbClr val="15314F"/>
                </a:solidFill>
                <a:latin typeface="Calibri" pitchFamily="34" charset="0"/>
                <a:ea typeface="Calibri" pitchFamily="34" charset="-122"/>
                <a:cs typeface="Calibri" pitchFamily="34" charset="-120"/>
              </a:rPr>
              <a:t>You have a Q-Zero, a pathway, and a logframe. This module turns those promises into actual evidence — SMART indicators, an assumption register, and the protocol you'll use when the data tells you to change course.</a:t>
            </a:r>
            <a:endParaRPr lang="en-US" sz="1400" dirty="0"/>
          </a:p>
        </p:txBody>
      </p:sp>
      <p:sp>
        <p:nvSpPr>
          <p:cNvPr id="6" name="Shape 3"/>
          <p:cNvSpPr/>
          <p:nvPr/>
        </p:nvSpPr>
        <p:spPr>
          <a:xfrm>
            <a:off x="470916" y="2788920"/>
            <a:ext cx="1508760" cy="1417320"/>
          </a:xfrm>
          <a:prstGeom prst="roundRect">
            <a:avLst>
              <a:gd name="adj" fmla="val 6452"/>
            </a:avLst>
          </a:prstGeom>
          <a:solidFill>
            <a:srgbClr val="E5F2FA"/>
          </a:solidFill>
          <a:ln w="6350">
            <a:solidFill>
              <a:srgbClr val="DCE6EE"/>
            </a:solidFill>
            <a:prstDash val="solid"/>
          </a:ln>
        </p:spPr>
      </p:sp>
      <p:sp>
        <p:nvSpPr>
          <p:cNvPr id="7" name="Text 4"/>
          <p:cNvSpPr/>
          <p:nvPr/>
        </p:nvSpPr>
        <p:spPr>
          <a:xfrm>
            <a:off x="470916" y="2971800"/>
            <a:ext cx="1508760" cy="502920"/>
          </a:xfrm>
          <a:prstGeom prst="rect">
            <a:avLst/>
          </a:prstGeom>
          <a:noFill/>
          <a:ln/>
        </p:spPr>
        <p:txBody>
          <a:bodyPr wrap="square" lIns="0" tIns="0" rIns="0" bIns="0" rtlCol="0" anchor="ctr"/>
          <a:lstStyle/>
          <a:p>
            <a:pPr algn="ctr" indent="0" marL="0">
              <a:buNone/>
            </a:pPr>
            <a:r>
              <a:rPr lang="en-US" sz="3000" b="1" dirty="0">
                <a:solidFill>
                  <a:srgbClr val="5BA9D8"/>
                </a:solidFill>
                <a:latin typeface="Calibri Light" pitchFamily="34" charset="0"/>
                <a:ea typeface="Calibri Light" pitchFamily="34" charset="-122"/>
                <a:cs typeface="Calibri Light" pitchFamily="34" charset="-120"/>
              </a:rPr>
              <a:t>1</a:t>
            </a:r>
            <a:endParaRPr lang="en-US" sz="3000" dirty="0"/>
          </a:p>
        </p:txBody>
      </p:sp>
      <p:sp>
        <p:nvSpPr>
          <p:cNvPr id="8" name="Text 5"/>
          <p:cNvSpPr/>
          <p:nvPr/>
        </p:nvSpPr>
        <p:spPr>
          <a:xfrm>
            <a:off x="562356" y="3566160"/>
            <a:ext cx="1325880" cy="548640"/>
          </a:xfrm>
          <a:prstGeom prst="rect">
            <a:avLst/>
          </a:prstGeom>
          <a:noFill/>
          <a:ln/>
        </p:spPr>
        <p:txBody>
          <a:bodyPr wrap="square" lIns="0" tIns="0" rIns="0" bIns="0" rtlCol="0" anchor="t"/>
          <a:lstStyle/>
          <a:p>
            <a:pPr algn="ctr" indent="0" marL="0">
              <a:buNone/>
            </a:pPr>
            <a:r>
              <a:rPr lang="en-US" sz="1050" dirty="0">
                <a:solidFill>
                  <a:srgbClr val="15314F"/>
                </a:solidFill>
                <a:latin typeface="Calibri" pitchFamily="34" charset="0"/>
                <a:ea typeface="Calibri" pitchFamily="34" charset="-122"/>
                <a:cs typeface="Calibri" pitchFamily="34" charset="-120"/>
              </a:rPr>
              <a:t>Why This Matters</a:t>
            </a:r>
            <a:endParaRPr lang="en-US" sz="1050" dirty="0"/>
          </a:p>
        </p:txBody>
      </p:sp>
      <p:sp>
        <p:nvSpPr>
          <p:cNvPr id="9" name="Shape 6"/>
          <p:cNvSpPr/>
          <p:nvPr/>
        </p:nvSpPr>
        <p:spPr>
          <a:xfrm>
            <a:off x="2144268" y="2788920"/>
            <a:ext cx="1508760" cy="1417320"/>
          </a:xfrm>
          <a:prstGeom prst="roundRect">
            <a:avLst>
              <a:gd name="adj" fmla="val 6452"/>
            </a:avLst>
          </a:prstGeom>
          <a:solidFill>
            <a:srgbClr val="E5F2FA"/>
          </a:solidFill>
          <a:ln w="6350">
            <a:solidFill>
              <a:srgbClr val="DCE6EE"/>
            </a:solidFill>
            <a:prstDash val="solid"/>
          </a:ln>
        </p:spPr>
      </p:sp>
      <p:sp>
        <p:nvSpPr>
          <p:cNvPr id="10" name="Text 7"/>
          <p:cNvSpPr/>
          <p:nvPr/>
        </p:nvSpPr>
        <p:spPr>
          <a:xfrm>
            <a:off x="2144268" y="2971800"/>
            <a:ext cx="1508760" cy="502920"/>
          </a:xfrm>
          <a:prstGeom prst="rect">
            <a:avLst/>
          </a:prstGeom>
          <a:noFill/>
          <a:ln/>
        </p:spPr>
        <p:txBody>
          <a:bodyPr wrap="square" lIns="0" tIns="0" rIns="0" bIns="0" rtlCol="0" anchor="ctr"/>
          <a:lstStyle/>
          <a:p>
            <a:pPr algn="ctr" indent="0" marL="0">
              <a:buNone/>
            </a:pPr>
            <a:r>
              <a:rPr lang="en-US" sz="3000" b="1" dirty="0">
                <a:solidFill>
                  <a:srgbClr val="5BA9D8"/>
                </a:solidFill>
                <a:latin typeface="Calibri Light" pitchFamily="34" charset="0"/>
                <a:ea typeface="Calibri Light" pitchFamily="34" charset="-122"/>
                <a:cs typeface="Calibri Light" pitchFamily="34" charset="-120"/>
              </a:rPr>
              <a:t>2</a:t>
            </a:r>
            <a:endParaRPr lang="en-US" sz="3000" dirty="0"/>
          </a:p>
        </p:txBody>
      </p:sp>
      <p:sp>
        <p:nvSpPr>
          <p:cNvPr id="11" name="Text 8"/>
          <p:cNvSpPr/>
          <p:nvPr/>
        </p:nvSpPr>
        <p:spPr>
          <a:xfrm>
            <a:off x="2235708" y="3566160"/>
            <a:ext cx="1325880" cy="548640"/>
          </a:xfrm>
          <a:prstGeom prst="rect">
            <a:avLst/>
          </a:prstGeom>
          <a:noFill/>
          <a:ln/>
        </p:spPr>
        <p:txBody>
          <a:bodyPr wrap="square" lIns="0" tIns="0" rIns="0" bIns="0" rtlCol="0" anchor="t"/>
          <a:lstStyle/>
          <a:p>
            <a:pPr algn="ctr" indent="0" marL="0">
              <a:buNone/>
            </a:pPr>
            <a:r>
              <a:rPr lang="en-US" sz="1050" dirty="0">
                <a:solidFill>
                  <a:srgbClr val="15314F"/>
                </a:solidFill>
                <a:latin typeface="Calibri" pitchFamily="34" charset="0"/>
                <a:ea typeface="Calibri" pitchFamily="34" charset="-122"/>
                <a:cs typeface="Calibri" pitchFamily="34" charset="-120"/>
              </a:rPr>
              <a:t>Q-Zero</a:t>
            </a:r>
            <a:endParaRPr lang="en-US" sz="1050" dirty="0"/>
          </a:p>
        </p:txBody>
      </p:sp>
      <p:sp>
        <p:nvSpPr>
          <p:cNvPr id="12" name="Shape 9"/>
          <p:cNvSpPr/>
          <p:nvPr/>
        </p:nvSpPr>
        <p:spPr>
          <a:xfrm>
            <a:off x="3817620" y="2788920"/>
            <a:ext cx="1508760" cy="1417320"/>
          </a:xfrm>
          <a:prstGeom prst="roundRect">
            <a:avLst>
              <a:gd name="adj" fmla="val 6452"/>
            </a:avLst>
          </a:prstGeom>
          <a:solidFill>
            <a:srgbClr val="E5F2FA"/>
          </a:solidFill>
          <a:ln w="6350">
            <a:solidFill>
              <a:srgbClr val="DCE6EE"/>
            </a:solidFill>
            <a:prstDash val="solid"/>
          </a:ln>
        </p:spPr>
      </p:sp>
      <p:sp>
        <p:nvSpPr>
          <p:cNvPr id="13" name="Text 10"/>
          <p:cNvSpPr/>
          <p:nvPr/>
        </p:nvSpPr>
        <p:spPr>
          <a:xfrm>
            <a:off x="3817620" y="2971800"/>
            <a:ext cx="1508760" cy="502920"/>
          </a:xfrm>
          <a:prstGeom prst="rect">
            <a:avLst/>
          </a:prstGeom>
          <a:noFill/>
          <a:ln/>
        </p:spPr>
        <p:txBody>
          <a:bodyPr wrap="square" lIns="0" tIns="0" rIns="0" bIns="0" rtlCol="0" anchor="ctr"/>
          <a:lstStyle/>
          <a:p>
            <a:pPr algn="ctr" indent="0" marL="0">
              <a:buNone/>
            </a:pPr>
            <a:r>
              <a:rPr lang="en-US" sz="3000" b="1" dirty="0">
                <a:solidFill>
                  <a:srgbClr val="5BA9D8"/>
                </a:solidFill>
                <a:latin typeface="Calibri Light" pitchFamily="34" charset="0"/>
                <a:ea typeface="Calibri Light" pitchFamily="34" charset="-122"/>
                <a:cs typeface="Calibri Light" pitchFamily="34" charset="-120"/>
              </a:rPr>
              <a:t>3</a:t>
            </a:r>
            <a:endParaRPr lang="en-US" sz="3000" dirty="0"/>
          </a:p>
        </p:txBody>
      </p:sp>
      <p:sp>
        <p:nvSpPr>
          <p:cNvPr id="14" name="Text 11"/>
          <p:cNvSpPr/>
          <p:nvPr/>
        </p:nvSpPr>
        <p:spPr>
          <a:xfrm>
            <a:off x="3909060" y="3566160"/>
            <a:ext cx="1325880" cy="548640"/>
          </a:xfrm>
          <a:prstGeom prst="rect">
            <a:avLst/>
          </a:prstGeom>
          <a:noFill/>
          <a:ln/>
        </p:spPr>
        <p:txBody>
          <a:bodyPr wrap="square" lIns="0" tIns="0" rIns="0" bIns="0" rtlCol="0" anchor="t"/>
          <a:lstStyle/>
          <a:p>
            <a:pPr algn="ctr" indent="0" marL="0">
              <a:buNone/>
            </a:pPr>
            <a:r>
              <a:rPr lang="en-US" sz="1050" dirty="0">
                <a:solidFill>
                  <a:srgbClr val="15314F"/>
                </a:solidFill>
                <a:latin typeface="Calibri" pitchFamily="34" charset="0"/>
                <a:ea typeface="Calibri" pitchFamily="34" charset="-122"/>
                <a:cs typeface="Calibri" pitchFamily="34" charset="-120"/>
              </a:rPr>
              <a:t>Impact Pathway</a:t>
            </a:r>
            <a:endParaRPr lang="en-US" sz="1050" dirty="0"/>
          </a:p>
        </p:txBody>
      </p:sp>
      <p:sp>
        <p:nvSpPr>
          <p:cNvPr id="15" name="Shape 12"/>
          <p:cNvSpPr/>
          <p:nvPr/>
        </p:nvSpPr>
        <p:spPr>
          <a:xfrm>
            <a:off x="5490972" y="2788920"/>
            <a:ext cx="1508760" cy="1417320"/>
          </a:xfrm>
          <a:prstGeom prst="roundRect">
            <a:avLst>
              <a:gd name="adj" fmla="val 6452"/>
            </a:avLst>
          </a:prstGeom>
          <a:solidFill>
            <a:srgbClr val="E5F2FA"/>
          </a:solidFill>
          <a:ln w="6350">
            <a:solidFill>
              <a:srgbClr val="DCE6EE"/>
            </a:solidFill>
            <a:prstDash val="solid"/>
          </a:ln>
        </p:spPr>
      </p:sp>
      <p:sp>
        <p:nvSpPr>
          <p:cNvPr id="16" name="Text 13"/>
          <p:cNvSpPr/>
          <p:nvPr/>
        </p:nvSpPr>
        <p:spPr>
          <a:xfrm>
            <a:off x="5490972" y="2971800"/>
            <a:ext cx="1508760" cy="502920"/>
          </a:xfrm>
          <a:prstGeom prst="rect">
            <a:avLst/>
          </a:prstGeom>
          <a:noFill/>
          <a:ln/>
        </p:spPr>
        <p:txBody>
          <a:bodyPr wrap="square" lIns="0" tIns="0" rIns="0" bIns="0" rtlCol="0" anchor="ctr"/>
          <a:lstStyle/>
          <a:p>
            <a:pPr algn="ctr" indent="0" marL="0">
              <a:buNone/>
            </a:pPr>
            <a:r>
              <a:rPr lang="en-US" sz="3000" b="1" dirty="0">
                <a:solidFill>
                  <a:srgbClr val="5BA9D8"/>
                </a:solidFill>
                <a:latin typeface="Calibri Light" pitchFamily="34" charset="0"/>
                <a:ea typeface="Calibri Light" pitchFamily="34" charset="-122"/>
                <a:cs typeface="Calibri Light" pitchFamily="34" charset="-120"/>
              </a:rPr>
              <a:t>4</a:t>
            </a:r>
            <a:endParaRPr lang="en-US" sz="3000" dirty="0"/>
          </a:p>
        </p:txBody>
      </p:sp>
      <p:sp>
        <p:nvSpPr>
          <p:cNvPr id="17" name="Text 14"/>
          <p:cNvSpPr/>
          <p:nvPr/>
        </p:nvSpPr>
        <p:spPr>
          <a:xfrm>
            <a:off x="5582412" y="3566160"/>
            <a:ext cx="1325880" cy="548640"/>
          </a:xfrm>
          <a:prstGeom prst="rect">
            <a:avLst/>
          </a:prstGeom>
          <a:noFill/>
          <a:ln/>
        </p:spPr>
        <p:txBody>
          <a:bodyPr wrap="square" lIns="0" tIns="0" rIns="0" bIns="0" rtlCol="0" anchor="t"/>
          <a:lstStyle/>
          <a:p>
            <a:pPr algn="ctr" indent="0" marL="0">
              <a:buNone/>
            </a:pPr>
            <a:r>
              <a:rPr lang="en-US" sz="1050" dirty="0">
                <a:solidFill>
                  <a:srgbClr val="15314F"/>
                </a:solidFill>
                <a:latin typeface="Calibri" pitchFamily="34" charset="0"/>
                <a:ea typeface="Calibri" pitchFamily="34" charset="-122"/>
                <a:cs typeface="Calibri" pitchFamily="34" charset="-120"/>
              </a:rPr>
              <a:t>Logframe</a:t>
            </a:r>
            <a:endParaRPr lang="en-US" sz="1050" dirty="0"/>
          </a:p>
        </p:txBody>
      </p:sp>
      <p:sp>
        <p:nvSpPr>
          <p:cNvPr id="18" name="Shape 15"/>
          <p:cNvSpPr/>
          <p:nvPr/>
        </p:nvSpPr>
        <p:spPr>
          <a:xfrm>
            <a:off x="7164324" y="2788920"/>
            <a:ext cx="1508760" cy="1417320"/>
          </a:xfrm>
          <a:prstGeom prst="roundRect">
            <a:avLst>
              <a:gd name="adj" fmla="val 6452"/>
            </a:avLst>
          </a:prstGeom>
          <a:solidFill>
            <a:srgbClr val="15314F"/>
          </a:solidFill>
          <a:ln w="6350">
            <a:solidFill>
              <a:srgbClr val="15314F"/>
            </a:solidFill>
            <a:prstDash val="solid"/>
          </a:ln>
        </p:spPr>
      </p:sp>
      <p:sp>
        <p:nvSpPr>
          <p:cNvPr id="19" name="Text 16"/>
          <p:cNvSpPr/>
          <p:nvPr/>
        </p:nvSpPr>
        <p:spPr>
          <a:xfrm>
            <a:off x="7164324" y="2971800"/>
            <a:ext cx="1508760" cy="502920"/>
          </a:xfrm>
          <a:prstGeom prst="rect">
            <a:avLst/>
          </a:prstGeom>
          <a:noFill/>
          <a:ln/>
        </p:spPr>
        <p:txBody>
          <a:bodyPr wrap="square" lIns="0" tIns="0" rIns="0" bIns="0" rtlCol="0" anchor="ctr"/>
          <a:lstStyle/>
          <a:p>
            <a:pPr algn="ctr" indent="0" marL="0">
              <a:buNone/>
            </a:pPr>
            <a:r>
              <a:rPr lang="en-US" sz="3000" b="1" dirty="0">
                <a:solidFill>
                  <a:srgbClr val="5BA9D8"/>
                </a:solidFill>
                <a:latin typeface="Calibri Light" pitchFamily="34" charset="0"/>
                <a:ea typeface="Calibri Light" pitchFamily="34" charset="-122"/>
                <a:cs typeface="Calibri Light" pitchFamily="34" charset="-120"/>
              </a:rPr>
              <a:t>5</a:t>
            </a:r>
            <a:endParaRPr lang="en-US" sz="3000" dirty="0"/>
          </a:p>
        </p:txBody>
      </p:sp>
      <p:sp>
        <p:nvSpPr>
          <p:cNvPr id="20" name="Text 17"/>
          <p:cNvSpPr/>
          <p:nvPr/>
        </p:nvSpPr>
        <p:spPr>
          <a:xfrm>
            <a:off x="7255764" y="3566160"/>
            <a:ext cx="1325880" cy="54864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Measuring &amp; Validating</a:t>
            </a:r>
            <a:endParaRPr lang="en-US" sz="1050" dirty="0"/>
          </a:p>
        </p:txBody>
      </p:sp>
      <p:sp>
        <p:nvSpPr>
          <p:cNvPr id="21" name="Shape 18"/>
          <p:cNvSpPr/>
          <p:nvPr/>
        </p:nvSpPr>
        <p:spPr>
          <a:xfrm>
            <a:off x="502920" y="4732020"/>
            <a:ext cx="8138160" cy="0"/>
          </a:xfrm>
          <a:prstGeom prst="line">
            <a:avLst/>
          </a:prstGeom>
          <a:noFill/>
          <a:ln w="9525">
            <a:solidFill>
              <a:srgbClr val="DCE6EE"/>
            </a:solidFill>
            <a:prstDash val="solid"/>
          </a:ln>
        </p:spPr>
      </p:sp>
      <p:sp>
        <p:nvSpPr>
          <p:cNvPr id="22" name="Text 19"/>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3" name="Text 20"/>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24" name="Text 21"/>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The measurement hierarchy</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Most MASGLA programs stop at Level 2. We're moving to Level 3.</a:t>
            </a:r>
            <a:endParaRPr lang="en-US" sz="3000" dirty="0"/>
          </a:p>
        </p:txBody>
      </p:sp>
      <p:sp>
        <p:nvSpPr>
          <p:cNvPr id="5" name="Shape 2"/>
          <p:cNvSpPr/>
          <p:nvPr/>
        </p:nvSpPr>
        <p:spPr>
          <a:xfrm>
            <a:off x="502920" y="1554480"/>
            <a:ext cx="8138160" cy="713232"/>
          </a:xfrm>
          <a:prstGeom prst="roundRect">
            <a:avLst>
              <a:gd name="adj" fmla="val 10256"/>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6" name="Shape 3"/>
          <p:cNvSpPr/>
          <p:nvPr/>
        </p:nvSpPr>
        <p:spPr>
          <a:xfrm>
            <a:off x="667512" y="1719072"/>
            <a:ext cx="502920" cy="384048"/>
          </a:xfrm>
          <a:prstGeom prst="roundRect">
            <a:avLst>
              <a:gd name="adj" fmla="val 11905"/>
            </a:avLst>
          </a:prstGeom>
          <a:solidFill>
            <a:srgbClr val="15314F"/>
          </a:solidFill>
          <a:ln w="12700">
            <a:solidFill>
              <a:srgbClr val="15314F"/>
            </a:solidFill>
            <a:prstDash val="solid"/>
          </a:ln>
        </p:spPr>
      </p:sp>
      <p:sp>
        <p:nvSpPr>
          <p:cNvPr id="7" name="Text 4"/>
          <p:cNvSpPr/>
          <p:nvPr/>
        </p:nvSpPr>
        <p:spPr>
          <a:xfrm>
            <a:off x="667512" y="1719072"/>
            <a:ext cx="502920" cy="384048"/>
          </a:xfrm>
          <a:prstGeom prst="rect">
            <a:avLst/>
          </a:prstGeom>
          <a:noFill/>
          <a:ln/>
        </p:spPr>
        <p:txBody>
          <a:bodyPr wrap="square" lIns="0" tIns="0" rIns="0" bIns="0" rtlCol="0" anchor="ctr"/>
          <a:lstStyle/>
          <a:p>
            <a:pPr algn="ctr" indent="0" marL="0">
              <a:buNone/>
            </a:pPr>
            <a:r>
              <a:rPr lang="en-US" sz="1100" b="1" dirty="0">
                <a:solidFill>
                  <a:srgbClr val="5BA9D8"/>
                </a:solidFill>
                <a:latin typeface="Calibri" pitchFamily="34" charset="0"/>
                <a:ea typeface="Calibri" pitchFamily="34" charset="-122"/>
                <a:cs typeface="Calibri" pitchFamily="34" charset="-120"/>
              </a:rPr>
              <a:t>L1</a:t>
            </a:r>
            <a:endParaRPr lang="en-US" sz="1100" dirty="0"/>
          </a:p>
        </p:txBody>
      </p:sp>
      <p:sp>
        <p:nvSpPr>
          <p:cNvPr id="8" name="Text 5"/>
          <p:cNvSpPr/>
          <p:nvPr/>
        </p:nvSpPr>
        <p:spPr>
          <a:xfrm>
            <a:off x="1325880" y="1645920"/>
            <a:ext cx="2926080" cy="274320"/>
          </a:xfrm>
          <a:prstGeom prst="rect">
            <a:avLst/>
          </a:prstGeom>
          <a:noFill/>
          <a:ln/>
        </p:spPr>
        <p:txBody>
          <a:bodyPr wrap="square" lIns="0" tIns="0" rIns="0" bIns="0" rtlCol="0" anchor="ctr"/>
          <a:lstStyle/>
          <a:p>
            <a:pPr indent="0" marL="0">
              <a:buNone/>
            </a:pPr>
            <a:r>
              <a:rPr lang="en-US" sz="1400" b="1" dirty="0">
                <a:solidFill>
                  <a:srgbClr val="15314F"/>
                </a:solidFill>
                <a:latin typeface="Calibri Light" pitchFamily="34" charset="0"/>
                <a:ea typeface="Calibri Light" pitchFamily="34" charset="-122"/>
                <a:cs typeface="Calibri Light" pitchFamily="34" charset="-120"/>
              </a:rPr>
              <a:t>Activity tracking</a:t>
            </a:r>
            <a:endParaRPr lang="en-US" sz="1400" dirty="0"/>
          </a:p>
        </p:txBody>
      </p:sp>
      <p:sp>
        <p:nvSpPr>
          <p:cNvPr id="9" name="Text 6"/>
          <p:cNvSpPr/>
          <p:nvPr/>
        </p:nvSpPr>
        <p:spPr>
          <a:xfrm>
            <a:off x="1325880" y="1920240"/>
            <a:ext cx="2926080" cy="292608"/>
          </a:xfrm>
          <a:prstGeom prst="rect">
            <a:avLst/>
          </a:prstGeom>
          <a:noFill/>
          <a:ln/>
        </p:spPr>
        <p:txBody>
          <a:bodyPr wrap="square" lIns="0" tIns="0" rIns="0" bIns="0" rtlCol="0" anchor="ctr"/>
          <a:lstStyle/>
          <a:p>
            <a:pPr indent="0" marL="0">
              <a:buNone/>
            </a:pPr>
            <a:r>
              <a:rPr lang="en-US" sz="1050" i="1" dirty="0">
                <a:solidFill>
                  <a:srgbClr val="5A6F82"/>
                </a:solidFill>
                <a:latin typeface="Calibri" pitchFamily="34" charset="0"/>
                <a:ea typeface="Calibri" pitchFamily="34" charset="-122"/>
                <a:cs typeface="Calibri" pitchFamily="34" charset="-120"/>
              </a:rPr>
              <a:t>Did we deliver what we planned?</a:t>
            </a:r>
            <a:endParaRPr lang="en-US" sz="1050" dirty="0"/>
          </a:p>
        </p:txBody>
      </p:sp>
      <p:sp>
        <p:nvSpPr>
          <p:cNvPr id="10" name="Text 7"/>
          <p:cNvSpPr/>
          <p:nvPr/>
        </p:nvSpPr>
        <p:spPr>
          <a:xfrm>
            <a:off x="4343400" y="1700784"/>
            <a:ext cx="2926080" cy="45720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Did we run the camp?</a:t>
            </a:r>
            <a:endParaRPr lang="en-US" sz="1050" dirty="0"/>
          </a:p>
        </p:txBody>
      </p:sp>
      <p:sp>
        <p:nvSpPr>
          <p:cNvPr id="11" name="Text 8"/>
          <p:cNvSpPr/>
          <p:nvPr/>
        </p:nvSpPr>
        <p:spPr>
          <a:xfrm>
            <a:off x="6949440" y="1755648"/>
            <a:ext cx="1463040" cy="320040"/>
          </a:xfrm>
          <a:prstGeom prst="rect">
            <a:avLst/>
          </a:prstGeom>
          <a:noFill/>
          <a:ln/>
        </p:spPr>
        <p:txBody>
          <a:bodyPr wrap="square" lIns="0" tIns="0" rIns="0" bIns="0" rtlCol="0" anchor="ctr"/>
          <a:lstStyle/>
          <a:p>
            <a:pPr algn="r" indent="0" marL="0">
              <a:buNone/>
            </a:pPr>
            <a:r>
              <a:rPr lang="en-US" sz="950" b="1" spc="150" kern="0" dirty="0">
                <a:solidFill>
                  <a:srgbClr val="9AAEC0"/>
                </a:solidFill>
                <a:latin typeface="Calibri" pitchFamily="34" charset="0"/>
                <a:ea typeface="Calibri" pitchFamily="34" charset="-122"/>
                <a:cs typeface="Calibri" pitchFamily="34" charset="-120"/>
              </a:rPr>
              <a:t>current floor</a:t>
            </a:r>
            <a:endParaRPr lang="en-US" sz="950" dirty="0"/>
          </a:p>
        </p:txBody>
      </p:sp>
      <p:sp>
        <p:nvSpPr>
          <p:cNvPr id="12" name="Shape 9"/>
          <p:cNvSpPr/>
          <p:nvPr/>
        </p:nvSpPr>
        <p:spPr>
          <a:xfrm>
            <a:off x="502920" y="2340864"/>
            <a:ext cx="8138160" cy="713232"/>
          </a:xfrm>
          <a:prstGeom prst="roundRect">
            <a:avLst>
              <a:gd name="adj" fmla="val 10256"/>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3" name="Shape 10"/>
          <p:cNvSpPr/>
          <p:nvPr/>
        </p:nvSpPr>
        <p:spPr>
          <a:xfrm>
            <a:off x="667512" y="2505456"/>
            <a:ext cx="502920" cy="384048"/>
          </a:xfrm>
          <a:prstGeom prst="roundRect">
            <a:avLst>
              <a:gd name="adj" fmla="val 11905"/>
            </a:avLst>
          </a:prstGeom>
          <a:solidFill>
            <a:srgbClr val="15314F"/>
          </a:solidFill>
          <a:ln w="12700">
            <a:solidFill>
              <a:srgbClr val="15314F"/>
            </a:solidFill>
            <a:prstDash val="solid"/>
          </a:ln>
        </p:spPr>
      </p:sp>
      <p:sp>
        <p:nvSpPr>
          <p:cNvPr id="14" name="Text 11"/>
          <p:cNvSpPr/>
          <p:nvPr/>
        </p:nvSpPr>
        <p:spPr>
          <a:xfrm>
            <a:off x="667512" y="2505456"/>
            <a:ext cx="502920" cy="384048"/>
          </a:xfrm>
          <a:prstGeom prst="rect">
            <a:avLst/>
          </a:prstGeom>
          <a:noFill/>
          <a:ln/>
        </p:spPr>
        <p:txBody>
          <a:bodyPr wrap="square" lIns="0" tIns="0" rIns="0" bIns="0" rtlCol="0" anchor="ctr"/>
          <a:lstStyle/>
          <a:p>
            <a:pPr algn="ctr" indent="0" marL="0">
              <a:buNone/>
            </a:pPr>
            <a:r>
              <a:rPr lang="en-US" sz="1100" b="1" dirty="0">
                <a:solidFill>
                  <a:srgbClr val="5BA9D8"/>
                </a:solidFill>
                <a:latin typeface="Calibri" pitchFamily="34" charset="0"/>
                <a:ea typeface="Calibri" pitchFamily="34" charset="-122"/>
                <a:cs typeface="Calibri" pitchFamily="34" charset="-120"/>
              </a:rPr>
              <a:t>L2</a:t>
            </a:r>
            <a:endParaRPr lang="en-US" sz="1100" dirty="0"/>
          </a:p>
        </p:txBody>
      </p:sp>
      <p:sp>
        <p:nvSpPr>
          <p:cNvPr id="15" name="Text 12"/>
          <p:cNvSpPr/>
          <p:nvPr/>
        </p:nvSpPr>
        <p:spPr>
          <a:xfrm>
            <a:off x="1325880" y="2432304"/>
            <a:ext cx="2926080" cy="274320"/>
          </a:xfrm>
          <a:prstGeom prst="rect">
            <a:avLst/>
          </a:prstGeom>
          <a:noFill/>
          <a:ln/>
        </p:spPr>
        <p:txBody>
          <a:bodyPr wrap="square" lIns="0" tIns="0" rIns="0" bIns="0" rtlCol="0" anchor="ctr"/>
          <a:lstStyle/>
          <a:p>
            <a:pPr indent="0" marL="0">
              <a:buNone/>
            </a:pPr>
            <a:r>
              <a:rPr lang="en-US" sz="1400" b="1" dirty="0">
                <a:solidFill>
                  <a:srgbClr val="15314F"/>
                </a:solidFill>
                <a:latin typeface="Calibri Light" pitchFamily="34" charset="0"/>
                <a:ea typeface="Calibri Light" pitchFamily="34" charset="-122"/>
                <a:cs typeface="Calibri Light" pitchFamily="34" charset="-120"/>
              </a:rPr>
              <a:t>Output measurement</a:t>
            </a:r>
            <a:endParaRPr lang="en-US" sz="1400" dirty="0"/>
          </a:p>
        </p:txBody>
      </p:sp>
      <p:sp>
        <p:nvSpPr>
          <p:cNvPr id="16" name="Text 13"/>
          <p:cNvSpPr/>
          <p:nvPr/>
        </p:nvSpPr>
        <p:spPr>
          <a:xfrm>
            <a:off x="1325880" y="2706624"/>
            <a:ext cx="2926080" cy="292608"/>
          </a:xfrm>
          <a:prstGeom prst="rect">
            <a:avLst/>
          </a:prstGeom>
          <a:noFill/>
          <a:ln/>
        </p:spPr>
        <p:txBody>
          <a:bodyPr wrap="square" lIns="0" tIns="0" rIns="0" bIns="0" rtlCol="0" anchor="ctr"/>
          <a:lstStyle/>
          <a:p>
            <a:pPr indent="0" marL="0">
              <a:buNone/>
            </a:pPr>
            <a:r>
              <a:rPr lang="en-US" sz="1050" i="1" dirty="0">
                <a:solidFill>
                  <a:srgbClr val="5A6F82"/>
                </a:solidFill>
                <a:latin typeface="Calibri" pitchFamily="34" charset="0"/>
                <a:ea typeface="Calibri" pitchFamily="34" charset="-122"/>
                <a:cs typeface="Calibri" pitchFamily="34" charset="-120"/>
              </a:rPr>
              <a:t>How much did we deliver?</a:t>
            </a:r>
            <a:endParaRPr lang="en-US" sz="1050" dirty="0"/>
          </a:p>
        </p:txBody>
      </p:sp>
      <p:sp>
        <p:nvSpPr>
          <p:cNvPr id="17" name="Text 14"/>
          <p:cNvSpPr/>
          <p:nvPr/>
        </p:nvSpPr>
        <p:spPr>
          <a:xfrm>
            <a:off x="4343400" y="2487168"/>
            <a:ext cx="2926080" cy="45720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How many participants? How many sessions?</a:t>
            </a:r>
            <a:endParaRPr lang="en-US" sz="1050" dirty="0"/>
          </a:p>
        </p:txBody>
      </p:sp>
      <p:sp>
        <p:nvSpPr>
          <p:cNvPr id="18" name="Text 15"/>
          <p:cNvSpPr/>
          <p:nvPr/>
        </p:nvSpPr>
        <p:spPr>
          <a:xfrm>
            <a:off x="6949440" y="2542032"/>
            <a:ext cx="1463040" cy="320040"/>
          </a:xfrm>
          <a:prstGeom prst="rect">
            <a:avLst/>
          </a:prstGeom>
          <a:noFill/>
          <a:ln/>
        </p:spPr>
        <p:txBody>
          <a:bodyPr wrap="square" lIns="0" tIns="0" rIns="0" bIns="0" rtlCol="0" anchor="ctr"/>
          <a:lstStyle/>
          <a:p>
            <a:pPr algn="r" indent="0" marL="0">
              <a:buNone/>
            </a:pPr>
            <a:r>
              <a:rPr lang="en-US" sz="950" b="1" spc="150" kern="0" dirty="0">
                <a:solidFill>
                  <a:srgbClr val="9AAEC0"/>
                </a:solidFill>
                <a:latin typeface="Calibri" pitchFamily="34" charset="0"/>
                <a:ea typeface="Calibri" pitchFamily="34" charset="-122"/>
                <a:cs typeface="Calibri" pitchFamily="34" charset="-120"/>
              </a:rPr>
              <a:t>where we are now</a:t>
            </a:r>
            <a:endParaRPr lang="en-US" sz="950" dirty="0"/>
          </a:p>
        </p:txBody>
      </p:sp>
      <p:sp>
        <p:nvSpPr>
          <p:cNvPr id="19" name="Shape 16"/>
          <p:cNvSpPr/>
          <p:nvPr/>
        </p:nvSpPr>
        <p:spPr>
          <a:xfrm>
            <a:off x="502920" y="3127248"/>
            <a:ext cx="8138160" cy="713232"/>
          </a:xfrm>
          <a:prstGeom prst="roundRect">
            <a:avLst>
              <a:gd name="adj" fmla="val 10256"/>
            </a:avLst>
          </a:prstGeom>
          <a:solidFill>
            <a:srgbClr val="E5F2FA"/>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20" name="Shape 17"/>
          <p:cNvSpPr/>
          <p:nvPr/>
        </p:nvSpPr>
        <p:spPr>
          <a:xfrm>
            <a:off x="667512" y="3291840"/>
            <a:ext cx="502920" cy="384048"/>
          </a:xfrm>
          <a:prstGeom prst="roundRect">
            <a:avLst>
              <a:gd name="adj" fmla="val 11905"/>
            </a:avLst>
          </a:prstGeom>
          <a:solidFill>
            <a:srgbClr val="5BA9D8"/>
          </a:solidFill>
          <a:ln w="12700">
            <a:solidFill>
              <a:srgbClr val="5BA9D8"/>
            </a:solidFill>
            <a:prstDash val="solid"/>
          </a:ln>
        </p:spPr>
      </p:sp>
      <p:sp>
        <p:nvSpPr>
          <p:cNvPr id="21" name="Text 18"/>
          <p:cNvSpPr/>
          <p:nvPr/>
        </p:nvSpPr>
        <p:spPr>
          <a:xfrm>
            <a:off x="667512" y="3291840"/>
            <a:ext cx="502920" cy="384048"/>
          </a:xfrm>
          <a:prstGeom prst="rect">
            <a:avLst/>
          </a:prstGeom>
          <a:noFill/>
          <a:ln/>
        </p:spPr>
        <p:txBody>
          <a:bodyPr wrap="square" lIns="0" tIns="0" rIns="0" bIns="0" rtlCol="0" anchor="ctr"/>
          <a:lstStyle/>
          <a:p>
            <a:pPr algn="ctr" indent="0" marL="0">
              <a:buNone/>
            </a:pPr>
            <a:r>
              <a:rPr lang="en-US" sz="1100" b="1" dirty="0">
                <a:solidFill>
                  <a:srgbClr val="15314F"/>
                </a:solidFill>
                <a:latin typeface="Calibri" pitchFamily="34" charset="0"/>
                <a:ea typeface="Calibri" pitchFamily="34" charset="-122"/>
                <a:cs typeface="Calibri" pitchFamily="34" charset="-120"/>
              </a:rPr>
              <a:t>L3</a:t>
            </a:r>
            <a:endParaRPr lang="en-US" sz="1100" dirty="0"/>
          </a:p>
        </p:txBody>
      </p:sp>
      <p:sp>
        <p:nvSpPr>
          <p:cNvPr id="22" name="Text 19"/>
          <p:cNvSpPr/>
          <p:nvPr/>
        </p:nvSpPr>
        <p:spPr>
          <a:xfrm>
            <a:off x="1325880" y="3218688"/>
            <a:ext cx="2926080" cy="274320"/>
          </a:xfrm>
          <a:prstGeom prst="rect">
            <a:avLst/>
          </a:prstGeom>
          <a:noFill/>
          <a:ln/>
        </p:spPr>
        <p:txBody>
          <a:bodyPr wrap="square" lIns="0" tIns="0" rIns="0" bIns="0" rtlCol="0" anchor="ctr"/>
          <a:lstStyle/>
          <a:p>
            <a:pPr indent="0" marL="0">
              <a:buNone/>
            </a:pPr>
            <a:r>
              <a:rPr lang="en-US" sz="1400" b="1" dirty="0">
                <a:solidFill>
                  <a:srgbClr val="15314F"/>
                </a:solidFill>
                <a:latin typeface="Calibri Light" pitchFamily="34" charset="0"/>
                <a:ea typeface="Calibri Light" pitchFamily="34" charset="-122"/>
                <a:cs typeface="Calibri Light" pitchFamily="34" charset="-120"/>
              </a:rPr>
              <a:t>Outcome assessment</a:t>
            </a:r>
            <a:endParaRPr lang="en-US" sz="1400" dirty="0"/>
          </a:p>
        </p:txBody>
      </p:sp>
      <p:sp>
        <p:nvSpPr>
          <p:cNvPr id="23" name="Text 20"/>
          <p:cNvSpPr/>
          <p:nvPr/>
        </p:nvSpPr>
        <p:spPr>
          <a:xfrm>
            <a:off x="1325880" y="3493008"/>
            <a:ext cx="2926080" cy="292608"/>
          </a:xfrm>
          <a:prstGeom prst="rect">
            <a:avLst/>
          </a:prstGeom>
          <a:noFill/>
          <a:ln/>
        </p:spPr>
        <p:txBody>
          <a:bodyPr wrap="square" lIns="0" tIns="0" rIns="0" bIns="0" rtlCol="0" anchor="ctr"/>
          <a:lstStyle/>
          <a:p>
            <a:pPr indent="0" marL="0">
              <a:buNone/>
            </a:pPr>
            <a:r>
              <a:rPr lang="en-US" sz="1050" i="1" dirty="0">
                <a:solidFill>
                  <a:srgbClr val="5A6F82"/>
                </a:solidFill>
                <a:latin typeface="Calibri" pitchFamily="34" charset="0"/>
                <a:ea typeface="Calibri" pitchFamily="34" charset="-122"/>
                <a:cs typeface="Calibri" pitchFamily="34" charset="-120"/>
              </a:rPr>
              <a:t>What changed in people's lives?</a:t>
            </a:r>
            <a:endParaRPr lang="en-US" sz="1050" dirty="0"/>
          </a:p>
        </p:txBody>
      </p:sp>
      <p:sp>
        <p:nvSpPr>
          <p:cNvPr id="24" name="Text 21"/>
          <p:cNvSpPr/>
          <p:nvPr/>
        </p:nvSpPr>
        <p:spPr>
          <a:xfrm>
            <a:off x="4343400" y="3273552"/>
            <a:ext cx="2926080" cy="45720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Behavior change? Knowledge? Capacity?</a:t>
            </a:r>
            <a:endParaRPr lang="en-US" sz="1050" dirty="0"/>
          </a:p>
        </p:txBody>
      </p:sp>
      <p:sp>
        <p:nvSpPr>
          <p:cNvPr id="25" name="Text 22"/>
          <p:cNvSpPr/>
          <p:nvPr/>
        </p:nvSpPr>
        <p:spPr>
          <a:xfrm>
            <a:off x="6949440" y="3328416"/>
            <a:ext cx="1463040" cy="320040"/>
          </a:xfrm>
          <a:prstGeom prst="rect">
            <a:avLst/>
          </a:prstGeom>
          <a:noFill/>
          <a:ln/>
        </p:spPr>
        <p:txBody>
          <a:bodyPr wrap="square" lIns="0" tIns="0" rIns="0" bIns="0" rtlCol="0" anchor="ctr"/>
          <a:lstStyle/>
          <a:p>
            <a:pPr algn="r" indent="0" marL="0">
              <a:buNone/>
            </a:pPr>
            <a:r>
              <a:rPr lang="en-US" sz="950" b="1" spc="150" kern="0" dirty="0">
                <a:solidFill>
                  <a:srgbClr val="5BA9D8"/>
                </a:solidFill>
                <a:latin typeface="Calibri" pitchFamily="34" charset="0"/>
                <a:ea typeface="Calibri" pitchFamily="34" charset="-122"/>
                <a:cs typeface="Calibri" pitchFamily="34" charset="-120"/>
              </a:rPr>
              <a:t>Dec 2026 target</a:t>
            </a:r>
            <a:endParaRPr lang="en-US" sz="950" dirty="0"/>
          </a:p>
        </p:txBody>
      </p:sp>
      <p:sp>
        <p:nvSpPr>
          <p:cNvPr id="26" name="Shape 23"/>
          <p:cNvSpPr/>
          <p:nvPr/>
        </p:nvSpPr>
        <p:spPr>
          <a:xfrm>
            <a:off x="502920" y="3913632"/>
            <a:ext cx="8138160" cy="713232"/>
          </a:xfrm>
          <a:prstGeom prst="roundRect">
            <a:avLst>
              <a:gd name="adj" fmla="val 10256"/>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27" name="Shape 24"/>
          <p:cNvSpPr/>
          <p:nvPr/>
        </p:nvSpPr>
        <p:spPr>
          <a:xfrm>
            <a:off x="667512" y="4078224"/>
            <a:ext cx="502920" cy="384048"/>
          </a:xfrm>
          <a:prstGeom prst="roundRect">
            <a:avLst>
              <a:gd name="adj" fmla="val 11905"/>
            </a:avLst>
          </a:prstGeom>
          <a:solidFill>
            <a:srgbClr val="15314F"/>
          </a:solidFill>
          <a:ln w="12700">
            <a:solidFill>
              <a:srgbClr val="15314F"/>
            </a:solidFill>
            <a:prstDash val="solid"/>
          </a:ln>
        </p:spPr>
      </p:sp>
      <p:sp>
        <p:nvSpPr>
          <p:cNvPr id="28" name="Text 25"/>
          <p:cNvSpPr/>
          <p:nvPr/>
        </p:nvSpPr>
        <p:spPr>
          <a:xfrm>
            <a:off x="667512" y="4078224"/>
            <a:ext cx="502920" cy="384048"/>
          </a:xfrm>
          <a:prstGeom prst="rect">
            <a:avLst/>
          </a:prstGeom>
          <a:noFill/>
          <a:ln/>
        </p:spPr>
        <p:txBody>
          <a:bodyPr wrap="square" lIns="0" tIns="0" rIns="0" bIns="0" rtlCol="0" anchor="ctr"/>
          <a:lstStyle/>
          <a:p>
            <a:pPr algn="ctr" indent="0" marL="0">
              <a:buNone/>
            </a:pPr>
            <a:r>
              <a:rPr lang="en-US" sz="1100" b="1" dirty="0">
                <a:solidFill>
                  <a:srgbClr val="5BA9D8"/>
                </a:solidFill>
                <a:latin typeface="Calibri" pitchFamily="34" charset="0"/>
                <a:ea typeface="Calibri" pitchFamily="34" charset="-122"/>
                <a:cs typeface="Calibri" pitchFamily="34" charset="-120"/>
              </a:rPr>
              <a:t>L4</a:t>
            </a:r>
            <a:endParaRPr lang="en-US" sz="1100" dirty="0"/>
          </a:p>
        </p:txBody>
      </p:sp>
      <p:sp>
        <p:nvSpPr>
          <p:cNvPr id="29" name="Text 26"/>
          <p:cNvSpPr/>
          <p:nvPr/>
        </p:nvSpPr>
        <p:spPr>
          <a:xfrm>
            <a:off x="1325880" y="4005072"/>
            <a:ext cx="2926080" cy="274320"/>
          </a:xfrm>
          <a:prstGeom prst="rect">
            <a:avLst/>
          </a:prstGeom>
          <a:noFill/>
          <a:ln/>
        </p:spPr>
        <p:txBody>
          <a:bodyPr wrap="square" lIns="0" tIns="0" rIns="0" bIns="0" rtlCol="0" anchor="ctr"/>
          <a:lstStyle/>
          <a:p>
            <a:pPr indent="0" marL="0">
              <a:buNone/>
            </a:pPr>
            <a:r>
              <a:rPr lang="en-US" sz="1400" b="1" dirty="0">
                <a:solidFill>
                  <a:srgbClr val="15314F"/>
                </a:solidFill>
                <a:latin typeface="Calibri Light" pitchFamily="34" charset="0"/>
                <a:ea typeface="Calibri Light" pitchFamily="34" charset="-122"/>
                <a:cs typeface="Calibri Light" pitchFamily="34" charset="-120"/>
              </a:rPr>
              <a:t>Attribution</a:t>
            </a:r>
            <a:endParaRPr lang="en-US" sz="1400" dirty="0"/>
          </a:p>
        </p:txBody>
      </p:sp>
      <p:sp>
        <p:nvSpPr>
          <p:cNvPr id="30" name="Text 27"/>
          <p:cNvSpPr/>
          <p:nvPr/>
        </p:nvSpPr>
        <p:spPr>
          <a:xfrm>
            <a:off x="1325880" y="4279392"/>
            <a:ext cx="2926080" cy="292608"/>
          </a:xfrm>
          <a:prstGeom prst="rect">
            <a:avLst/>
          </a:prstGeom>
          <a:noFill/>
          <a:ln/>
        </p:spPr>
        <p:txBody>
          <a:bodyPr wrap="square" lIns="0" tIns="0" rIns="0" bIns="0" rtlCol="0" anchor="ctr"/>
          <a:lstStyle/>
          <a:p>
            <a:pPr indent="0" marL="0">
              <a:buNone/>
            </a:pPr>
            <a:r>
              <a:rPr lang="en-US" sz="1050" i="1" dirty="0">
                <a:solidFill>
                  <a:srgbClr val="5A6F82"/>
                </a:solidFill>
                <a:latin typeface="Calibri" pitchFamily="34" charset="0"/>
                <a:ea typeface="Calibri" pitchFamily="34" charset="-122"/>
                <a:cs typeface="Calibri" pitchFamily="34" charset="-120"/>
              </a:rPr>
              <a:t>Did we cause the change vs. something else?</a:t>
            </a:r>
            <a:endParaRPr lang="en-US" sz="1050" dirty="0"/>
          </a:p>
        </p:txBody>
      </p:sp>
      <p:sp>
        <p:nvSpPr>
          <p:cNvPr id="31" name="Text 28"/>
          <p:cNvSpPr/>
          <p:nvPr/>
        </p:nvSpPr>
        <p:spPr>
          <a:xfrm>
            <a:off x="4343400" y="4059936"/>
            <a:ext cx="2926080" cy="45720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Requires comparison groups, rigorous design.</a:t>
            </a:r>
            <a:endParaRPr lang="en-US" sz="1050" dirty="0"/>
          </a:p>
        </p:txBody>
      </p:sp>
      <p:sp>
        <p:nvSpPr>
          <p:cNvPr id="32" name="Text 29"/>
          <p:cNvSpPr/>
          <p:nvPr/>
        </p:nvSpPr>
        <p:spPr>
          <a:xfrm>
            <a:off x="6949440" y="4114800"/>
            <a:ext cx="1463040" cy="320040"/>
          </a:xfrm>
          <a:prstGeom prst="rect">
            <a:avLst/>
          </a:prstGeom>
          <a:noFill/>
          <a:ln/>
        </p:spPr>
        <p:txBody>
          <a:bodyPr wrap="square" lIns="0" tIns="0" rIns="0" bIns="0" rtlCol="0" anchor="ctr"/>
          <a:lstStyle/>
          <a:p>
            <a:pPr algn="r" indent="0" marL="0">
              <a:buNone/>
            </a:pPr>
            <a:r>
              <a:rPr lang="en-US" sz="950" b="1" spc="150" kern="0" dirty="0">
                <a:solidFill>
                  <a:srgbClr val="9AAEC0"/>
                </a:solidFill>
                <a:latin typeface="Calibri" pitchFamily="34" charset="0"/>
                <a:ea typeface="Calibri" pitchFamily="34" charset="-122"/>
                <a:cs typeface="Calibri" pitchFamily="34" charset="-120"/>
              </a:rPr>
              <a:t>for grants</a:t>
            </a:r>
            <a:endParaRPr lang="en-US" sz="950" dirty="0"/>
          </a:p>
        </p:txBody>
      </p:sp>
      <p:sp>
        <p:nvSpPr>
          <p:cNvPr id="33" name="Shape 30"/>
          <p:cNvSpPr/>
          <p:nvPr/>
        </p:nvSpPr>
        <p:spPr>
          <a:xfrm>
            <a:off x="502920" y="4732020"/>
            <a:ext cx="8138160" cy="0"/>
          </a:xfrm>
          <a:prstGeom prst="line">
            <a:avLst/>
          </a:prstGeom>
          <a:noFill/>
          <a:ln w="9525">
            <a:solidFill>
              <a:srgbClr val="DCE6EE"/>
            </a:solidFill>
            <a:prstDash val="solid"/>
          </a:ln>
        </p:spPr>
      </p:sp>
      <p:sp>
        <p:nvSpPr>
          <p:cNvPr id="34" name="Text 31"/>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35" name="Text 32"/>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36" name="Text 33"/>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SMART indicators</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The gold standard for every outcome you measure</a:t>
            </a:r>
            <a:endParaRPr lang="en-US" sz="3000" dirty="0"/>
          </a:p>
        </p:txBody>
      </p:sp>
      <p:sp>
        <p:nvSpPr>
          <p:cNvPr id="5" name="Text 2"/>
          <p:cNvSpPr/>
          <p:nvPr/>
        </p:nvSpPr>
        <p:spPr>
          <a:xfrm>
            <a:off x="502920" y="1417320"/>
            <a:ext cx="8138160" cy="502920"/>
          </a:xfrm>
          <a:prstGeom prst="rect">
            <a:avLst/>
          </a:prstGeom>
          <a:noFill/>
          <a:ln/>
        </p:spPr>
        <p:txBody>
          <a:bodyPr wrap="square" lIns="0" tIns="0" rIns="0" bIns="0" rtlCol="0" anchor="ctr"/>
          <a:lstStyle/>
          <a:p>
            <a:pPr indent="0" marL="0">
              <a:buNone/>
            </a:pPr>
            <a:r>
              <a:rPr lang="en-US" sz="1250" i="1" dirty="0">
                <a:solidFill>
                  <a:srgbClr val="5A6F82"/>
                </a:solidFill>
                <a:latin typeface="Calibri" pitchFamily="34" charset="0"/>
                <a:ea typeface="Calibri" pitchFamily="34" charset="-122"/>
                <a:cs typeface="Calibri" pitchFamily="34" charset="-120"/>
              </a:rPr>
              <a:t>An indicator is only useful if it is SMART. Each letter is a quality gate — fail one and you'll measure the wrong thing, or measure the right thing badly.</a:t>
            </a:r>
            <a:endParaRPr lang="en-US" sz="1250" dirty="0"/>
          </a:p>
        </p:txBody>
      </p:sp>
      <p:sp>
        <p:nvSpPr>
          <p:cNvPr id="6" name="Shape 3"/>
          <p:cNvSpPr/>
          <p:nvPr/>
        </p:nvSpPr>
        <p:spPr>
          <a:xfrm>
            <a:off x="448056" y="2240280"/>
            <a:ext cx="1554480" cy="2194560"/>
          </a:xfrm>
          <a:prstGeom prst="roundRect">
            <a:avLst>
              <a:gd name="adj" fmla="val 4706"/>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7" name="Text 4"/>
          <p:cNvSpPr/>
          <p:nvPr/>
        </p:nvSpPr>
        <p:spPr>
          <a:xfrm>
            <a:off x="448056" y="2377440"/>
            <a:ext cx="1554480" cy="777240"/>
          </a:xfrm>
          <a:prstGeom prst="rect">
            <a:avLst/>
          </a:prstGeom>
          <a:noFill/>
          <a:ln/>
        </p:spPr>
        <p:txBody>
          <a:bodyPr wrap="square" lIns="0" tIns="0" rIns="0" bIns="0" rtlCol="0" anchor="ctr"/>
          <a:lstStyle/>
          <a:p>
            <a:pPr algn="ctr" indent="0" marL="0">
              <a:buNone/>
            </a:pPr>
            <a:r>
              <a:rPr lang="en-US" sz="6000" b="1" dirty="0">
                <a:solidFill>
                  <a:srgbClr val="5BA9D8"/>
                </a:solidFill>
                <a:latin typeface="Calibri Light" pitchFamily="34" charset="0"/>
                <a:ea typeface="Calibri Light" pitchFamily="34" charset="-122"/>
                <a:cs typeface="Calibri Light" pitchFamily="34" charset="-120"/>
              </a:rPr>
              <a:t>S</a:t>
            </a:r>
            <a:endParaRPr lang="en-US" sz="6000" dirty="0"/>
          </a:p>
        </p:txBody>
      </p:sp>
      <p:sp>
        <p:nvSpPr>
          <p:cNvPr id="8" name="Text 5"/>
          <p:cNvSpPr/>
          <p:nvPr/>
        </p:nvSpPr>
        <p:spPr>
          <a:xfrm>
            <a:off x="539496" y="3200400"/>
            <a:ext cx="1371600" cy="320040"/>
          </a:xfrm>
          <a:prstGeom prst="rect">
            <a:avLst/>
          </a:prstGeom>
          <a:noFill/>
          <a:ln/>
        </p:spPr>
        <p:txBody>
          <a:bodyPr wrap="square" lIns="0" tIns="0" rIns="0" bIns="0" rtlCol="0" anchor="ctr"/>
          <a:lstStyle/>
          <a:p>
            <a:pPr algn="ctr" indent="0" marL="0">
              <a:buNone/>
            </a:pPr>
            <a:r>
              <a:rPr lang="en-US" sz="1350" b="1" dirty="0">
                <a:solidFill>
                  <a:srgbClr val="15314F"/>
                </a:solidFill>
                <a:latin typeface="Calibri Light" pitchFamily="34" charset="0"/>
                <a:ea typeface="Calibri Light" pitchFamily="34" charset="-122"/>
                <a:cs typeface="Calibri Light" pitchFamily="34" charset="-120"/>
              </a:rPr>
              <a:t>Specific</a:t>
            </a:r>
            <a:endParaRPr lang="en-US" sz="1350" dirty="0"/>
          </a:p>
        </p:txBody>
      </p:sp>
      <p:sp>
        <p:nvSpPr>
          <p:cNvPr id="9" name="Text 6"/>
          <p:cNvSpPr/>
          <p:nvPr/>
        </p:nvSpPr>
        <p:spPr>
          <a:xfrm>
            <a:off x="585216" y="3566160"/>
            <a:ext cx="1280160" cy="822960"/>
          </a:xfrm>
          <a:prstGeom prst="rect">
            <a:avLst/>
          </a:prstGeom>
          <a:noFill/>
          <a:ln/>
        </p:spPr>
        <p:txBody>
          <a:bodyPr wrap="square" lIns="0" tIns="0" rIns="0" bIns="0" rtlCol="0" anchor="t"/>
          <a:lstStyle/>
          <a:p>
            <a:pPr algn="ctr" indent="0" marL="0">
              <a:buNone/>
            </a:pPr>
            <a:r>
              <a:rPr lang="en-US" sz="1000" dirty="0">
                <a:solidFill>
                  <a:srgbClr val="15314F"/>
                </a:solidFill>
                <a:latin typeface="Calibri" pitchFamily="34" charset="0"/>
                <a:ea typeface="Calibri" pitchFamily="34" charset="-122"/>
                <a:cs typeface="Calibri" pitchFamily="34" charset="-120"/>
              </a:rPr>
              <a:t>Exact population, exact behavior, exact context.</a:t>
            </a:r>
            <a:endParaRPr lang="en-US" sz="1000" dirty="0"/>
          </a:p>
        </p:txBody>
      </p:sp>
      <p:sp>
        <p:nvSpPr>
          <p:cNvPr id="10" name="Shape 7"/>
          <p:cNvSpPr/>
          <p:nvPr/>
        </p:nvSpPr>
        <p:spPr>
          <a:xfrm>
            <a:off x="2121408" y="2240280"/>
            <a:ext cx="1554480" cy="2194560"/>
          </a:xfrm>
          <a:prstGeom prst="roundRect">
            <a:avLst>
              <a:gd name="adj" fmla="val 4706"/>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1" name="Text 8"/>
          <p:cNvSpPr/>
          <p:nvPr/>
        </p:nvSpPr>
        <p:spPr>
          <a:xfrm>
            <a:off x="2121408" y="2377440"/>
            <a:ext cx="1554480" cy="777240"/>
          </a:xfrm>
          <a:prstGeom prst="rect">
            <a:avLst/>
          </a:prstGeom>
          <a:noFill/>
          <a:ln/>
        </p:spPr>
        <p:txBody>
          <a:bodyPr wrap="square" lIns="0" tIns="0" rIns="0" bIns="0" rtlCol="0" anchor="ctr"/>
          <a:lstStyle/>
          <a:p>
            <a:pPr algn="ctr" indent="0" marL="0">
              <a:buNone/>
            </a:pPr>
            <a:r>
              <a:rPr lang="en-US" sz="6000" b="1" dirty="0">
                <a:solidFill>
                  <a:srgbClr val="5BA9D8"/>
                </a:solidFill>
                <a:latin typeface="Calibri Light" pitchFamily="34" charset="0"/>
                <a:ea typeface="Calibri Light" pitchFamily="34" charset="-122"/>
                <a:cs typeface="Calibri Light" pitchFamily="34" charset="-120"/>
              </a:rPr>
              <a:t>M</a:t>
            </a:r>
            <a:endParaRPr lang="en-US" sz="6000" dirty="0"/>
          </a:p>
        </p:txBody>
      </p:sp>
      <p:sp>
        <p:nvSpPr>
          <p:cNvPr id="12" name="Text 9"/>
          <p:cNvSpPr/>
          <p:nvPr/>
        </p:nvSpPr>
        <p:spPr>
          <a:xfrm>
            <a:off x="2212848" y="3200400"/>
            <a:ext cx="1371600" cy="320040"/>
          </a:xfrm>
          <a:prstGeom prst="rect">
            <a:avLst/>
          </a:prstGeom>
          <a:noFill/>
          <a:ln/>
        </p:spPr>
        <p:txBody>
          <a:bodyPr wrap="square" lIns="0" tIns="0" rIns="0" bIns="0" rtlCol="0" anchor="ctr"/>
          <a:lstStyle/>
          <a:p>
            <a:pPr algn="ctr" indent="0" marL="0">
              <a:buNone/>
            </a:pPr>
            <a:r>
              <a:rPr lang="en-US" sz="1350" b="1" dirty="0">
                <a:solidFill>
                  <a:srgbClr val="15314F"/>
                </a:solidFill>
                <a:latin typeface="Calibri Light" pitchFamily="34" charset="0"/>
                <a:ea typeface="Calibri Light" pitchFamily="34" charset="-122"/>
                <a:cs typeface="Calibri Light" pitchFamily="34" charset="-120"/>
              </a:rPr>
              <a:t>Measurable</a:t>
            </a:r>
            <a:endParaRPr lang="en-US" sz="1350" dirty="0"/>
          </a:p>
        </p:txBody>
      </p:sp>
      <p:sp>
        <p:nvSpPr>
          <p:cNvPr id="13" name="Text 10"/>
          <p:cNvSpPr/>
          <p:nvPr/>
        </p:nvSpPr>
        <p:spPr>
          <a:xfrm>
            <a:off x="2258568" y="3566160"/>
            <a:ext cx="1280160" cy="822960"/>
          </a:xfrm>
          <a:prstGeom prst="rect">
            <a:avLst/>
          </a:prstGeom>
          <a:noFill/>
          <a:ln/>
        </p:spPr>
        <p:txBody>
          <a:bodyPr wrap="square" lIns="0" tIns="0" rIns="0" bIns="0" rtlCol="0" anchor="t"/>
          <a:lstStyle/>
          <a:p>
            <a:pPr algn="ctr" indent="0" marL="0">
              <a:buNone/>
            </a:pPr>
            <a:r>
              <a:rPr lang="en-US" sz="1000" dirty="0">
                <a:solidFill>
                  <a:srgbClr val="15314F"/>
                </a:solidFill>
                <a:latin typeface="Calibri" pitchFamily="34" charset="0"/>
                <a:ea typeface="Calibri" pitchFamily="34" charset="-122"/>
                <a:cs typeface="Calibri" pitchFamily="34" charset="-120"/>
              </a:rPr>
              <a:t>Defined tool — survey, form, log, interview.</a:t>
            </a:r>
            <a:endParaRPr lang="en-US" sz="1000" dirty="0"/>
          </a:p>
        </p:txBody>
      </p:sp>
      <p:sp>
        <p:nvSpPr>
          <p:cNvPr id="14" name="Shape 11"/>
          <p:cNvSpPr/>
          <p:nvPr/>
        </p:nvSpPr>
        <p:spPr>
          <a:xfrm>
            <a:off x="3794760" y="2240280"/>
            <a:ext cx="1554480" cy="2194560"/>
          </a:xfrm>
          <a:prstGeom prst="roundRect">
            <a:avLst>
              <a:gd name="adj" fmla="val 4706"/>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5" name="Text 12"/>
          <p:cNvSpPr/>
          <p:nvPr/>
        </p:nvSpPr>
        <p:spPr>
          <a:xfrm>
            <a:off x="3794760" y="2377440"/>
            <a:ext cx="1554480" cy="777240"/>
          </a:xfrm>
          <a:prstGeom prst="rect">
            <a:avLst/>
          </a:prstGeom>
          <a:noFill/>
          <a:ln/>
        </p:spPr>
        <p:txBody>
          <a:bodyPr wrap="square" lIns="0" tIns="0" rIns="0" bIns="0" rtlCol="0" anchor="ctr"/>
          <a:lstStyle/>
          <a:p>
            <a:pPr algn="ctr" indent="0" marL="0">
              <a:buNone/>
            </a:pPr>
            <a:r>
              <a:rPr lang="en-US" sz="6000" b="1" dirty="0">
                <a:solidFill>
                  <a:srgbClr val="5BA9D8"/>
                </a:solidFill>
                <a:latin typeface="Calibri Light" pitchFamily="34" charset="0"/>
                <a:ea typeface="Calibri Light" pitchFamily="34" charset="-122"/>
                <a:cs typeface="Calibri Light" pitchFamily="34" charset="-120"/>
              </a:rPr>
              <a:t>A</a:t>
            </a:r>
            <a:endParaRPr lang="en-US" sz="6000" dirty="0"/>
          </a:p>
        </p:txBody>
      </p:sp>
      <p:sp>
        <p:nvSpPr>
          <p:cNvPr id="16" name="Text 13"/>
          <p:cNvSpPr/>
          <p:nvPr/>
        </p:nvSpPr>
        <p:spPr>
          <a:xfrm>
            <a:off x="3886200" y="3200400"/>
            <a:ext cx="1371600" cy="320040"/>
          </a:xfrm>
          <a:prstGeom prst="rect">
            <a:avLst/>
          </a:prstGeom>
          <a:noFill/>
          <a:ln/>
        </p:spPr>
        <p:txBody>
          <a:bodyPr wrap="square" lIns="0" tIns="0" rIns="0" bIns="0" rtlCol="0" anchor="ctr"/>
          <a:lstStyle/>
          <a:p>
            <a:pPr algn="ctr" indent="0" marL="0">
              <a:buNone/>
            </a:pPr>
            <a:r>
              <a:rPr lang="en-US" sz="1350" b="1" dirty="0">
                <a:solidFill>
                  <a:srgbClr val="15314F"/>
                </a:solidFill>
                <a:latin typeface="Calibri Light" pitchFamily="34" charset="0"/>
                <a:ea typeface="Calibri Light" pitchFamily="34" charset="-122"/>
                <a:cs typeface="Calibri Light" pitchFamily="34" charset="-120"/>
              </a:rPr>
              <a:t>Achievable</a:t>
            </a:r>
            <a:endParaRPr lang="en-US" sz="1350" dirty="0"/>
          </a:p>
        </p:txBody>
      </p:sp>
      <p:sp>
        <p:nvSpPr>
          <p:cNvPr id="17" name="Text 14"/>
          <p:cNvSpPr/>
          <p:nvPr/>
        </p:nvSpPr>
        <p:spPr>
          <a:xfrm>
            <a:off x="3931920" y="3566160"/>
            <a:ext cx="1280160" cy="822960"/>
          </a:xfrm>
          <a:prstGeom prst="rect">
            <a:avLst/>
          </a:prstGeom>
          <a:noFill/>
          <a:ln/>
        </p:spPr>
        <p:txBody>
          <a:bodyPr wrap="square" lIns="0" tIns="0" rIns="0" bIns="0" rtlCol="0" anchor="t"/>
          <a:lstStyle/>
          <a:p>
            <a:pPr algn="ctr" indent="0" marL="0">
              <a:buNone/>
            </a:pPr>
            <a:r>
              <a:rPr lang="en-US" sz="1000" dirty="0">
                <a:solidFill>
                  <a:srgbClr val="15314F"/>
                </a:solidFill>
                <a:latin typeface="Calibri" pitchFamily="34" charset="0"/>
                <a:ea typeface="Calibri" pitchFamily="34" charset="-122"/>
                <a:cs typeface="Calibri" pitchFamily="34" charset="-120"/>
              </a:rPr>
              <a:t>Realistic for the scope and duration of the program.</a:t>
            </a:r>
            <a:endParaRPr lang="en-US" sz="1000" dirty="0"/>
          </a:p>
        </p:txBody>
      </p:sp>
      <p:sp>
        <p:nvSpPr>
          <p:cNvPr id="18" name="Shape 15"/>
          <p:cNvSpPr/>
          <p:nvPr/>
        </p:nvSpPr>
        <p:spPr>
          <a:xfrm>
            <a:off x="5468112" y="2240280"/>
            <a:ext cx="1554480" cy="2194560"/>
          </a:xfrm>
          <a:prstGeom prst="roundRect">
            <a:avLst>
              <a:gd name="adj" fmla="val 4706"/>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9" name="Text 16"/>
          <p:cNvSpPr/>
          <p:nvPr/>
        </p:nvSpPr>
        <p:spPr>
          <a:xfrm>
            <a:off x="5468112" y="2377440"/>
            <a:ext cx="1554480" cy="777240"/>
          </a:xfrm>
          <a:prstGeom prst="rect">
            <a:avLst/>
          </a:prstGeom>
          <a:noFill/>
          <a:ln/>
        </p:spPr>
        <p:txBody>
          <a:bodyPr wrap="square" lIns="0" tIns="0" rIns="0" bIns="0" rtlCol="0" anchor="ctr"/>
          <a:lstStyle/>
          <a:p>
            <a:pPr algn="ctr" indent="0" marL="0">
              <a:buNone/>
            </a:pPr>
            <a:r>
              <a:rPr lang="en-US" sz="6000" b="1" dirty="0">
                <a:solidFill>
                  <a:srgbClr val="5BA9D8"/>
                </a:solidFill>
                <a:latin typeface="Calibri Light" pitchFamily="34" charset="0"/>
                <a:ea typeface="Calibri Light" pitchFamily="34" charset="-122"/>
                <a:cs typeface="Calibri Light" pitchFamily="34" charset="-120"/>
              </a:rPr>
              <a:t>R</a:t>
            </a:r>
            <a:endParaRPr lang="en-US" sz="6000" dirty="0"/>
          </a:p>
        </p:txBody>
      </p:sp>
      <p:sp>
        <p:nvSpPr>
          <p:cNvPr id="20" name="Text 17"/>
          <p:cNvSpPr/>
          <p:nvPr/>
        </p:nvSpPr>
        <p:spPr>
          <a:xfrm>
            <a:off x="5559552" y="3200400"/>
            <a:ext cx="1371600" cy="320040"/>
          </a:xfrm>
          <a:prstGeom prst="rect">
            <a:avLst/>
          </a:prstGeom>
          <a:noFill/>
          <a:ln/>
        </p:spPr>
        <p:txBody>
          <a:bodyPr wrap="square" lIns="0" tIns="0" rIns="0" bIns="0" rtlCol="0" anchor="ctr"/>
          <a:lstStyle/>
          <a:p>
            <a:pPr algn="ctr" indent="0" marL="0">
              <a:buNone/>
            </a:pPr>
            <a:r>
              <a:rPr lang="en-US" sz="1350" b="1" dirty="0">
                <a:solidFill>
                  <a:srgbClr val="15314F"/>
                </a:solidFill>
                <a:latin typeface="Calibri Light" pitchFamily="34" charset="0"/>
                <a:ea typeface="Calibri Light" pitchFamily="34" charset="-122"/>
                <a:cs typeface="Calibri Light" pitchFamily="34" charset="-120"/>
              </a:rPr>
              <a:t>Relevant</a:t>
            </a:r>
            <a:endParaRPr lang="en-US" sz="1350" dirty="0"/>
          </a:p>
        </p:txBody>
      </p:sp>
      <p:sp>
        <p:nvSpPr>
          <p:cNvPr id="21" name="Text 18"/>
          <p:cNvSpPr/>
          <p:nvPr/>
        </p:nvSpPr>
        <p:spPr>
          <a:xfrm>
            <a:off x="5605272" y="3566160"/>
            <a:ext cx="1280160" cy="822960"/>
          </a:xfrm>
          <a:prstGeom prst="rect">
            <a:avLst/>
          </a:prstGeom>
          <a:noFill/>
          <a:ln/>
        </p:spPr>
        <p:txBody>
          <a:bodyPr wrap="square" lIns="0" tIns="0" rIns="0" bIns="0" rtlCol="0" anchor="t"/>
          <a:lstStyle/>
          <a:p>
            <a:pPr algn="ctr" indent="0" marL="0">
              <a:buNone/>
            </a:pPr>
            <a:r>
              <a:rPr lang="en-US" sz="1000" dirty="0">
                <a:solidFill>
                  <a:srgbClr val="15314F"/>
                </a:solidFill>
                <a:latin typeface="Calibri" pitchFamily="34" charset="0"/>
                <a:ea typeface="Calibri" pitchFamily="34" charset="-122"/>
                <a:cs typeface="Calibri" pitchFamily="34" charset="-120"/>
              </a:rPr>
              <a:t>Maps directly to the outcome in your Q-Zero.</a:t>
            </a:r>
            <a:endParaRPr lang="en-US" sz="1000" dirty="0"/>
          </a:p>
        </p:txBody>
      </p:sp>
      <p:sp>
        <p:nvSpPr>
          <p:cNvPr id="22" name="Shape 19"/>
          <p:cNvSpPr/>
          <p:nvPr/>
        </p:nvSpPr>
        <p:spPr>
          <a:xfrm>
            <a:off x="7141464" y="2240280"/>
            <a:ext cx="1554480" cy="2194560"/>
          </a:xfrm>
          <a:prstGeom prst="roundRect">
            <a:avLst>
              <a:gd name="adj" fmla="val 4706"/>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23" name="Text 20"/>
          <p:cNvSpPr/>
          <p:nvPr/>
        </p:nvSpPr>
        <p:spPr>
          <a:xfrm>
            <a:off x="7141464" y="2377440"/>
            <a:ext cx="1554480" cy="777240"/>
          </a:xfrm>
          <a:prstGeom prst="rect">
            <a:avLst/>
          </a:prstGeom>
          <a:noFill/>
          <a:ln/>
        </p:spPr>
        <p:txBody>
          <a:bodyPr wrap="square" lIns="0" tIns="0" rIns="0" bIns="0" rtlCol="0" anchor="ctr"/>
          <a:lstStyle/>
          <a:p>
            <a:pPr algn="ctr" indent="0" marL="0">
              <a:buNone/>
            </a:pPr>
            <a:r>
              <a:rPr lang="en-US" sz="6000" b="1" dirty="0">
                <a:solidFill>
                  <a:srgbClr val="5BA9D8"/>
                </a:solidFill>
                <a:latin typeface="Calibri Light" pitchFamily="34" charset="0"/>
                <a:ea typeface="Calibri Light" pitchFamily="34" charset="-122"/>
                <a:cs typeface="Calibri Light" pitchFamily="34" charset="-120"/>
              </a:rPr>
              <a:t>T</a:t>
            </a:r>
            <a:endParaRPr lang="en-US" sz="6000" dirty="0"/>
          </a:p>
        </p:txBody>
      </p:sp>
      <p:sp>
        <p:nvSpPr>
          <p:cNvPr id="24" name="Text 21"/>
          <p:cNvSpPr/>
          <p:nvPr/>
        </p:nvSpPr>
        <p:spPr>
          <a:xfrm>
            <a:off x="7232904" y="3200400"/>
            <a:ext cx="1371600" cy="320040"/>
          </a:xfrm>
          <a:prstGeom prst="rect">
            <a:avLst/>
          </a:prstGeom>
          <a:noFill/>
          <a:ln/>
        </p:spPr>
        <p:txBody>
          <a:bodyPr wrap="square" lIns="0" tIns="0" rIns="0" bIns="0" rtlCol="0" anchor="ctr"/>
          <a:lstStyle/>
          <a:p>
            <a:pPr algn="ctr" indent="0" marL="0">
              <a:buNone/>
            </a:pPr>
            <a:r>
              <a:rPr lang="en-US" sz="1350" b="1" dirty="0">
                <a:solidFill>
                  <a:srgbClr val="15314F"/>
                </a:solidFill>
                <a:latin typeface="Calibri Light" pitchFamily="34" charset="0"/>
                <a:ea typeface="Calibri Light" pitchFamily="34" charset="-122"/>
                <a:cs typeface="Calibri Light" pitchFamily="34" charset="-120"/>
              </a:rPr>
              <a:t>Time-bound</a:t>
            </a:r>
            <a:endParaRPr lang="en-US" sz="1350" dirty="0"/>
          </a:p>
        </p:txBody>
      </p:sp>
      <p:sp>
        <p:nvSpPr>
          <p:cNvPr id="25" name="Text 22"/>
          <p:cNvSpPr/>
          <p:nvPr/>
        </p:nvSpPr>
        <p:spPr>
          <a:xfrm>
            <a:off x="7278624" y="3566160"/>
            <a:ext cx="1280160" cy="822960"/>
          </a:xfrm>
          <a:prstGeom prst="rect">
            <a:avLst/>
          </a:prstGeom>
          <a:noFill/>
          <a:ln/>
        </p:spPr>
        <p:txBody>
          <a:bodyPr wrap="square" lIns="0" tIns="0" rIns="0" bIns="0" rtlCol="0" anchor="t"/>
          <a:lstStyle/>
          <a:p>
            <a:pPr algn="ctr" indent="0" marL="0">
              <a:buNone/>
            </a:pPr>
            <a:r>
              <a:rPr lang="en-US" sz="1000" dirty="0">
                <a:solidFill>
                  <a:srgbClr val="15314F"/>
                </a:solidFill>
                <a:latin typeface="Calibri" pitchFamily="34" charset="0"/>
                <a:ea typeface="Calibri" pitchFamily="34" charset="-122"/>
                <a:cs typeface="Calibri" pitchFamily="34" charset="-120"/>
              </a:rPr>
              <a:t>Specifies exactly when measurement happens.</a:t>
            </a:r>
            <a:endParaRPr lang="en-US" sz="1000" dirty="0"/>
          </a:p>
        </p:txBody>
      </p:sp>
      <p:sp>
        <p:nvSpPr>
          <p:cNvPr id="26" name="Shape 23"/>
          <p:cNvSpPr/>
          <p:nvPr/>
        </p:nvSpPr>
        <p:spPr>
          <a:xfrm>
            <a:off x="502920" y="4732020"/>
            <a:ext cx="8138160" cy="0"/>
          </a:xfrm>
          <a:prstGeom prst="line">
            <a:avLst/>
          </a:prstGeom>
          <a:noFill/>
          <a:ln w="9525">
            <a:solidFill>
              <a:srgbClr val="DCE6EE"/>
            </a:solidFill>
            <a:prstDash val="solid"/>
          </a:ln>
        </p:spPr>
      </p:sp>
      <p:sp>
        <p:nvSpPr>
          <p:cNvPr id="27" name="Text 24"/>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8" name="Text 25"/>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29" name="Text 26"/>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SMART in practice</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Vague vs. SMART — every letter, every difference</a:t>
            </a:r>
            <a:endParaRPr lang="en-US" sz="3000" dirty="0"/>
          </a:p>
        </p:txBody>
      </p:sp>
      <p:sp>
        <p:nvSpPr>
          <p:cNvPr id="5" name="Text 2"/>
          <p:cNvSpPr/>
          <p:nvPr/>
        </p:nvSpPr>
        <p:spPr>
          <a:xfrm>
            <a:off x="502920" y="1463040"/>
            <a:ext cx="457200" cy="274320"/>
          </a:xfrm>
          <a:prstGeom prst="rect">
            <a:avLst/>
          </a:prstGeom>
          <a:noFill/>
          <a:ln/>
        </p:spPr>
        <p:txBody>
          <a:bodyPr wrap="square" rtlCol="0" anchor="ctr"/>
          <a:lstStyle/>
          <a:p>
            <a:pPr indent="0" marL="0">
              <a:buNone/>
            </a:pPr>
            <a:endParaRPr lang="en-US" dirty="0"/>
          </a:p>
        </p:txBody>
      </p:sp>
      <p:sp>
        <p:nvSpPr>
          <p:cNvPr id="6" name="Text 3"/>
          <p:cNvSpPr/>
          <p:nvPr/>
        </p:nvSpPr>
        <p:spPr>
          <a:xfrm>
            <a:off x="1005840" y="1463040"/>
            <a:ext cx="3657600" cy="274320"/>
          </a:xfrm>
          <a:prstGeom prst="rect">
            <a:avLst/>
          </a:prstGeom>
          <a:noFill/>
          <a:ln/>
        </p:spPr>
        <p:txBody>
          <a:bodyPr wrap="square" lIns="0" tIns="0" rIns="0" bIns="0" rtlCol="0" anchor="ctr"/>
          <a:lstStyle/>
          <a:p>
            <a:pPr indent="0" marL="0">
              <a:buNone/>
            </a:pPr>
            <a:r>
              <a:rPr lang="en-US" sz="900" b="1" spc="200" kern="0" dirty="0">
                <a:solidFill>
                  <a:srgbClr val="D9534F"/>
                </a:solidFill>
                <a:latin typeface="Calibri" pitchFamily="34" charset="0"/>
                <a:ea typeface="Calibri" pitchFamily="34" charset="-122"/>
                <a:cs typeface="Calibri" pitchFamily="34" charset="-120"/>
              </a:rPr>
              <a:t>VAGUE  ·  WHAT NOT TO WRITE</a:t>
            </a:r>
            <a:endParaRPr lang="en-US" sz="900" dirty="0"/>
          </a:p>
        </p:txBody>
      </p:sp>
      <p:sp>
        <p:nvSpPr>
          <p:cNvPr id="7" name="Text 4"/>
          <p:cNvSpPr/>
          <p:nvPr/>
        </p:nvSpPr>
        <p:spPr>
          <a:xfrm>
            <a:off x="4846320" y="1463040"/>
            <a:ext cx="4114800" cy="274320"/>
          </a:xfrm>
          <a:prstGeom prst="rect">
            <a:avLst/>
          </a:prstGeom>
          <a:noFill/>
          <a:ln/>
        </p:spPr>
        <p:txBody>
          <a:bodyPr wrap="square" lIns="0" tIns="0" rIns="0" bIns="0" rtlCol="0" anchor="ctr"/>
          <a:lstStyle/>
          <a:p>
            <a:pPr indent="0" marL="0">
              <a:buNone/>
            </a:pPr>
            <a:r>
              <a:rPr lang="en-US" sz="900" b="1" spc="200" kern="0" dirty="0">
                <a:solidFill>
                  <a:srgbClr val="4A9F7A"/>
                </a:solidFill>
                <a:latin typeface="Calibri" pitchFamily="34" charset="0"/>
                <a:ea typeface="Calibri" pitchFamily="34" charset="-122"/>
                <a:cs typeface="Calibri" pitchFamily="34" charset="-120"/>
              </a:rPr>
              <a:t>SMART  ·  WHAT TO WRITE INSTEAD</a:t>
            </a:r>
            <a:endParaRPr lang="en-US" sz="900" dirty="0"/>
          </a:p>
        </p:txBody>
      </p:sp>
      <p:sp>
        <p:nvSpPr>
          <p:cNvPr id="8" name="Shape 5"/>
          <p:cNvSpPr/>
          <p:nvPr/>
        </p:nvSpPr>
        <p:spPr>
          <a:xfrm>
            <a:off x="502920" y="1874520"/>
            <a:ext cx="365760" cy="365760"/>
          </a:xfrm>
          <a:prstGeom prst="ellipse">
            <a:avLst/>
          </a:prstGeom>
          <a:solidFill>
            <a:srgbClr val="5BA9D8"/>
          </a:solidFill>
          <a:ln w="12700">
            <a:solidFill>
              <a:srgbClr val="5BA9D8"/>
            </a:solidFill>
            <a:prstDash val="solid"/>
          </a:ln>
        </p:spPr>
      </p:sp>
      <p:sp>
        <p:nvSpPr>
          <p:cNvPr id="9" name="Text 6"/>
          <p:cNvSpPr/>
          <p:nvPr/>
        </p:nvSpPr>
        <p:spPr>
          <a:xfrm>
            <a:off x="502920" y="1874520"/>
            <a:ext cx="365760" cy="365760"/>
          </a:xfrm>
          <a:prstGeom prst="rect">
            <a:avLst/>
          </a:prstGeom>
          <a:noFill/>
          <a:ln/>
        </p:spPr>
        <p:txBody>
          <a:bodyPr wrap="square" lIns="0" tIns="0" rIns="0" bIns="0" rtlCol="0" anchor="ctr"/>
          <a:lstStyle/>
          <a:p>
            <a:pPr algn="ctr" indent="0" marL="0">
              <a:buNone/>
            </a:pPr>
            <a:r>
              <a:rPr lang="en-US" sz="1500" b="1" dirty="0">
                <a:solidFill>
                  <a:srgbClr val="15314F"/>
                </a:solidFill>
                <a:latin typeface="Calibri Light" pitchFamily="34" charset="0"/>
                <a:ea typeface="Calibri Light" pitchFamily="34" charset="-122"/>
                <a:cs typeface="Calibri Light" pitchFamily="34" charset="-120"/>
              </a:rPr>
              <a:t>S</a:t>
            </a:r>
            <a:endParaRPr lang="en-US" sz="1500" dirty="0"/>
          </a:p>
        </p:txBody>
      </p:sp>
      <p:sp>
        <p:nvSpPr>
          <p:cNvPr id="10" name="Shape 7"/>
          <p:cNvSpPr/>
          <p:nvPr/>
        </p:nvSpPr>
        <p:spPr>
          <a:xfrm>
            <a:off x="1005840" y="1783080"/>
            <a:ext cx="3657600" cy="548640"/>
          </a:xfrm>
          <a:prstGeom prst="roundRect">
            <a:avLst>
              <a:gd name="adj" fmla="val 13333"/>
            </a:avLst>
          </a:prstGeom>
          <a:solidFill>
            <a:srgbClr val="FFF5F2"/>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1" name="Text 8"/>
          <p:cNvSpPr/>
          <p:nvPr/>
        </p:nvSpPr>
        <p:spPr>
          <a:xfrm>
            <a:off x="1143000" y="1783080"/>
            <a:ext cx="3429000" cy="548640"/>
          </a:xfrm>
          <a:prstGeom prst="rect">
            <a:avLst/>
          </a:prstGeom>
          <a:noFill/>
          <a:ln/>
        </p:spPr>
        <p:txBody>
          <a:bodyPr wrap="square" lIns="0" tIns="0" rIns="0" bIns="0" rtlCol="0" anchor="ctr"/>
          <a:lstStyle/>
          <a:p>
            <a:pPr indent="0" marL="0">
              <a:buNone/>
            </a:pPr>
            <a:r>
              <a:rPr lang="en-US" sz="950" i="1" dirty="0">
                <a:solidFill>
                  <a:srgbClr val="15314F"/>
                </a:solidFill>
                <a:latin typeface="Calibri" pitchFamily="34" charset="0"/>
                <a:ea typeface="Calibri" pitchFamily="34" charset="-122"/>
                <a:cs typeface="Calibri" pitchFamily="34" charset="-120"/>
              </a:rPr>
              <a:t>“Youth feel more connected to Islam.”</a:t>
            </a:r>
            <a:endParaRPr lang="en-US" sz="950" dirty="0"/>
          </a:p>
        </p:txBody>
      </p:sp>
      <p:sp>
        <p:nvSpPr>
          <p:cNvPr id="12" name="Shape 9"/>
          <p:cNvSpPr/>
          <p:nvPr/>
        </p:nvSpPr>
        <p:spPr>
          <a:xfrm>
            <a:off x="4800600" y="1783080"/>
            <a:ext cx="4160520" cy="548640"/>
          </a:xfrm>
          <a:prstGeom prst="roundRect">
            <a:avLst>
              <a:gd name="adj" fmla="val 13333"/>
            </a:avLst>
          </a:prstGeom>
          <a:solidFill>
            <a:srgbClr val="F0F5F2"/>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3" name="Text 10"/>
          <p:cNvSpPr/>
          <p:nvPr/>
        </p:nvSpPr>
        <p:spPr>
          <a:xfrm>
            <a:off x="4937760" y="1783080"/>
            <a:ext cx="3931920" cy="548640"/>
          </a:xfrm>
          <a:prstGeom prst="rect">
            <a:avLst/>
          </a:prstGeom>
          <a:noFill/>
          <a:ln/>
        </p:spPr>
        <p:txBody>
          <a:bodyPr wrap="square" lIns="0" tIns="0" rIns="0" bIns="0" rtlCol="0" anchor="ctr"/>
          <a:lstStyle/>
          <a:p>
            <a:pPr indent="0" marL="0">
              <a:buNone/>
            </a:pPr>
            <a:r>
              <a:rPr lang="en-US" sz="950" dirty="0">
                <a:solidFill>
                  <a:srgbClr val="15314F"/>
                </a:solidFill>
                <a:latin typeface="Calibri" pitchFamily="34" charset="0"/>
                <a:ea typeface="Calibri" pitchFamily="34" charset="-122"/>
                <a:cs typeface="Calibri" pitchFamily="34" charset="-120"/>
              </a:rPr>
              <a:t>% of Youth Camp alumni reporting consistent Friday-prayer attendance, measured via 3-month follow-up survey.</a:t>
            </a:r>
            <a:endParaRPr lang="en-US" sz="950" dirty="0"/>
          </a:p>
        </p:txBody>
      </p:sp>
      <p:sp>
        <p:nvSpPr>
          <p:cNvPr id="14" name="Shape 11"/>
          <p:cNvSpPr/>
          <p:nvPr/>
        </p:nvSpPr>
        <p:spPr>
          <a:xfrm>
            <a:off x="502920" y="2468880"/>
            <a:ext cx="365760" cy="365760"/>
          </a:xfrm>
          <a:prstGeom prst="ellipse">
            <a:avLst/>
          </a:prstGeom>
          <a:solidFill>
            <a:srgbClr val="5BA9D8"/>
          </a:solidFill>
          <a:ln w="12700">
            <a:solidFill>
              <a:srgbClr val="5BA9D8"/>
            </a:solidFill>
            <a:prstDash val="solid"/>
          </a:ln>
        </p:spPr>
      </p:sp>
      <p:sp>
        <p:nvSpPr>
          <p:cNvPr id="15" name="Text 12"/>
          <p:cNvSpPr/>
          <p:nvPr/>
        </p:nvSpPr>
        <p:spPr>
          <a:xfrm>
            <a:off x="502920" y="2468880"/>
            <a:ext cx="365760" cy="365760"/>
          </a:xfrm>
          <a:prstGeom prst="rect">
            <a:avLst/>
          </a:prstGeom>
          <a:noFill/>
          <a:ln/>
        </p:spPr>
        <p:txBody>
          <a:bodyPr wrap="square" lIns="0" tIns="0" rIns="0" bIns="0" rtlCol="0" anchor="ctr"/>
          <a:lstStyle/>
          <a:p>
            <a:pPr algn="ctr" indent="0" marL="0">
              <a:buNone/>
            </a:pPr>
            <a:r>
              <a:rPr lang="en-US" sz="1500" b="1" dirty="0">
                <a:solidFill>
                  <a:srgbClr val="15314F"/>
                </a:solidFill>
                <a:latin typeface="Calibri Light" pitchFamily="34" charset="0"/>
                <a:ea typeface="Calibri Light" pitchFamily="34" charset="-122"/>
                <a:cs typeface="Calibri Light" pitchFamily="34" charset="-120"/>
              </a:rPr>
              <a:t>M</a:t>
            </a:r>
            <a:endParaRPr lang="en-US" sz="1500" dirty="0"/>
          </a:p>
        </p:txBody>
      </p:sp>
      <p:sp>
        <p:nvSpPr>
          <p:cNvPr id="16" name="Shape 13"/>
          <p:cNvSpPr/>
          <p:nvPr/>
        </p:nvSpPr>
        <p:spPr>
          <a:xfrm>
            <a:off x="1005840" y="2377440"/>
            <a:ext cx="3657600" cy="548640"/>
          </a:xfrm>
          <a:prstGeom prst="roundRect">
            <a:avLst>
              <a:gd name="adj" fmla="val 13333"/>
            </a:avLst>
          </a:prstGeom>
          <a:solidFill>
            <a:srgbClr val="FFF5F2"/>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7" name="Text 14"/>
          <p:cNvSpPr/>
          <p:nvPr/>
        </p:nvSpPr>
        <p:spPr>
          <a:xfrm>
            <a:off x="1143000" y="2377440"/>
            <a:ext cx="3429000" cy="548640"/>
          </a:xfrm>
          <a:prstGeom prst="rect">
            <a:avLst/>
          </a:prstGeom>
          <a:noFill/>
          <a:ln/>
        </p:spPr>
        <p:txBody>
          <a:bodyPr wrap="square" lIns="0" tIns="0" rIns="0" bIns="0" rtlCol="0" anchor="ctr"/>
          <a:lstStyle/>
          <a:p>
            <a:pPr indent="0" marL="0">
              <a:buNone/>
            </a:pPr>
            <a:r>
              <a:rPr lang="en-US" sz="950" i="1" dirty="0">
                <a:solidFill>
                  <a:srgbClr val="15314F"/>
                </a:solidFill>
                <a:latin typeface="Calibri" pitchFamily="34" charset="0"/>
                <a:ea typeface="Calibri" pitchFamily="34" charset="-122"/>
                <a:cs typeface="Calibri" pitchFamily="34" charset="-120"/>
              </a:rPr>
              <a:t>“We will assess their faith.”</a:t>
            </a:r>
            <a:endParaRPr lang="en-US" sz="950" dirty="0"/>
          </a:p>
        </p:txBody>
      </p:sp>
      <p:sp>
        <p:nvSpPr>
          <p:cNvPr id="18" name="Shape 15"/>
          <p:cNvSpPr/>
          <p:nvPr/>
        </p:nvSpPr>
        <p:spPr>
          <a:xfrm>
            <a:off x="4800600" y="2377440"/>
            <a:ext cx="4160520" cy="548640"/>
          </a:xfrm>
          <a:prstGeom prst="roundRect">
            <a:avLst>
              <a:gd name="adj" fmla="val 13333"/>
            </a:avLst>
          </a:prstGeom>
          <a:solidFill>
            <a:srgbClr val="F0F5F2"/>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9" name="Text 16"/>
          <p:cNvSpPr/>
          <p:nvPr/>
        </p:nvSpPr>
        <p:spPr>
          <a:xfrm>
            <a:off x="4937760" y="2377440"/>
            <a:ext cx="3931920" cy="548640"/>
          </a:xfrm>
          <a:prstGeom prst="rect">
            <a:avLst/>
          </a:prstGeom>
          <a:noFill/>
          <a:ln/>
        </p:spPr>
        <p:txBody>
          <a:bodyPr wrap="square" lIns="0" tIns="0" rIns="0" bIns="0" rtlCol="0" anchor="ctr"/>
          <a:lstStyle/>
          <a:p>
            <a:pPr indent="0" marL="0">
              <a:buNone/>
            </a:pPr>
            <a:r>
              <a:rPr lang="en-US" sz="950" dirty="0">
                <a:solidFill>
                  <a:srgbClr val="15314F"/>
                </a:solidFill>
                <a:latin typeface="Calibri" pitchFamily="34" charset="0"/>
                <a:ea typeface="Calibri" pitchFamily="34" charset="-122"/>
                <a:cs typeface="Calibri" pitchFamily="34" charset="-120"/>
              </a:rPr>
              <a:t>Post-camp Likert survey plus 3-month follow-up call, administered by Youth dept lead.</a:t>
            </a:r>
            <a:endParaRPr lang="en-US" sz="950" dirty="0"/>
          </a:p>
        </p:txBody>
      </p:sp>
      <p:sp>
        <p:nvSpPr>
          <p:cNvPr id="20" name="Shape 17"/>
          <p:cNvSpPr/>
          <p:nvPr/>
        </p:nvSpPr>
        <p:spPr>
          <a:xfrm>
            <a:off x="502920" y="3063240"/>
            <a:ext cx="365760" cy="365760"/>
          </a:xfrm>
          <a:prstGeom prst="ellipse">
            <a:avLst/>
          </a:prstGeom>
          <a:solidFill>
            <a:srgbClr val="5BA9D8"/>
          </a:solidFill>
          <a:ln w="12700">
            <a:solidFill>
              <a:srgbClr val="5BA9D8"/>
            </a:solidFill>
            <a:prstDash val="solid"/>
          </a:ln>
        </p:spPr>
      </p:sp>
      <p:sp>
        <p:nvSpPr>
          <p:cNvPr id="21" name="Text 18"/>
          <p:cNvSpPr/>
          <p:nvPr/>
        </p:nvSpPr>
        <p:spPr>
          <a:xfrm>
            <a:off x="502920" y="3063240"/>
            <a:ext cx="365760" cy="365760"/>
          </a:xfrm>
          <a:prstGeom prst="rect">
            <a:avLst/>
          </a:prstGeom>
          <a:noFill/>
          <a:ln/>
        </p:spPr>
        <p:txBody>
          <a:bodyPr wrap="square" lIns="0" tIns="0" rIns="0" bIns="0" rtlCol="0" anchor="ctr"/>
          <a:lstStyle/>
          <a:p>
            <a:pPr algn="ctr" indent="0" marL="0">
              <a:buNone/>
            </a:pPr>
            <a:r>
              <a:rPr lang="en-US" sz="1500" b="1" dirty="0">
                <a:solidFill>
                  <a:srgbClr val="15314F"/>
                </a:solidFill>
                <a:latin typeface="Calibri Light" pitchFamily="34" charset="0"/>
                <a:ea typeface="Calibri Light" pitchFamily="34" charset="-122"/>
                <a:cs typeface="Calibri Light" pitchFamily="34" charset="-120"/>
              </a:rPr>
              <a:t>A</a:t>
            </a:r>
            <a:endParaRPr lang="en-US" sz="1500" dirty="0"/>
          </a:p>
        </p:txBody>
      </p:sp>
      <p:sp>
        <p:nvSpPr>
          <p:cNvPr id="22" name="Shape 19"/>
          <p:cNvSpPr/>
          <p:nvPr/>
        </p:nvSpPr>
        <p:spPr>
          <a:xfrm>
            <a:off x="1005840" y="2971800"/>
            <a:ext cx="3657600" cy="548640"/>
          </a:xfrm>
          <a:prstGeom prst="roundRect">
            <a:avLst>
              <a:gd name="adj" fmla="val 13333"/>
            </a:avLst>
          </a:prstGeom>
          <a:solidFill>
            <a:srgbClr val="FFF5F2"/>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23" name="Text 20"/>
          <p:cNvSpPr/>
          <p:nvPr/>
        </p:nvSpPr>
        <p:spPr>
          <a:xfrm>
            <a:off x="1143000" y="2971800"/>
            <a:ext cx="3429000" cy="548640"/>
          </a:xfrm>
          <a:prstGeom prst="rect">
            <a:avLst/>
          </a:prstGeom>
          <a:noFill/>
          <a:ln/>
        </p:spPr>
        <p:txBody>
          <a:bodyPr wrap="square" lIns="0" tIns="0" rIns="0" bIns="0" rtlCol="0" anchor="ctr"/>
          <a:lstStyle/>
          <a:p>
            <a:pPr indent="0" marL="0">
              <a:buNone/>
            </a:pPr>
            <a:r>
              <a:rPr lang="en-US" sz="950" i="1" dirty="0">
                <a:solidFill>
                  <a:srgbClr val="15314F"/>
                </a:solidFill>
                <a:latin typeface="Calibri" pitchFamily="34" charset="0"/>
                <a:ea typeface="Calibri" pitchFamily="34" charset="-122"/>
                <a:cs typeface="Calibri" pitchFamily="34" charset="-120"/>
              </a:rPr>
              <a:t>“100% of youth will pray five times daily for the rest of their lives.”</a:t>
            </a:r>
            <a:endParaRPr lang="en-US" sz="950" dirty="0"/>
          </a:p>
        </p:txBody>
      </p:sp>
      <p:sp>
        <p:nvSpPr>
          <p:cNvPr id="24" name="Shape 21"/>
          <p:cNvSpPr/>
          <p:nvPr/>
        </p:nvSpPr>
        <p:spPr>
          <a:xfrm>
            <a:off x="4800600" y="2971800"/>
            <a:ext cx="4160520" cy="548640"/>
          </a:xfrm>
          <a:prstGeom prst="roundRect">
            <a:avLst>
              <a:gd name="adj" fmla="val 13333"/>
            </a:avLst>
          </a:prstGeom>
          <a:solidFill>
            <a:srgbClr val="F0F5F2"/>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25" name="Text 22"/>
          <p:cNvSpPr/>
          <p:nvPr/>
        </p:nvSpPr>
        <p:spPr>
          <a:xfrm>
            <a:off x="4937760" y="2971800"/>
            <a:ext cx="3931920" cy="548640"/>
          </a:xfrm>
          <a:prstGeom prst="rect">
            <a:avLst/>
          </a:prstGeom>
          <a:noFill/>
          <a:ln/>
        </p:spPr>
        <p:txBody>
          <a:bodyPr wrap="square" lIns="0" tIns="0" rIns="0" bIns="0" rtlCol="0" anchor="ctr"/>
          <a:lstStyle/>
          <a:p>
            <a:pPr indent="0" marL="0">
              <a:buNone/>
            </a:pPr>
            <a:r>
              <a:rPr lang="en-US" sz="950" dirty="0">
                <a:solidFill>
                  <a:srgbClr val="15314F"/>
                </a:solidFill>
                <a:latin typeface="Calibri" pitchFamily="34" charset="0"/>
                <a:ea typeface="Calibri" pitchFamily="34" charset="-122"/>
                <a:cs typeface="Calibri" pitchFamily="34" charset="-120"/>
              </a:rPr>
              <a:t>65% of camp participants report consistent salah at the 3-month follow-up.</a:t>
            </a:r>
            <a:endParaRPr lang="en-US" sz="950" dirty="0"/>
          </a:p>
        </p:txBody>
      </p:sp>
      <p:sp>
        <p:nvSpPr>
          <p:cNvPr id="26" name="Shape 23"/>
          <p:cNvSpPr/>
          <p:nvPr/>
        </p:nvSpPr>
        <p:spPr>
          <a:xfrm>
            <a:off x="502920" y="3657600"/>
            <a:ext cx="365760" cy="365760"/>
          </a:xfrm>
          <a:prstGeom prst="ellipse">
            <a:avLst/>
          </a:prstGeom>
          <a:solidFill>
            <a:srgbClr val="5BA9D8"/>
          </a:solidFill>
          <a:ln w="12700">
            <a:solidFill>
              <a:srgbClr val="5BA9D8"/>
            </a:solidFill>
            <a:prstDash val="solid"/>
          </a:ln>
        </p:spPr>
      </p:sp>
      <p:sp>
        <p:nvSpPr>
          <p:cNvPr id="27" name="Text 24"/>
          <p:cNvSpPr/>
          <p:nvPr/>
        </p:nvSpPr>
        <p:spPr>
          <a:xfrm>
            <a:off x="502920" y="3657600"/>
            <a:ext cx="365760" cy="365760"/>
          </a:xfrm>
          <a:prstGeom prst="rect">
            <a:avLst/>
          </a:prstGeom>
          <a:noFill/>
          <a:ln/>
        </p:spPr>
        <p:txBody>
          <a:bodyPr wrap="square" lIns="0" tIns="0" rIns="0" bIns="0" rtlCol="0" anchor="ctr"/>
          <a:lstStyle/>
          <a:p>
            <a:pPr algn="ctr" indent="0" marL="0">
              <a:buNone/>
            </a:pPr>
            <a:r>
              <a:rPr lang="en-US" sz="1500" b="1" dirty="0">
                <a:solidFill>
                  <a:srgbClr val="15314F"/>
                </a:solidFill>
                <a:latin typeface="Calibri Light" pitchFamily="34" charset="0"/>
                <a:ea typeface="Calibri Light" pitchFamily="34" charset="-122"/>
                <a:cs typeface="Calibri Light" pitchFamily="34" charset="-120"/>
              </a:rPr>
              <a:t>R</a:t>
            </a:r>
            <a:endParaRPr lang="en-US" sz="1500" dirty="0"/>
          </a:p>
        </p:txBody>
      </p:sp>
      <p:sp>
        <p:nvSpPr>
          <p:cNvPr id="28" name="Shape 25"/>
          <p:cNvSpPr/>
          <p:nvPr/>
        </p:nvSpPr>
        <p:spPr>
          <a:xfrm>
            <a:off x="1005840" y="3566160"/>
            <a:ext cx="3657600" cy="548640"/>
          </a:xfrm>
          <a:prstGeom prst="roundRect">
            <a:avLst>
              <a:gd name="adj" fmla="val 13333"/>
            </a:avLst>
          </a:prstGeom>
          <a:solidFill>
            <a:srgbClr val="FFF5F2"/>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29" name="Text 26"/>
          <p:cNvSpPr/>
          <p:nvPr/>
        </p:nvSpPr>
        <p:spPr>
          <a:xfrm>
            <a:off x="1143000" y="3566160"/>
            <a:ext cx="3429000" cy="548640"/>
          </a:xfrm>
          <a:prstGeom prst="rect">
            <a:avLst/>
          </a:prstGeom>
          <a:noFill/>
          <a:ln/>
        </p:spPr>
        <p:txBody>
          <a:bodyPr wrap="square" lIns="0" tIns="0" rIns="0" bIns="0" rtlCol="0" anchor="ctr"/>
          <a:lstStyle/>
          <a:p>
            <a:pPr indent="0" marL="0">
              <a:buNone/>
            </a:pPr>
            <a:r>
              <a:rPr lang="en-US" sz="950" i="1" dirty="0">
                <a:solidFill>
                  <a:srgbClr val="15314F"/>
                </a:solidFill>
                <a:latin typeface="Calibri" pitchFamily="34" charset="0"/>
                <a:ea typeface="Calibri" pitchFamily="34" charset="-122"/>
                <a:cs typeface="Calibri" pitchFamily="34" charset="-120"/>
              </a:rPr>
              <a:t>Number of BJJ sessions attended per week.</a:t>
            </a:r>
            <a:endParaRPr lang="en-US" sz="950" dirty="0"/>
          </a:p>
        </p:txBody>
      </p:sp>
      <p:sp>
        <p:nvSpPr>
          <p:cNvPr id="30" name="Shape 27"/>
          <p:cNvSpPr/>
          <p:nvPr/>
        </p:nvSpPr>
        <p:spPr>
          <a:xfrm>
            <a:off x="4800600" y="3566160"/>
            <a:ext cx="4160520" cy="548640"/>
          </a:xfrm>
          <a:prstGeom prst="roundRect">
            <a:avLst>
              <a:gd name="adj" fmla="val 13333"/>
            </a:avLst>
          </a:prstGeom>
          <a:solidFill>
            <a:srgbClr val="F0F5F2"/>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31" name="Text 28"/>
          <p:cNvSpPr/>
          <p:nvPr/>
        </p:nvSpPr>
        <p:spPr>
          <a:xfrm>
            <a:off x="4937760" y="3566160"/>
            <a:ext cx="3931920" cy="548640"/>
          </a:xfrm>
          <a:prstGeom prst="rect">
            <a:avLst/>
          </a:prstGeom>
          <a:noFill/>
          <a:ln/>
        </p:spPr>
        <p:txBody>
          <a:bodyPr wrap="square" lIns="0" tIns="0" rIns="0" bIns="0" rtlCol="0" anchor="ctr"/>
          <a:lstStyle/>
          <a:p>
            <a:pPr indent="0" marL="0">
              <a:buNone/>
            </a:pPr>
            <a:r>
              <a:rPr lang="en-US" sz="950" dirty="0">
                <a:solidFill>
                  <a:srgbClr val="15314F"/>
                </a:solidFill>
                <a:latin typeface="Calibri" pitchFamily="34" charset="0"/>
                <a:ea typeface="Calibri" pitchFamily="34" charset="-122"/>
                <a:cs typeface="Calibri" pitchFamily="34" charset="-120"/>
              </a:rPr>
              <a:t>Self-reported reduction in anger response in conflict situations at 3-month follow-up.</a:t>
            </a:r>
            <a:endParaRPr lang="en-US" sz="950" dirty="0"/>
          </a:p>
        </p:txBody>
      </p:sp>
      <p:sp>
        <p:nvSpPr>
          <p:cNvPr id="32" name="Shape 29"/>
          <p:cNvSpPr/>
          <p:nvPr/>
        </p:nvSpPr>
        <p:spPr>
          <a:xfrm>
            <a:off x="502920" y="4251960"/>
            <a:ext cx="365760" cy="365760"/>
          </a:xfrm>
          <a:prstGeom prst="ellipse">
            <a:avLst/>
          </a:prstGeom>
          <a:solidFill>
            <a:srgbClr val="5BA9D8"/>
          </a:solidFill>
          <a:ln w="12700">
            <a:solidFill>
              <a:srgbClr val="5BA9D8"/>
            </a:solidFill>
            <a:prstDash val="solid"/>
          </a:ln>
        </p:spPr>
      </p:sp>
      <p:sp>
        <p:nvSpPr>
          <p:cNvPr id="33" name="Text 30"/>
          <p:cNvSpPr/>
          <p:nvPr/>
        </p:nvSpPr>
        <p:spPr>
          <a:xfrm>
            <a:off x="502920" y="4251960"/>
            <a:ext cx="365760" cy="365760"/>
          </a:xfrm>
          <a:prstGeom prst="rect">
            <a:avLst/>
          </a:prstGeom>
          <a:noFill/>
          <a:ln/>
        </p:spPr>
        <p:txBody>
          <a:bodyPr wrap="square" lIns="0" tIns="0" rIns="0" bIns="0" rtlCol="0" anchor="ctr"/>
          <a:lstStyle/>
          <a:p>
            <a:pPr algn="ctr" indent="0" marL="0">
              <a:buNone/>
            </a:pPr>
            <a:r>
              <a:rPr lang="en-US" sz="1500" b="1" dirty="0">
                <a:solidFill>
                  <a:srgbClr val="15314F"/>
                </a:solidFill>
                <a:latin typeface="Calibri Light" pitchFamily="34" charset="0"/>
                <a:ea typeface="Calibri Light" pitchFamily="34" charset="-122"/>
                <a:cs typeface="Calibri Light" pitchFamily="34" charset="-120"/>
              </a:rPr>
              <a:t>T</a:t>
            </a:r>
            <a:endParaRPr lang="en-US" sz="1500" dirty="0"/>
          </a:p>
        </p:txBody>
      </p:sp>
      <p:sp>
        <p:nvSpPr>
          <p:cNvPr id="34" name="Shape 31"/>
          <p:cNvSpPr/>
          <p:nvPr/>
        </p:nvSpPr>
        <p:spPr>
          <a:xfrm>
            <a:off x="1005840" y="4160520"/>
            <a:ext cx="3657600" cy="548640"/>
          </a:xfrm>
          <a:prstGeom prst="roundRect">
            <a:avLst>
              <a:gd name="adj" fmla="val 13333"/>
            </a:avLst>
          </a:prstGeom>
          <a:solidFill>
            <a:srgbClr val="FFF5F2"/>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35" name="Text 32"/>
          <p:cNvSpPr/>
          <p:nvPr/>
        </p:nvSpPr>
        <p:spPr>
          <a:xfrm>
            <a:off x="1143000" y="4160520"/>
            <a:ext cx="3429000" cy="548640"/>
          </a:xfrm>
          <a:prstGeom prst="rect">
            <a:avLst/>
          </a:prstGeom>
          <a:noFill/>
          <a:ln/>
        </p:spPr>
        <p:txBody>
          <a:bodyPr wrap="square" lIns="0" tIns="0" rIns="0" bIns="0" rtlCol="0" anchor="ctr"/>
          <a:lstStyle/>
          <a:p>
            <a:pPr indent="0" marL="0">
              <a:buNone/>
            </a:pPr>
            <a:r>
              <a:rPr lang="en-US" sz="950" i="1" dirty="0">
                <a:solidFill>
                  <a:srgbClr val="15314F"/>
                </a:solidFill>
                <a:latin typeface="Calibri" pitchFamily="34" charset="0"/>
                <a:ea typeface="Calibri" pitchFamily="34" charset="-122"/>
                <a:cs typeface="Calibri" pitchFamily="34" charset="-120"/>
              </a:rPr>
              <a:t>“We will measure outcomes after the program.”</a:t>
            </a:r>
            <a:endParaRPr lang="en-US" sz="950" dirty="0"/>
          </a:p>
        </p:txBody>
      </p:sp>
      <p:sp>
        <p:nvSpPr>
          <p:cNvPr id="36" name="Shape 33"/>
          <p:cNvSpPr/>
          <p:nvPr/>
        </p:nvSpPr>
        <p:spPr>
          <a:xfrm>
            <a:off x="4800600" y="4160520"/>
            <a:ext cx="4160520" cy="548640"/>
          </a:xfrm>
          <a:prstGeom prst="roundRect">
            <a:avLst>
              <a:gd name="adj" fmla="val 13333"/>
            </a:avLst>
          </a:prstGeom>
          <a:solidFill>
            <a:srgbClr val="F0F5F2"/>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37" name="Text 34"/>
          <p:cNvSpPr/>
          <p:nvPr/>
        </p:nvSpPr>
        <p:spPr>
          <a:xfrm>
            <a:off x="4937760" y="4160520"/>
            <a:ext cx="3931920" cy="548640"/>
          </a:xfrm>
          <a:prstGeom prst="rect">
            <a:avLst/>
          </a:prstGeom>
          <a:noFill/>
          <a:ln/>
        </p:spPr>
        <p:txBody>
          <a:bodyPr wrap="square" lIns="0" tIns="0" rIns="0" bIns="0" rtlCol="0" anchor="ctr"/>
          <a:lstStyle/>
          <a:p>
            <a:pPr indent="0" marL="0">
              <a:buNone/>
            </a:pPr>
            <a:r>
              <a:rPr lang="en-US" sz="950" dirty="0">
                <a:solidFill>
                  <a:srgbClr val="15314F"/>
                </a:solidFill>
                <a:latin typeface="Calibri" pitchFamily="34" charset="0"/>
                <a:ea typeface="Calibri" pitchFamily="34" charset="-122"/>
                <a:cs typeface="Calibri" pitchFamily="34" charset="-120"/>
              </a:rPr>
              <a:t>By end of Q4 2026, at least 65% of TI Camp participants are actively mentoring one person.</a:t>
            </a:r>
            <a:endParaRPr lang="en-US" sz="950" dirty="0"/>
          </a:p>
        </p:txBody>
      </p:sp>
      <p:sp>
        <p:nvSpPr>
          <p:cNvPr id="38" name="Shape 35"/>
          <p:cNvSpPr/>
          <p:nvPr/>
        </p:nvSpPr>
        <p:spPr>
          <a:xfrm>
            <a:off x="502920" y="4732020"/>
            <a:ext cx="8138160" cy="0"/>
          </a:xfrm>
          <a:prstGeom prst="line">
            <a:avLst/>
          </a:prstGeom>
          <a:noFill/>
          <a:ln w="9525">
            <a:solidFill>
              <a:srgbClr val="DCE6EE"/>
            </a:solidFill>
            <a:prstDash val="solid"/>
          </a:ln>
        </p:spPr>
      </p:sp>
      <p:sp>
        <p:nvSpPr>
          <p:cNvPr id="39" name="Text 36"/>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40" name="Text 37"/>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41" name="Text 38"/>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The assumption register</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Four types of assumptions, three risk levels</a:t>
            </a:r>
            <a:endParaRPr lang="en-US" sz="3000" dirty="0"/>
          </a:p>
        </p:txBody>
      </p:sp>
      <p:sp>
        <p:nvSpPr>
          <p:cNvPr id="5" name="Text 2"/>
          <p:cNvSpPr/>
          <p:nvPr/>
        </p:nvSpPr>
        <p:spPr>
          <a:xfrm>
            <a:off x="502920" y="1417320"/>
            <a:ext cx="8138160" cy="502920"/>
          </a:xfrm>
          <a:prstGeom prst="rect">
            <a:avLst/>
          </a:prstGeom>
          <a:noFill/>
          <a:ln/>
        </p:spPr>
        <p:txBody>
          <a:bodyPr wrap="square" lIns="0" tIns="0" rIns="0" bIns="0" rtlCol="0" anchor="ctr"/>
          <a:lstStyle/>
          <a:p>
            <a:pPr indent="0" marL="0">
              <a:buNone/>
            </a:pPr>
            <a:r>
              <a:rPr lang="en-US" sz="1250" i="1" dirty="0">
                <a:solidFill>
                  <a:srgbClr val="5A6F82"/>
                </a:solidFill>
                <a:latin typeface="Calibri" pitchFamily="34" charset="0"/>
                <a:ea typeface="Calibri" pitchFamily="34" charset="-122"/>
                <a:cs typeface="Calibri" pitchFamily="34" charset="-120"/>
              </a:rPr>
              <a:t>Every arrow in your pathway rests on an assumption. Catalog them by type, rate each by risk, and you've built a register — the early-warning system for your TOC.</a:t>
            </a:r>
            <a:endParaRPr lang="en-US" sz="1250" dirty="0"/>
          </a:p>
        </p:txBody>
      </p:sp>
      <p:sp>
        <p:nvSpPr>
          <p:cNvPr id="6" name="Shape 3"/>
          <p:cNvSpPr/>
          <p:nvPr/>
        </p:nvSpPr>
        <p:spPr>
          <a:xfrm>
            <a:off x="406908" y="2103120"/>
            <a:ext cx="1993392" cy="2331720"/>
          </a:xfrm>
          <a:prstGeom prst="roundRect">
            <a:avLst>
              <a:gd name="adj" fmla="val 367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7" name="Shape 4"/>
          <p:cNvSpPr/>
          <p:nvPr/>
        </p:nvSpPr>
        <p:spPr>
          <a:xfrm>
            <a:off x="406908" y="2103120"/>
            <a:ext cx="1993392" cy="54864"/>
          </a:xfrm>
          <a:prstGeom prst="rect">
            <a:avLst/>
          </a:prstGeom>
          <a:solidFill>
            <a:srgbClr val="5BA9D8"/>
          </a:solidFill>
          <a:ln w="12700">
            <a:solidFill>
              <a:srgbClr val="5BA9D8"/>
            </a:solidFill>
            <a:prstDash val="solid"/>
          </a:ln>
        </p:spPr>
      </p:sp>
      <p:sp>
        <p:nvSpPr>
          <p:cNvPr id="8" name="Text 5"/>
          <p:cNvSpPr/>
          <p:nvPr/>
        </p:nvSpPr>
        <p:spPr>
          <a:xfrm>
            <a:off x="544068" y="2240280"/>
            <a:ext cx="1719072" cy="320040"/>
          </a:xfrm>
          <a:prstGeom prst="rect">
            <a:avLst/>
          </a:prstGeom>
          <a:noFill/>
          <a:ln/>
        </p:spPr>
        <p:txBody>
          <a:bodyPr wrap="square" lIns="0" tIns="0" rIns="0" bIns="0" rtlCol="0" anchor="ctr"/>
          <a:lstStyle/>
          <a:p>
            <a:pPr indent="0" marL="0">
              <a:buNone/>
            </a:pPr>
            <a:r>
              <a:rPr lang="en-US" sz="1400" b="1" dirty="0">
                <a:solidFill>
                  <a:srgbClr val="15314F"/>
                </a:solidFill>
                <a:latin typeface="Calibri Light" pitchFamily="34" charset="0"/>
                <a:ea typeface="Calibri Light" pitchFamily="34" charset="-122"/>
                <a:cs typeface="Calibri Light" pitchFamily="34" charset="-120"/>
              </a:rPr>
              <a:t>Participant</a:t>
            </a:r>
            <a:endParaRPr lang="en-US" sz="1400" dirty="0"/>
          </a:p>
        </p:txBody>
      </p:sp>
      <p:sp>
        <p:nvSpPr>
          <p:cNvPr id="9" name="Text 6"/>
          <p:cNvSpPr/>
          <p:nvPr/>
        </p:nvSpPr>
        <p:spPr>
          <a:xfrm>
            <a:off x="544068" y="2606040"/>
            <a:ext cx="1719072" cy="640080"/>
          </a:xfrm>
          <a:prstGeom prst="rect">
            <a:avLst/>
          </a:prstGeom>
          <a:noFill/>
          <a:ln/>
        </p:spPr>
        <p:txBody>
          <a:bodyPr wrap="square" lIns="0" tIns="0" rIns="0" bIns="0" rtlCol="0" anchor="ctr"/>
          <a:lstStyle/>
          <a:p>
            <a:pPr indent="0" marL="0">
              <a:buNone/>
            </a:pPr>
            <a:r>
              <a:rPr lang="en-US" sz="1000" dirty="0">
                <a:solidFill>
                  <a:srgbClr val="5A6F82"/>
                </a:solidFill>
                <a:latin typeface="Calibri" pitchFamily="34" charset="0"/>
                <a:ea typeface="Calibri" pitchFamily="34" charset="-122"/>
                <a:cs typeface="Calibri" pitchFamily="34" charset="-120"/>
              </a:rPr>
              <a:t>Readiness, motivation, circumstance of the people you serve.</a:t>
            </a:r>
            <a:endParaRPr lang="en-US" sz="1000" dirty="0"/>
          </a:p>
        </p:txBody>
      </p:sp>
      <p:sp>
        <p:nvSpPr>
          <p:cNvPr id="10" name="Text 7"/>
          <p:cNvSpPr/>
          <p:nvPr/>
        </p:nvSpPr>
        <p:spPr>
          <a:xfrm>
            <a:off x="544068" y="3291840"/>
            <a:ext cx="1719072" cy="182880"/>
          </a:xfrm>
          <a:prstGeom prst="rect">
            <a:avLst/>
          </a:prstGeom>
          <a:noFill/>
          <a:ln/>
        </p:spPr>
        <p:txBody>
          <a:bodyPr wrap="square" lIns="0" tIns="0" rIns="0" bIns="0" rtlCol="0" anchor="ctr"/>
          <a:lstStyle/>
          <a:p>
            <a:pPr indent="0" marL="0">
              <a:buNone/>
            </a:pPr>
            <a:r>
              <a:rPr lang="en-US" sz="800" b="1" spc="200" kern="0" dirty="0">
                <a:solidFill>
                  <a:srgbClr val="5BA9D8"/>
                </a:solidFill>
                <a:latin typeface="Calibri" pitchFamily="34" charset="0"/>
                <a:ea typeface="Calibri" pitchFamily="34" charset="-122"/>
                <a:cs typeface="Calibri" pitchFamily="34" charset="-120"/>
              </a:rPr>
              <a:t>EXAMPLE</a:t>
            </a:r>
            <a:endParaRPr lang="en-US" sz="800" dirty="0"/>
          </a:p>
        </p:txBody>
      </p:sp>
      <p:sp>
        <p:nvSpPr>
          <p:cNvPr id="11" name="Text 8"/>
          <p:cNvSpPr/>
          <p:nvPr/>
        </p:nvSpPr>
        <p:spPr>
          <a:xfrm>
            <a:off x="544068" y="3474720"/>
            <a:ext cx="1719072" cy="502920"/>
          </a:xfrm>
          <a:prstGeom prst="rect">
            <a:avLst/>
          </a:prstGeom>
          <a:noFill/>
          <a:ln/>
        </p:spPr>
        <p:txBody>
          <a:bodyPr wrap="square" lIns="0" tIns="0" rIns="0" bIns="0" rtlCol="0" anchor="ctr"/>
          <a:lstStyle/>
          <a:p>
            <a:pPr indent="0" marL="0">
              <a:buNone/>
            </a:pPr>
            <a:r>
              <a:rPr lang="en-US" sz="1050" i="1" dirty="0">
                <a:solidFill>
                  <a:srgbClr val="15314F"/>
                </a:solidFill>
                <a:latin typeface="Calibri Light" pitchFamily="34" charset="0"/>
                <a:ea typeface="Calibri Light" pitchFamily="34" charset="-122"/>
                <a:cs typeface="Calibri Light" pitchFamily="34" charset="-120"/>
              </a:rPr>
              <a:t>Families allow overnight attendance.</a:t>
            </a:r>
            <a:endParaRPr lang="en-US" sz="1050" dirty="0"/>
          </a:p>
        </p:txBody>
      </p:sp>
      <p:sp>
        <p:nvSpPr>
          <p:cNvPr id="12" name="Shape 9"/>
          <p:cNvSpPr/>
          <p:nvPr/>
        </p:nvSpPr>
        <p:spPr>
          <a:xfrm>
            <a:off x="544068" y="4023360"/>
            <a:ext cx="1719072" cy="274320"/>
          </a:xfrm>
          <a:prstGeom prst="roundRect">
            <a:avLst>
              <a:gd name="adj" fmla="val 13333"/>
            </a:avLst>
          </a:prstGeom>
          <a:solidFill>
            <a:srgbClr val="D9534F"/>
          </a:solidFill>
          <a:ln w="12700">
            <a:solidFill>
              <a:srgbClr val="D9534F"/>
            </a:solidFill>
            <a:prstDash val="solid"/>
          </a:ln>
        </p:spPr>
      </p:sp>
      <p:sp>
        <p:nvSpPr>
          <p:cNvPr id="13" name="Text 10"/>
          <p:cNvSpPr/>
          <p:nvPr/>
        </p:nvSpPr>
        <p:spPr>
          <a:xfrm>
            <a:off x="544068" y="4023360"/>
            <a:ext cx="1719072" cy="274320"/>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RISK  ·  HIGH</a:t>
            </a:r>
            <a:endParaRPr lang="en-US" sz="950" dirty="0"/>
          </a:p>
        </p:txBody>
      </p:sp>
      <p:sp>
        <p:nvSpPr>
          <p:cNvPr id="14" name="Shape 11"/>
          <p:cNvSpPr/>
          <p:nvPr/>
        </p:nvSpPr>
        <p:spPr>
          <a:xfrm>
            <a:off x="2519172" y="2103120"/>
            <a:ext cx="1993392" cy="2331720"/>
          </a:xfrm>
          <a:prstGeom prst="roundRect">
            <a:avLst>
              <a:gd name="adj" fmla="val 367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5" name="Shape 12"/>
          <p:cNvSpPr/>
          <p:nvPr/>
        </p:nvSpPr>
        <p:spPr>
          <a:xfrm>
            <a:off x="2519172" y="2103120"/>
            <a:ext cx="1993392" cy="54864"/>
          </a:xfrm>
          <a:prstGeom prst="rect">
            <a:avLst/>
          </a:prstGeom>
          <a:solidFill>
            <a:srgbClr val="5BA9D8"/>
          </a:solidFill>
          <a:ln w="12700">
            <a:solidFill>
              <a:srgbClr val="5BA9D8"/>
            </a:solidFill>
            <a:prstDash val="solid"/>
          </a:ln>
        </p:spPr>
      </p:sp>
      <p:sp>
        <p:nvSpPr>
          <p:cNvPr id="16" name="Text 13"/>
          <p:cNvSpPr/>
          <p:nvPr/>
        </p:nvSpPr>
        <p:spPr>
          <a:xfrm>
            <a:off x="2656332" y="2240280"/>
            <a:ext cx="1719072" cy="320040"/>
          </a:xfrm>
          <a:prstGeom prst="rect">
            <a:avLst/>
          </a:prstGeom>
          <a:noFill/>
          <a:ln/>
        </p:spPr>
        <p:txBody>
          <a:bodyPr wrap="square" lIns="0" tIns="0" rIns="0" bIns="0" rtlCol="0" anchor="ctr"/>
          <a:lstStyle/>
          <a:p>
            <a:pPr indent="0" marL="0">
              <a:buNone/>
            </a:pPr>
            <a:r>
              <a:rPr lang="en-US" sz="1400" b="1" dirty="0">
                <a:solidFill>
                  <a:srgbClr val="15314F"/>
                </a:solidFill>
                <a:latin typeface="Calibri Light" pitchFamily="34" charset="0"/>
                <a:ea typeface="Calibri Light" pitchFamily="34" charset="-122"/>
                <a:cs typeface="Calibri Light" pitchFamily="34" charset="-120"/>
              </a:rPr>
              <a:t>Environmental</a:t>
            </a:r>
            <a:endParaRPr lang="en-US" sz="1400" dirty="0"/>
          </a:p>
        </p:txBody>
      </p:sp>
      <p:sp>
        <p:nvSpPr>
          <p:cNvPr id="17" name="Text 14"/>
          <p:cNvSpPr/>
          <p:nvPr/>
        </p:nvSpPr>
        <p:spPr>
          <a:xfrm>
            <a:off x="2656332" y="2606040"/>
            <a:ext cx="1719072" cy="640080"/>
          </a:xfrm>
          <a:prstGeom prst="rect">
            <a:avLst/>
          </a:prstGeom>
          <a:noFill/>
          <a:ln/>
        </p:spPr>
        <p:txBody>
          <a:bodyPr wrap="square" lIns="0" tIns="0" rIns="0" bIns="0" rtlCol="0" anchor="ctr"/>
          <a:lstStyle/>
          <a:p>
            <a:pPr indent="0" marL="0">
              <a:buNone/>
            </a:pPr>
            <a:r>
              <a:rPr lang="en-US" sz="1000" dirty="0">
                <a:solidFill>
                  <a:srgbClr val="5A6F82"/>
                </a:solidFill>
                <a:latin typeface="Calibri" pitchFamily="34" charset="0"/>
                <a:ea typeface="Calibri" pitchFamily="34" charset="-122"/>
                <a:cs typeface="Calibri" pitchFamily="34" charset="-120"/>
              </a:rPr>
              <a:t>External conditions — partners, facilities, climate, context.</a:t>
            </a:r>
            <a:endParaRPr lang="en-US" sz="1000" dirty="0"/>
          </a:p>
        </p:txBody>
      </p:sp>
      <p:sp>
        <p:nvSpPr>
          <p:cNvPr id="18" name="Text 15"/>
          <p:cNvSpPr/>
          <p:nvPr/>
        </p:nvSpPr>
        <p:spPr>
          <a:xfrm>
            <a:off x="2656332" y="3291840"/>
            <a:ext cx="1719072" cy="182880"/>
          </a:xfrm>
          <a:prstGeom prst="rect">
            <a:avLst/>
          </a:prstGeom>
          <a:noFill/>
          <a:ln/>
        </p:spPr>
        <p:txBody>
          <a:bodyPr wrap="square" lIns="0" tIns="0" rIns="0" bIns="0" rtlCol="0" anchor="ctr"/>
          <a:lstStyle/>
          <a:p>
            <a:pPr indent="0" marL="0">
              <a:buNone/>
            </a:pPr>
            <a:r>
              <a:rPr lang="en-US" sz="800" b="1" spc="200" kern="0" dirty="0">
                <a:solidFill>
                  <a:srgbClr val="5BA9D8"/>
                </a:solidFill>
                <a:latin typeface="Calibri" pitchFamily="34" charset="0"/>
                <a:ea typeface="Calibri" pitchFamily="34" charset="-122"/>
                <a:cs typeface="Calibri" pitchFamily="34" charset="-120"/>
              </a:rPr>
              <a:t>EXAMPLE</a:t>
            </a:r>
            <a:endParaRPr lang="en-US" sz="800" dirty="0"/>
          </a:p>
        </p:txBody>
      </p:sp>
      <p:sp>
        <p:nvSpPr>
          <p:cNvPr id="19" name="Text 16"/>
          <p:cNvSpPr/>
          <p:nvPr/>
        </p:nvSpPr>
        <p:spPr>
          <a:xfrm>
            <a:off x="2656332" y="3474720"/>
            <a:ext cx="1719072" cy="502920"/>
          </a:xfrm>
          <a:prstGeom prst="rect">
            <a:avLst/>
          </a:prstGeom>
          <a:noFill/>
          <a:ln/>
        </p:spPr>
        <p:txBody>
          <a:bodyPr wrap="square" lIns="0" tIns="0" rIns="0" bIns="0" rtlCol="0" anchor="ctr"/>
          <a:lstStyle/>
          <a:p>
            <a:pPr indent="0" marL="0">
              <a:buNone/>
            </a:pPr>
            <a:r>
              <a:rPr lang="en-US" sz="1050" i="1" dirty="0">
                <a:solidFill>
                  <a:srgbClr val="15314F"/>
                </a:solidFill>
                <a:latin typeface="Calibri Light" pitchFamily="34" charset="0"/>
                <a:ea typeface="Calibri Light" pitchFamily="34" charset="-122"/>
                <a:cs typeface="Calibri Light" pitchFamily="34" charset="-120"/>
              </a:rPr>
              <a:t>Masjid facilities remain accessible.</a:t>
            </a:r>
            <a:endParaRPr lang="en-US" sz="1050" dirty="0"/>
          </a:p>
        </p:txBody>
      </p:sp>
      <p:sp>
        <p:nvSpPr>
          <p:cNvPr id="20" name="Shape 17"/>
          <p:cNvSpPr/>
          <p:nvPr/>
        </p:nvSpPr>
        <p:spPr>
          <a:xfrm>
            <a:off x="2656332" y="4023360"/>
            <a:ext cx="1719072" cy="274320"/>
          </a:xfrm>
          <a:prstGeom prst="roundRect">
            <a:avLst>
              <a:gd name="adj" fmla="val 13333"/>
            </a:avLst>
          </a:prstGeom>
          <a:solidFill>
            <a:srgbClr val="D9534F"/>
          </a:solidFill>
          <a:ln w="12700">
            <a:solidFill>
              <a:srgbClr val="D9534F"/>
            </a:solidFill>
            <a:prstDash val="solid"/>
          </a:ln>
        </p:spPr>
      </p:sp>
      <p:sp>
        <p:nvSpPr>
          <p:cNvPr id="21" name="Text 18"/>
          <p:cNvSpPr/>
          <p:nvPr/>
        </p:nvSpPr>
        <p:spPr>
          <a:xfrm>
            <a:off x="2656332" y="4023360"/>
            <a:ext cx="1719072" cy="274320"/>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RISK  ·  MED-HIGH</a:t>
            </a:r>
            <a:endParaRPr lang="en-US" sz="950" dirty="0"/>
          </a:p>
        </p:txBody>
      </p:sp>
      <p:sp>
        <p:nvSpPr>
          <p:cNvPr id="22" name="Shape 19"/>
          <p:cNvSpPr/>
          <p:nvPr/>
        </p:nvSpPr>
        <p:spPr>
          <a:xfrm>
            <a:off x="4631436" y="2103120"/>
            <a:ext cx="1993392" cy="2331720"/>
          </a:xfrm>
          <a:prstGeom prst="roundRect">
            <a:avLst>
              <a:gd name="adj" fmla="val 367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23" name="Shape 20"/>
          <p:cNvSpPr/>
          <p:nvPr/>
        </p:nvSpPr>
        <p:spPr>
          <a:xfrm>
            <a:off x="4631436" y="2103120"/>
            <a:ext cx="1993392" cy="54864"/>
          </a:xfrm>
          <a:prstGeom prst="rect">
            <a:avLst/>
          </a:prstGeom>
          <a:solidFill>
            <a:srgbClr val="5BA9D8"/>
          </a:solidFill>
          <a:ln w="12700">
            <a:solidFill>
              <a:srgbClr val="5BA9D8"/>
            </a:solidFill>
            <a:prstDash val="solid"/>
          </a:ln>
        </p:spPr>
      </p:sp>
      <p:sp>
        <p:nvSpPr>
          <p:cNvPr id="24" name="Text 21"/>
          <p:cNvSpPr/>
          <p:nvPr/>
        </p:nvSpPr>
        <p:spPr>
          <a:xfrm>
            <a:off x="4768596" y="2240280"/>
            <a:ext cx="1719072" cy="320040"/>
          </a:xfrm>
          <a:prstGeom prst="rect">
            <a:avLst/>
          </a:prstGeom>
          <a:noFill/>
          <a:ln/>
        </p:spPr>
        <p:txBody>
          <a:bodyPr wrap="square" lIns="0" tIns="0" rIns="0" bIns="0" rtlCol="0" anchor="ctr"/>
          <a:lstStyle/>
          <a:p>
            <a:pPr indent="0" marL="0">
              <a:buNone/>
            </a:pPr>
            <a:r>
              <a:rPr lang="en-US" sz="1400" b="1" dirty="0">
                <a:solidFill>
                  <a:srgbClr val="15314F"/>
                </a:solidFill>
                <a:latin typeface="Calibri Light" pitchFamily="34" charset="0"/>
                <a:ea typeface="Calibri Light" pitchFamily="34" charset="-122"/>
                <a:cs typeface="Calibri Light" pitchFamily="34" charset="-120"/>
              </a:rPr>
              <a:t>Organizational</a:t>
            </a:r>
            <a:endParaRPr lang="en-US" sz="1400" dirty="0"/>
          </a:p>
        </p:txBody>
      </p:sp>
      <p:sp>
        <p:nvSpPr>
          <p:cNvPr id="25" name="Text 22"/>
          <p:cNvSpPr/>
          <p:nvPr/>
        </p:nvSpPr>
        <p:spPr>
          <a:xfrm>
            <a:off x="4768596" y="2606040"/>
            <a:ext cx="1719072" cy="640080"/>
          </a:xfrm>
          <a:prstGeom prst="rect">
            <a:avLst/>
          </a:prstGeom>
          <a:noFill/>
          <a:ln/>
        </p:spPr>
        <p:txBody>
          <a:bodyPr wrap="square" lIns="0" tIns="0" rIns="0" bIns="0" rtlCol="0" anchor="ctr"/>
          <a:lstStyle/>
          <a:p>
            <a:pPr indent="0" marL="0">
              <a:buNone/>
            </a:pPr>
            <a:r>
              <a:rPr lang="en-US" sz="1000" dirty="0">
                <a:solidFill>
                  <a:srgbClr val="5A6F82"/>
                </a:solidFill>
                <a:latin typeface="Calibri" pitchFamily="34" charset="0"/>
                <a:ea typeface="Calibri" pitchFamily="34" charset="-122"/>
                <a:cs typeface="Calibri" pitchFamily="34" charset="-120"/>
              </a:rPr>
              <a:t>MASGLA's own capacity — staff, volunteers, coordination.</a:t>
            </a:r>
            <a:endParaRPr lang="en-US" sz="1000" dirty="0"/>
          </a:p>
        </p:txBody>
      </p:sp>
      <p:sp>
        <p:nvSpPr>
          <p:cNvPr id="26" name="Text 23"/>
          <p:cNvSpPr/>
          <p:nvPr/>
        </p:nvSpPr>
        <p:spPr>
          <a:xfrm>
            <a:off x="4768596" y="3291840"/>
            <a:ext cx="1719072" cy="182880"/>
          </a:xfrm>
          <a:prstGeom prst="rect">
            <a:avLst/>
          </a:prstGeom>
          <a:noFill/>
          <a:ln/>
        </p:spPr>
        <p:txBody>
          <a:bodyPr wrap="square" lIns="0" tIns="0" rIns="0" bIns="0" rtlCol="0" anchor="ctr"/>
          <a:lstStyle/>
          <a:p>
            <a:pPr indent="0" marL="0">
              <a:buNone/>
            </a:pPr>
            <a:r>
              <a:rPr lang="en-US" sz="800" b="1" spc="200" kern="0" dirty="0">
                <a:solidFill>
                  <a:srgbClr val="5BA9D8"/>
                </a:solidFill>
                <a:latin typeface="Calibri" pitchFamily="34" charset="0"/>
                <a:ea typeface="Calibri" pitchFamily="34" charset="-122"/>
                <a:cs typeface="Calibri" pitchFamily="34" charset="-120"/>
              </a:rPr>
              <a:t>EXAMPLE</a:t>
            </a:r>
            <a:endParaRPr lang="en-US" sz="800" dirty="0"/>
          </a:p>
        </p:txBody>
      </p:sp>
      <p:sp>
        <p:nvSpPr>
          <p:cNvPr id="27" name="Text 24"/>
          <p:cNvSpPr/>
          <p:nvPr/>
        </p:nvSpPr>
        <p:spPr>
          <a:xfrm>
            <a:off x="4768596" y="3474720"/>
            <a:ext cx="1719072" cy="502920"/>
          </a:xfrm>
          <a:prstGeom prst="rect">
            <a:avLst/>
          </a:prstGeom>
          <a:noFill/>
          <a:ln/>
        </p:spPr>
        <p:txBody>
          <a:bodyPr wrap="square" lIns="0" tIns="0" rIns="0" bIns="0" rtlCol="0" anchor="ctr"/>
          <a:lstStyle/>
          <a:p>
            <a:pPr indent="0" marL="0">
              <a:buNone/>
            </a:pPr>
            <a:r>
              <a:rPr lang="en-US" sz="1050" i="1" dirty="0">
                <a:solidFill>
                  <a:srgbClr val="15314F"/>
                </a:solidFill>
                <a:latin typeface="Calibri Light" pitchFamily="34" charset="0"/>
                <a:ea typeface="Calibri Light" pitchFamily="34" charset="-122"/>
                <a:cs typeface="Calibri Light" pitchFamily="34" charset="-120"/>
              </a:rPr>
              <a:t>Trained naqeebs are consistently available.</a:t>
            </a:r>
            <a:endParaRPr lang="en-US" sz="1050" dirty="0"/>
          </a:p>
        </p:txBody>
      </p:sp>
      <p:sp>
        <p:nvSpPr>
          <p:cNvPr id="28" name="Shape 25"/>
          <p:cNvSpPr/>
          <p:nvPr/>
        </p:nvSpPr>
        <p:spPr>
          <a:xfrm>
            <a:off x="4768596" y="4023360"/>
            <a:ext cx="1719072" cy="274320"/>
          </a:xfrm>
          <a:prstGeom prst="roundRect">
            <a:avLst>
              <a:gd name="adj" fmla="val 13333"/>
            </a:avLst>
          </a:prstGeom>
          <a:solidFill>
            <a:srgbClr val="E0A93C"/>
          </a:solidFill>
          <a:ln w="12700">
            <a:solidFill>
              <a:srgbClr val="E0A93C"/>
            </a:solidFill>
            <a:prstDash val="solid"/>
          </a:ln>
        </p:spPr>
      </p:sp>
      <p:sp>
        <p:nvSpPr>
          <p:cNvPr id="29" name="Text 26"/>
          <p:cNvSpPr/>
          <p:nvPr/>
        </p:nvSpPr>
        <p:spPr>
          <a:xfrm>
            <a:off x="4768596" y="4023360"/>
            <a:ext cx="1719072" cy="274320"/>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RISK  ·  MEDIUM</a:t>
            </a:r>
            <a:endParaRPr lang="en-US" sz="950" dirty="0"/>
          </a:p>
        </p:txBody>
      </p:sp>
      <p:sp>
        <p:nvSpPr>
          <p:cNvPr id="30" name="Shape 27"/>
          <p:cNvSpPr/>
          <p:nvPr/>
        </p:nvSpPr>
        <p:spPr>
          <a:xfrm>
            <a:off x="6743700" y="2103120"/>
            <a:ext cx="1993392" cy="2331720"/>
          </a:xfrm>
          <a:prstGeom prst="roundRect">
            <a:avLst>
              <a:gd name="adj" fmla="val 367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31" name="Shape 28"/>
          <p:cNvSpPr/>
          <p:nvPr/>
        </p:nvSpPr>
        <p:spPr>
          <a:xfrm>
            <a:off x="6743700" y="2103120"/>
            <a:ext cx="1993392" cy="54864"/>
          </a:xfrm>
          <a:prstGeom prst="rect">
            <a:avLst/>
          </a:prstGeom>
          <a:solidFill>
            <a:srgbClr val="5BA9D8"/>
          </a:solidFill>
          <a:ln w="12700">
            <a:solidFill>
              <a:srgbClr val="5BA9D8"/>
            </a:solidFill>
            <a:prstDash val="solid"/>
          </a:ln>
        </p:spPr>
      </p:sp>
      <p:sp>
        <p:nvSpPr>
          <p:cNvPr id="32" name="Text 29"/>
          <p:cNvSpPr/>
          <p:nvPr/>
        </p:nvSpPr>
        <p:spPr>
          <a:xfrm>
            <a:off x="6880860" y="2240280"/>
            <a:ext cx="1719072" cy="320040"/>
          </a:xfrm>
          <a:prstGeom prst="rect">
            <a:avLst/>
          </a:prstGeom>
          <a:noFill/>
          <a:ln/>
        </p:spPr>
        <p:txBody>
          <a:bodyPr wrap="square" lIns="0" tIns="0" rIns="0" bIns="0" rtlCol="0" anchor="ctr"/>
          <a:lstStyle/>
          <a:p>
            <a:pPr indent="0" marL="0">
              <a:buNone/>
            </a:pPr>
            <a:r>
              <a:rPr lang="en-US" sz="1400" b="1" dirty="0">
                <a:solidFill>
                  <a:srgbClr val="15314F"/>
                </a:solidFill>
                <a:latin typeface="Calibri Light" pitchFamily="34" charset="0"/>
                <a:ea typeface="Calibri Light" pitchFamily="34" charset="-122"/>
                <a:cs typeface="Calibri Light" pitchFamily="34" charset="-120"/>
              </a:rPr>
              <a:t>Causal</a:t>
            </a:r>
            <a:endParaRPr lang="en-US" sz="1400" dirty="0"/>
          </a:p>
        </p:txBody>
      </p:sp>
      <p:sp>
        <p:nvSpPr>
          <p:cNvPr id="33" name="Text 30"/>
          <p:cNvSpPr/>
          <p:nvPr/>
        </p:nvSpPr>
        <p:spPr>
          <a:xfrm>
            <a:off x="6880860" y="2606040"/>
            <a:ext cx="1719072" cy="640080"/>
          </a:xfrm>
          <a:prstGeom prst="rect">
            <a:avLst/>
          </a:prstGeom>
          <a:noFill/>
          <a:ln/>
        </p:spPr>
        <p:txBody>
          <a:bodyPr wrap="square" lIns="0" tIns="0" rIns="0" bIns="0" rtlCol="0" anchor="ctr"/>
          <a:lstStyle/>
          <a:p>
            <a:pPr indent="0" marL="0">
              <a:buNone/>
            </a:pPr>
            <a:r>
              <a:rPr lang="en-US" sz="1000" dirty="0">
                <a:solidFill>
                  <a:srgbClr val="5A6F82"/>
                </a:solidFill>
                <a:latin typeface="Calibri" pitchFamily="34" charset="0"/>
                <a:ea typeface="Calibri" pitchFamily="34" charset="-122"/>
                <a:cs typeface="Calibri" pitchFamily="34" charset="-120"/>
              </a:rPr>
              <a:t>Whether the causal claim itself is actually valid.</a:t>
            </a:r>
            <a:endParaRPr lang="en-US" sz="1000" dirty="0"/>
          </a:p>
        </p:txBody>
      </p:sp>
      <p:sp>
        <p:nvSpPr>
          <p:cNvPr id="34" name="Text 31"/>
          <p:cNvSpPr/>
          <p:nvPr/>
        </p:nvSpPr>
        <p:spPr>
          <a:xfrm>
            <a:off x="6880860" y="3291840"/>
            <a:ext cx="1719072" cy="182880"/>
          </a:xfrm>
          <a:prstGeom prst="rect">
            <a:avLst/>
          </a:prstGeom>
          <a:noFill/>
          <a:ln/>
        </p:spPr>
        <p:txBody>
          <a:bodyPr wrap="square" lIns="0" tIns="0" rIns="0" bIns="0" rtlCol="0" anchor="ctr"/>
          <a:lstStyle/>
          <a:p>
            <a:pPr indent="0" marL="0">
              <a:buNone/>
            </a:pPr>
            <a:r>
              <a:rPr lang="en-US" sz="800" b="1" spc="200" kern="0" dirty="0">
                <a:solidFill>
                  <a:srgbClr val="5BA9D8"/>
                </a:solidFill>
                <a:latin typeface="Calibri" pitchFamily="34" charset="0"/>
                <a:ea typeface="Calibri" pitchFamily="34" charset="-122"/>
                <a:cs typeface="Calibri" pitchFamily="34" charset="-120"/>
              </a:rPr>
              <a:t>EXAMPLE</a:t>
            </a:r>
            <a:endParaRPr lang="en-US" sz="800" dirty="0"/>
          </a:p>
        </p:txBody>
      </p:sp>
      <p:sp>
        <p:nvSpPr>
          <p:cNvPr id="35" name="Text 32"/>
          <p:cNvSpPr/>
          <p:nvPr/>
        </p:nvSpPr>
        <p:spPr>
          <a:xfrm>
            <a:off x="6880860" y="3474720"/>
            <a:ext cx="1719072" cy="502920"/>
          </a:xfrm>
          <a:prstGeom prst="rect">
            <a:avLst/>
          </a:prstGeom>
          <a:noFill/>
          <a:ln/>
        </p:spPr>
        <p:txBody>
          <a:bodyPr wrap="square" lIns="0" tIns="0" rIns="0" bIns="0" rtlCol="0" anchor="ctr"/>
          <a:lstStyle/>
          <a:p>
            <a:pPr indent="0" marL="0">
              <a:buNone/>
            </a:pPr>
            <a:r>
              <a:rPr lang="en-US" sz="1050" i="1" dirty="0">
                <a:solidFill>
                  <a:srgbClr val="15314F"/>
                </a:solidFill>
                <a:latin typeface="Calibri Light" pitchFamily="34" charset="0"/>
                <a:ea typeface="Calibri Light" pitchFamily="34" charset="-122"/>
                <a:cs typeface="Calibri Light" pitchFamily="34" charset="-120"/>
              </a:rPr>
              <a:t>Halal BJJ transfers to emotional maturity off the mat.</a:t>
            </a:r>
            <a:endParaRPr lang="en-US" sz="1050" dirty="0"/>
          </a:p>
        </p:txBody>
      </p:sp>
      <p:sp>
        <p:nvSpPr>
          <p:cNvPr id="36" name="Shape 33"/>
          <p:cNvSpPr/>
          <p:nvPr/>
        </p:nvSpPr>
        <p:spPr>
          <a:xfrm>
            <a:off x="6880860" y="4023360"/>
            <a:ext cx="1719072" cy="274320"/>
          </a:xfrm>
          <a:prstGeom prst="roundRect">
            <a:avLst>
              <a:gd name="adj" fmla="val 13333"/>
            </a:avLst>
          </a:prstGeom>
          <a:solidFill>
            <a:srgbClr val="E0A93C"/>
          </a:solidFill>
          <a:ln w="12700">
            <a:solidFill>
              <a:srgbClr val="E0A93C"/>
            </a:solidFill>
            <a:prstDash val="solid"/>
          </a:ln>
        </p:spPr>
      </p:sp>
      <p:sp>
        <p:nvSpPr>
          <p:cNvPr id="37" name="Text 34"/>
          <p:cNvSpPr/>
          <p:nvPr/>
        </p:nvSpPr>
        <p:spPr>
          <a:xfrm>
            <a:off x="6880860" y="4023360"/>
            <a:ext cx="1719072" cy="274320"/>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RISK  ·  MEDIUM</a:t>
            </a:r>
            <a:endParaRPr lang="en-US" sz="950" dirty="0"/>
          </a:p>
        </p:txBody>
      </p:sp>
      <p:sp>
        <p:nvSpPr>
          <p:cNvPr id="38" name="Shape 35"/>
          <p:cNvSpPr/>
          <p:nvPr/>
        </p:nvSpPr>
        <p:spPr>
          <a:xfrm>
            <a:off x="502920" y="4732020"/>
            <a:ext cx="8138160" cy="0"/>
          </a:xfrm>
          <a:prstGeom prst="line">
            <a:avLst/>
          </a:prstGeom>
          <a:noFill/>
          <a:ln w="9525">
            <a:solidFill>
              <a:srgbClr val="DCE6EE"/>
            </a:solidFill>
            <a:prstDash val="solid"/>
          </a:ln>
        </p:spPr>
      </p:sp>
      <p:sp>
        <p:nvSpPr>
          <p:cNvPr id="39" name="Text 36"/>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40" name="Text 37"/>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41" name="Text 38"/>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Keep / modify / cancel</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The four-step protocol when the data flags a problem</a:t>
            </a:r>
            <a:endParaRPr lang="en-US" sz="3000" dirty="0"/>
          </a:p>
        </p:txBody>
      </p:sp>
      <p:sp>
        <p:nvSpPr>
          <p:cNvPr id="5" name="Shape 2"/>
          <p:cNvSpPr/>
          <p:nvPr/>
        </p:nvSpPr>
        <p:spPr>
          <a:xfrm>
            <a:off x="484632" y="1691640"/>
            <a:ext cx="1920240" cy="2468880"/>
          </a:xfrm>
          <a:prstGeom prst="roundRect">
            <a:avLst>
              <a:gd name="adj" fmla="val 381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6" name="Shape 3"/>
          <p:cNvSpPr/>
          <p:nvPr/>
        </p:nvSpPr>
        <p:spPr>
          <a:xfrm>
            <a:off x="1197864" y="1892808"/>
            <a:ext cx="493776" cy="493776"/>
          </a:xfrm>
          <a:prstGeom prst="ellipse">
            <a:avLst/>
          </a:prstGeom>
          <a:solidFill>
            <a:srgbClr val="15314F"/>
          </a:solidFill>
          <a:ln w="12700">
            <a:solidFill>
              <a:srgbClr val="15314F"/>
            </a:solidFill>
            <a:prstDash val="solid"/>
          </a:ln>
        </p:spPr>
      </p:sp>
      <p:sp>
        <p:nvSpPr>
          <p:cNvPr id="7" name="Text 4"/>
          <p:cNvSpPr/>
          <p:nvPr/>
        </p:nvSpPr>
        <p:spPr>
          <a:xfrm>
            <a:off x="1197864" y="1892808"/>
            <a:ext cx="493776" cy="493776"/>
          </a:xfrm>
          <a:prstGeom prst="rect">
            <a:avLst/>
          </a:prstGeom>
          <a:noFill/>
          <a:ln/>
        </p:spPr>
        <p:txBody>
          <a:bodyPr wrap="square" lIns="0" tIns="0" rIns="0" bIns="0" rtlCol="0" anchor="ctr"/>
          <a:lstStyle/>
          <a:p>
            <a:pPr algn="ctr" indent="0" marL="0">
              <a:buNone/>
            </a:pPr>
            <a:r>
              <a:rPr lang="en-US" sz="2200" b="1" dirty="0">
                <a:solidFill>
                  <a:srgbClr val="5BA9D8"/>
                </a:solidFill>
                <a:latin typeface="Calibri Light" pitchFamily="34" charset="0"/>
                <a:ea typeface="Calibri Light" pitchFamily="34" charset="-122"/>
                <a:cs typeface="Calibri Light" pitchFamily="34" charset="-120"/>
              </a:rPr>
              <a:t>1</a:t>
            </a:r>
            <a:endParaRPr lang="en-US" sz="2200" dirty="0"/>
          </a:p>
        </p:txBody>
      </p:sp>
      <p:sp>
        <p:nvSpPr>
          <p:cNvPr id="8" name="Text 5"/>
          <p:cNvSpPr/>
          <p:nvPr/>
        </p:nvSpPr>
        <p:spPr>
          <a:xfrm>
            <a:off x="621792" y="2496312"/>
            <a:ext cx="1645920" cy="320040"/>
          </a:xfrm>
          <a:prstGeom prst="rect">
            <a:avLst/>
          </a:prstGeom>
          <a:noFill/>
          <a:ln/>
        </p:spPr>
        <p:txBody>
          <a:bodyPr wrap="square" lIns="0" tIns="0" rIns="0" bIns="0" rtlCol="0" anchor="ctr"/>
          <a:lstStyle/>
          <a:p>
            <a:pPr algn="ctr" indent="0" marL="0">
              <a:buNone/>
            </a:pPr>
            <a:r>
              <a:rPr lang="en-US" sz="1300" b="1" spc="300" kern="0" dirty="0">
                <a:solidFill>
                  <a:srgbClr val="15314F"/>
                </a:solidFill>
                <a:latin typeface="Calibri" pitchFamily="34" charset="0"/>
                <a:ea typeface="Calibri" pitchFamily="34" charset="-122"/>
                <a:cs typeface="Calibri" pitchFamily="34" charset="-120"/>
              </a:rPr>
              <a:t>FLAG</a:t>
            </a:r>
            <a:endParaRPr lang="en-US" sz="1300" dirty="0"/>
          </a:p>
        </p:txBody>
      </p:sp>
      <p:sp>
        <p:nvSpPr>
          <p:cNvPr id="9" name="Shape 6"/>
          <p:cNvSpPr/>
          <p:nvPr/>
        </p:nvSpPr>
        <p:spPr>
          <a:xfrm>
            <a:off x="941832" y="2880360"/>
            <a:ext cx="1005840" cy="0"/>
          </a:xfrm>
          <a:prstGeom prst="line">
            <a:avLst/>
          </a:prstGeom>
          <a:noFill/>
          <a:ln w="9525">
            <a:solidFill>
              <a:srgbClr val="5BA9D8"/>
            </a:solidFill>
            <a:prstDash val="solid"/>
          </a:ln>
        </p:spPr>
      </p:sp>
      <p:sp>
        <p:nvSpPr>
          <p:cNvPr id="10" name="Text 7"/>
          <p:cNvSpPr/>
          <p:nvPr/>
        </p:nvSpPr>
        <p:spPr>
          <a:xfrm>
            <a:off x="649224" y="2971800"/>
            <a:ext cx="1591056" cy="1097280"/>
          </a:xfrm>
          <a:prstGeom prst="rect">
            <a:avLst/>
          </a:prstGeom>
          <a:noFill/>
          <a:ln/>
        </p:spPr>
        <p:txBody>
          <a:bodyPr wrap="square" lIns="0" tIns="0" rIns="0" bIns="0" rtlCol="0" anchor="t"/>
          <a:lstStyle/>
          <a:p>
            <a:pPr algn="l" indent="0" marL="0">
              <a:buNone/>
            </a:pPr>
            <a:r>
              <a:rPr lang="en-US" sz="1000" dirty="0">
                <a:solidFill>
                  <a:srgbClr val="15314F"/>
                </a:solidFill>
                <a:latin typeface="Calibri" pitchFamily="34" charset="0"/>
                <a:ea typeface="Calibri" pitchFamily="34" charset="-122"/>
                <a:cs typeface="Calibri" pitchFamily="34" charset="-120"/>
              </a:rPr>
              <a:t>When an indicator persistently misses target, or a key assumption changes — flag it 'Under Review.' Don't wait for annual planning.</a:t>
            </a:r>
            <a:endParaRPr lang="en-US" sz="1000" dirty="0"/>
          </a:p>
        </p:txBody>
      </p:sp>
      <p:sp>
        <p:nvSpPr>
          <p:cNvPr id="11" name="Shape 8"/>
          <p:cNvSpPr/>
          <p:nvPr/>
        </p:nvSpPr>
        <p:spPr>
          <a:xfrm>
            <a:off x="2569464" y="1691640"/>
            <a:ext cx="1920240" cy="2468880"/>
          </a:xfrm>
          <a:prstGeom prst="roundRect">
            <a:avLst>
              <a:gd name="adj" fmla="val 381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2" name="Shape 9"/>
          <p:cNvSpPr/>
          <p:nvPr/>
        </p:nvSpPr>
        <p:spPr>
          <a:xfrm>
            <a:off x="3282696" y="1892808"/>
            <a:ext cx="493776" cy="493776"/>
          </a:xfrm>
          <a:prstGeom prst="ellipse">
            <a:avLst/>
          </a:prstGeom>
          <a:solidFill>
            <a:srgbClr val="15314F"/>
          </a:solidFill>
          <a:ln w="12700">
            <a:solidFill>
              <a:srgbClr val="15314F"/>
            </a:solidFill>
            <a:prstDash val="solid"/>
          </a:ln>
        </p:spPr>
      </p:sp>
      <p:sp>
        <p:nvSpPr>
          <p:cNvPr id="13" name="Text 10"/>
          <p:cNvSpPr/>
          <p:nvPr/>
        </p:nvSpPr>
        <p:spPr>
          <a:xfrm>
            <a:off x="3282696" y="1892808"/>
            <a:ext cx="493776" cy="493776"/>
          </a:xfrm>
          <a:prstGeom prst="rect">
            <a:avLst/>
          </a:prstGeom>
          <a:noFill/>
          <a:ln/>
        </p:spPr>
        <p:txBody>
          <a:bodyPr wrap="square" lIns="0" tIns="0" rIns="0" bIns="0" rtlCol="0" anchor="ctr"/>
          <a:lstStyle/>
          <a:p>
            <a:pPr algn="ctr" indent="0" marL="0">
              <a:buNone/>
            </a:pPr>
            <a:r>
              <a:rPr lang="en-US" sz="2200" b="1" dirty="0">
                <a:solidFill>
                  <a:srgbClr val="5BA9D8"/>
                </a:solidFill>
                <a:latin typeface="Calibri Light" pitchFamily="34" charset="0"/>
                <a:ea typeface="Calibri Light" pitchFamily="34" charset="-122"/>
                <a:cs typeface="Calibri Light" pitchFamily="34" charset="-120"/>
              </a:rPr>
              <a:t>2</a:t>
            </a:r>
            <a:endParaRPr lang="en-US" sz="2200" dirty="0"/>
          </a:p>
        </p:txBody>
      </p:sp>
      <p:sp>
        <p:nvSpPr>
          <p:cNvPr id="14" name="Text 11"/>
          <p:cNvSpPr/>
          <p:nvPr/>
        </p:nvSpPr>
        <p:spPr>
          <a:xfrm>
            <a:off x="2706624" y="2496312"/>
            <a:ext cx="1645920" cy="320040"/>
          </a:xfrm>
          <a:prstGeom prst="rect">
            <a:avLst/>
          </a:prstGeom>
          <a:noFill/>
          <a:ln/>
        </p:spPr>
        <p:txBody>
          <a:bodyPr wrap="square" lIns="0" tIns="0" rIns="0" bIns="0" rtlCol="0" anchor="ctr"/>
          <a:lstStyle/>
          <a:p>
            <a:pPr algn="ctr" indent="0" marL="0">
              <a:buNone/>
            </a:pPr>
            <a:r>
              <a:rPr lang="en-US" sz="1300" b="1" spc="300" kern="0" dirty="0">
                <a:solidFill>
                  <a:srgbClr val="15314F"/>
                </a:solidFill>
                <a:latin typeface="Calibri" pitchFamily="34" charset="0"/>
                <a:ea typeface="Calibri" pitchFamily="34" charset="-122"/>
                <a:cs typeface="Calibri" pitchFamily="34" charset="-120"/>
              </a:rPr>
              <a:t>DIAGNOSE</a:t>
            </a:r>
            <a:endParaRPr lang="en-US" sz="1300" dirty="0"/>
          </a:p>
        </p:txBody>
      </p:sp>
      <p:sp>
        <p:nvSpPr>
          <p:cNvPr id="15" name="Shape 12"/>
          <p:cNvSpPr/>
          <p:nvPr/>
        </p:nvSpPr>
        <p:spPr>
          <a:xfrm>
            <a:off x="3026664" y="2880360"/>
            <a:ext cx="1005840" cy="0"/>
          </a:xfrm>
          <a:prstGeom prst="line">
            <a:avLst/>
          </a:prstGeom>
          <a:noFill/>
          <a:ln w="9525">
            <a:solidFill>
              <a:srgbClr val="5BA9D8"/>
            </a:solidFill>
            <a:prstDash val="solid"/>
          </a:ln>
        </p:spPr>
      </p:sp>
      <p:sp>
        <p:nvSpPr>
          <p:cNvPr id="16" name="Text 13"/>
          <p:cNvSpPr/>
          <p:nvPr/>
        </p:nvSpPr>
        <p:spPr>
          <a:xfrm>
            <a:off x="2734056" y="2971800"/>
            <a:ext cx="1591056" cy="1097280"/>
          </a:xfrm>
          <a:prstGeom prst="rect">
            <a:avLst/>
          </a:prstGeom>
          <a:noFill/>
          <a:ln/>
        </p:spPr>
        <p:txBody>
          <a:bodyPr wrap="square" lIns="0" tIns="0" rIns="0" bIns="0" rtlCol="0" anchor="t"/>
          <a:lstStyle/>
          <a:p>
            <a:pPr algn="l" indent="0" marL="0">
              <a:buNone/>
            </a:pPr>
            <a:r>
              <a:rPr lang="en-US" sz="1000" dirty="0">
                <a:solidFill>
                  <a:srgbClr val="15314F"/>
                </a:solidFill>
                <a:latin typeface="Calibri" pitchFamily="34" charset="0"/>
                <a:ea typeface="Calibri" pitchFamily="34" charset="-122"/>
                <a:cs typeface="Calibri" pitchFamily="34" charset="-120"/>
              </a:rPr>
              <a:t>Two questions. (1) Is the assumption itself invalid? (2) Or was the implementation inadequate? Don't conflate the two.</a:t>
            </a:r>
            <a:endParaRPr lang="en-US" sz="1000" dirty="0"/>
          </a:p>
        </p:txBody>
      </p:sp>
      <p:sp>
        <p:nvSpPr>
          <p:cNvPr id="17" name="Shape 14"/>
          <p:cNvSpPr/>
          <p:nvPr/>
        </p:nvSpPr>
        <p:spPr>
          <a:xfrm>
            <a:off x="4654296" y="1691640"/>
            <a:ext cx="1920240" cy="2468880"/>
          </a:xfrm>
          <a:prstGeom prst="roundRect">
            <a:avLst>
              <a:gd name="adj" fmla="val 381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8" name="Shape 15"/>
          <p:cNvSpPr/>
          <p:nvPr/>
        </p:nvSpPr>
        <p:spPr>
          <a:xfrm>
            <a:off x="5367528" y="1892808"/>
            <a:ext cx="493776" cy="493776"/>
          </a:xfrm>
          <a:prstGeom prst="ellipse">
            <a:avLst/>
          </a:prstGeom>
          <a:solidFill>
            <a:srgbClr val="15314F"/>
          </a:solidFill>
          <a:ln w="12700">
            <a:solidFill>
              <a:srgbClr val="15314F"/>
            </a:solidFill>
            <a:prstDash val="solid"/>
          </a:ln>
        </p:spPr>
      </p:sp>
      <p:sp>
        <p:nvSpPr>
          <p:cNvPr id="19" name="Text 16"/>
          <p:cNvSpPr/>
          <p:nvPr/>
        </p:nvSpPr>
        <p:spPr>
          <a:xfrm>
            <a:off x="5367528" y="1892808"/>
            <a:ext cx="493776" cy="493776"/>
          </a:xfrm>
          <a:prstGeom prst="rect">
            <a:avLst/>
          </a:prstGeom>
          <a:noFill/>
          <a:ln/>
        </p:spPr>
        <p:txBody>
          <a:bodyPr wrap="square" lIns="0" tIns="0" rIns="0" bIns="0" rtlCol="0" anchor="ctr"/>
          <a:lstStyle/>
          <a:p>
            <a:pPr algn="ctr" indent="0" marL="0">
              <a:buNone/>
            </a:pPr>
            <a:r>
              <a:rPr lang="en-US" sz="2200" b="1" dirty="0">
                <a:solidFill>
                  <a:srgbClr val="5BA9D8"/>
                </a:solidFill>
                <a:latin typeface="Calibri Light" pitchFamily="34" charset="0"/>
                <a:ea typeface="Calibri Light" pitchFamily="34" charset="-122"/>
                <a:cs typeface="Calibri Light" pitchFamily="34" charset="-120"/>
              </a:rPr>
              <a:t>3</a:t>
            </a:r>
            <a:endParaRPr lang="en-US" sz="2200" dirty="0"/>
          </a:p>
        </p:txBody>
      </p:sp>
      <p:sp>
        <p:nvSpPr>
          <p:cNvPr id="20" name="Text 17"/>
          <p:cNvSpPr/>
          <p:nvPr/>
        </p:nvSpPr>
        <p:spPr>
          <a:xfrm>
            <a:off x="4791456" y="2496312"/>
            <a:ext cx="1645920" cy="320040"/>
          </a:xfrm>
          <a:prstGeom prst="rect">
            <a:avLst/>
          </a:prstGeom>
          <a:noFill/>
          <a:ln/>
        </p:spPr>
        <p:txBody>
          <a:bodyPr wrap="square" lIns="0" tIns="0" rIns="0" bIns="0" rtlCol="0" anchor="ctr"/>
          <a:lstStyle/>
          <a:p>
            <a:pPr algn="ctr" indent="0" marL="0">
              <a:buNone/>
            </a:pPr>
            <a:r>
              <a:rPr lang="en-US" sz="1300" b="1" spc="300" kern="0" dirty="0">
                <a:solidFill>
                  <a:srgbClr val="15314F"/>
                </a:solidFill>
                <a:latin typeface="Calibri" pitchFamily="34" charset="0"/>
                <a:ea typeface="Calibri" pitchFamily="34" charset="-122"/>
                <a:cs typeface="Calibri" pitchFamily="34" charset="-120"/>
              </a:rPr>
              <a:t>DECIDE</a:t>
            </a:r>
            <a:endParaRPr lang="en-US" sz="1300" dirty="0"/>
          </a:p>
        </p:txBody>
      </p:sp>
      <p:sp>
        <p:nvSpPr>
          <p:cNvPr id="21" name="Shape 18"/>
          <p:cNvSpPr/>
          <p:nvPr/>
        </p:nvSpPr>
        <p:spPr>
          <a:xfrm>
            <a:off x="5111496" y="2880360"/>
            <a:ext cx="1005840" cy="0"/>
          </a:xfrm>
          <a:prstGeom prst="line">
            <a:avLst/>
          </a:prstGeom>
          <a:noFill/>
          <a:ln w="9525">
            <a:solidFill>
              <a:srgbClr val="5BA9D8"/>
            </a:solidFill>
            <a:prstDash val="solid"/>
          </a:ln>
        </p:spPr>
      </p:sp>
      <p:sp>
        <p:nvSpPr>
          <p:cNvPr id="22" name="Text 19"/>
          <p:cNvSpPr/>
          <p:nvPr/>
        </p:nvSpPr>
        <p:spPr>
          <a:xfrm>
            <a:off x="4818888" y="2971800"/>
            <a:ext cx="1591056" cy="1097280"/>
          </a:xfrm>
          <a:prstGeom prst="rect">
            <a:avLst/>
          </a:prstGeom>
          <a:noFill/>
          <a:ln/>
        </p:spPr>
        <p:txBody>
          <a:bodyPr wrap="square" lIns="0" tIns="0" rIns="0" bIns="0" rtlCol="0" anchor="t"/>
          <a:lstStyle/>
          <a:p>
            <a:pPr algn="l" indent="0" marL="0">
              <a:buNone/>
            </a:pPr>
            <a:r>
              <a:rPr lang="en-US" sz="1000" dirty="0">
                <a:solidFill>
                  <a:srgbClr val="15314F"/>
                </a:solidFill>
                <a:latin typeface="Calibri" pitchFamily="34" charset="0"/>
                <a:ea typeface="Calibri" pitchFamily="34" charset="-122"/>
                <a:cs typeface="Calibri" pitchFamily="34" charset="-120"/>
              </a:rPr>
              <a:t>Keep — assumption valid, fix implementation. Modify — revise Q-Zero / logframe. Cancel — causal logic is fundamentally flawed.</a:t>
            </a:r>
            <a:endParaRPr lang="en-US" sz="1000" dirty="0"/>
          </a:p>
        </p:txBody>
      </p:sp>
      <p:sp>
        <p:nvSpPr>
          <p:cNvPr id="23" name="Shape 20"/>
          <p:cNvSpPr/>
          <p:nvPr/>
        </p:nvSpPr>
        <p:spPr>
          <a:xfrm>
            <a:off x="6739128" y="1691640"/>
            <a:ext cx="1920240" cy="2468880"/>
          </a:xfrm>
          <a:prstGeom prst="roundRect">
            <a:avLst>
              <a:gd name="adj" fmla="val 381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24" name="Shape 21"/>
          <p:cNvSpPr/>
          <p:nvPr/>
        </p:nvSpPr>
        <p:spPr>
          <a:xfrm>
            <a:off x="7452360" y="1892808"/>
            <a:ext cx="493776" cy="493776"/>
          </a:xfrm>
          <a:prstGeom prst="ellipse">
            <a:avLst/>
          </a:prstGeom>
          <a:solidFill>
            <a:srgbClr val="15314F"/>
          </a:solidFill>
          <a:ln w="12700">
            <a:solidFill>
              <a:srgbClr val="15314F"/>
            </a:solidFill>
            <a:prstDash val="solid"/>
          </a:ln>
        </p:spPr>
      </p:sp>
      <p:sp>
        <p:nvSpPr>
          <p:cNvPr id="25" name="Text 22"/>
          <p:cNvSpPr/>
          <p:nvPr/>
        </p:nvSpPr>
        <p:spPr>
          <a:xfrm>
            <a:off x="7452360" y="1892808"/>
            <a:ext cx="493776" cy="493776"/>
          </a:xfrm>
          <a:prstGeom prst="rect">
            <a:avLst/>
          </a:prstGeom>
          <a:noFill/>
          <a:ln/>
        </p:spPr>
        <p:txBody>
          <a:bodyPr wrap="square" lIns="0" tIns="0" rIns="0" bIns="0" rtlCol="0" anchor="ctr"/>
          <a:lstStyle/>
          <a:p>
            <a:pPr algn="ctr" indent="0" marL="0">
              <a:buNone/>
            </a:pPr>
            <a:r>
              <a:rPr lang="en-US" sz="2200" b="1" dirty="0">
                <a:solidFill>
                  <a:srgbClr val="5BA9D8"/>
                </a:solidFill>
                <a:latin typeface="Calibri Light" pitchFamily="34" charset="0"/>
                <a:ea typeface="Calibri Light" pitchFamily="34" charset="-122"/>
                <a:cs typeface="Calibri Light" pitchFamily="34" charset="-120"/>
              </a:rPr>
              <a:t>4</a:t>
            </a:r>
            <a:endParaRPr lang="en-US" sz="2200" dirty="0"/>
          </a:p>
        </p:txBody>
      </p:sp>
      <p:sp>
        <p:nvSpPr>
          <p:cNvPr id="26" name="Text 23"/>
          <p:cNvSpPr/>
          <p:nvPr/>
        </p:nvSpPr>
        <p:spPr>
          <a:xfrm>
            <a:off x="6876288" y="2496312"/>
            <a:ext cx="1645920" cy="320040"/>
          </a:xfrm>
          <a:prstGeom prst="rect">
            <a:avLst/>
          </a:prstGeom>
          <a:noFill/>
          <a:ln/>
        </p:spPr>
        <p:txBody>
          <a:bodyPr wrap="square" lIns="0" tIns="0" rIns="0" bIns="0" rtlCol="0" anchor="ctr"/>
          <a:lstStyle/>
          <a:p>
            <a:pPr algn="ctr" indent="0" marL="0">
              <a:buNone/>
            </a:pPr>
            <a:r>
              <a:rPr lang="en-US" sz="1300" b="1" spc="300" kern="0" dirty="0">
                <a:solidFill>
                  <a:srgbClr val="15314F"/>
                </a:solidFill>
                <a:latin typeface="Calibri" pitchFamily="34" charset="0"/>
                <a:ea typeface="Calibri" pitchFamily="34" charset="-122"/>
                <a:cs typeface="Calibri" pitchFamily="34" charset="-120"/>
              </a:rPr>
              <a:t>DOCUMENT</a:t>
            </a:r>
            <a:endParaRPr lang="en-US" sz="1300" dirty="0"/>
          </a:p>
        </p:txBody>
      </p:sp>
      <p:sp>
        <p:nvSpPr>
          <p:cNvPr id="27" name="Shape 24"/>
          <p:cNvSpPr/>
          <p:nvPr/>
        </p:nvSpPr>
        <p:spPr>
          <a:xfrm>
            <a:off x="7196328" y="2880360"/>
            <a:ext cx="1005840" cy="0"/>
          </a:xfrm>
          <a:prstGeom prst="line">
            <a:avLst/>
          </a:prstGeom>
          <a:noFill/>
          <a:ln w="9525">
            <a:solidFill>
              <a:srgbClr val="5BA9D8"/>
            </a:solidFill>
            <a:prstDash val="solid"/>
          </a:ln>
        </p:spPr>
      </p:sp>
      <p:sp>
        <p:nvSpPr>
          <p:cNvPr id="28" name="Text 25"/>
          <p:cNvSpPr/>
          <p:nvPr/>
        </p:nvSpPr>
        <p:spPr>
          <a:xfrm>
            <a:off x="6903720" y="2971800"/>
            <a:ext cx="1591056" cy="1097280"/>
          </a:xfrm>
          <a:prstGeom prst="rect">
            <a:avLst/>
          </a:prstGeom>
          <a:noFill/>
          <a:ln/>
        </p:spPr>
        <p:txBody>
          <a:bodyPr wrap="square" lIns="0" tIns="0" rIns="0" bIns="0" rtlCol="0" anchor="t"/>
          <a:lstStyle/>
          <a:p>
            <a:pPr algn="l" indent="0" marL="0">
              <a:buNone/>
            </a:pPr>
            <a:r>
              <a:rPr lang="en-US" sz="1000" dirty="0">
                <a:solidFill>
                  <a:srgbClr val="15314F"/>
                </a:solidFill>
                <a:latin typeface="Calibri" pitchFamily="34" charset="0"/>
                <a:ea typeface="Calibri" pitchFamily="34" charset="-122"/>
                <a:cs typeface="Calibri" pitchFamily="34" charset="-120"/>
              </a:rPr>
              <a:t>Record the decision, the evidence, and the new TOC version. This is the organizational learning trail funders look for.</a:t>
            </a:r>
            <a:endParaRPr lang="en-US" sz="1000" dirty="0"/>
          </a:p>
        </p:txBody>
      </p:sp>
      <p:sp>
        <p:nvSpPr>
          <p:cNvPr id="29" name="Text 26"/>
          <p:cNvSpPr/>
          <p:nvPr/>
        </p:nvSpPr>
        <p:spPr>
          <a:xfrm>
            <a:off x="2386584" y="2761488"/>
            <a:ext cx="201168" cy="320040"/>
          </a:xfrm>
          <a:prstGeom prst="rect">
            <a:avLst/>
          </a:prstGeom>
          <a:noFill/>
          <a:ln/>
        </p:spPr>
        <p:txBody>
          <a:bodyPr wrap="square" lIns="0" tIns="0" rIns="0" bIns="0" rtlCol="0" anchor="ctr"/>
          <a:lstStyle/>
          <a:p>
            <a:pPr algn="ctr" indent="0" marL="0">
              <a:buNone/>
            </a:pPr>
            <a:r>
              <a:rPr lang="en-US" sz="1800" b="1" dirty="0">
                <a:solidFill>
                  <a:srgbClr val="5BA9D8"/>
                </a:solidFill>
                <a:latin typeface="Calibri" pitchFamily="34" charset="0"/>
                <a:ea typeface="Calibri" pitchFamily="34" charset="-122"/>
                <a:cs typeface="Calibri" pitchFamily="34" charset="-120"/>
              </a:rPr>
              <a:t>→</a:t>
            </a:r>
            <a:endParaRPr lang="en-US" sz="1800" dirty="0"/>
          </a:p>
        </p:txBody>
      </p:sp>
      <p:sp>
        <p:nvSpPr>
          <p:cNvPr id="30" name="Text 27"/>
          <p:cNvSpPr/>
          <p:nvPr/>
        </p:nvSpPr>
        <p:spPr>
          <a:xfrm>
            <a:off x="4471416" y="2761488"/>
            <a:ext cx="201168" cy="320040"/>
          </a:xfrm>
          <a:prstGeom prst="rect">
            <a:avLst/>
          </a:prstGeom>
          <a:noFill/>
          <a:ln/>
        </p:spPr>
        <p:txBody>
          <a:bodyPr wrap="square" lIns="0" tIns="0" rIns="0" bIns="0" rtlCol="0" anchor="ctr"/>
          <a:lstStyle/>
          <a:p>
            <a:pPr algn="ctr" indent="0" marL="0">
              <a:buNone/>
            </a:pPr>
            <a:r>
              <a:rPr lang="en-US" sz="1800" b="1" dirty="0">
                <a:solidFill>
                  <a:srgbClr val="5BA9D8"/>
                </a:solidFill>
                <a:latin typeface="Calibri" pitchFamily="34" charset="0"/>
                <a:ea typeface="Calibri" pitchFamily="34" charset="-122"/>
                <a:cs typeface="Calibri" pitchFamily="34" charset="-120"/>
              </a:rPr>
              <a:t>→</a:t>
            </a:r>
            <a:endParaRPr lang="en-US" sz="1800" dirty="0"/>
          </a:p>
        </p:txBody>
      </p:sp>
      <p:sp>
        <p:nvSpPr>
          <p:cNvPr id="31" name="Text 28"/>
          <p:cNvSpPr/>
          <p:nvPr/>
        </p:nvSpPr>
        <p:spPr>
          <a:xfrm>
            <a:off x="6556248" y="2761488"/>
            <a:ext cx="201168" cy="320040"/>
          </a:xfrm>
          <a:prstGeom prst="rect">
            <a:avLst/>
          </a:prstGeom>
          <a:noFill/>
          <a:ln/>
        </p:spPr>
        <p:txBody>
          <a:bodyPr wrap="square" lIns="0" tIns="0" rIns="0" bIns="0" rtlCol="0" anchor="ctr"/>
          <a:lstStyle/>
          <a:p>
            <a:pPr algn="ctr" indent="0" marL="0">
              <a:buNone/>
            </a:pPr>
            <a:r>
              <a:rPr lang="en-US" sz="1800" b="1" dirty="0">
                <a:solidFill>
                  <a:srgbClr val="5BA9D8"/>
                </a:solidFill>
                <a:latin typeface="Calibri" pitchFamily="34" charset="0"/>
                <a:ea typeface="Calibri" pitchFamily="34" charset="-122"/>
                <a:cs typeface="Calibri" pitchFamily="34" charset="-120"/>
              </a:rPr>
              <a:t>→</a:t>
            </a:r>
            <a:endParaRPr lang="en-US" sz="1800" dirty="0"/>
          </a:p>
        </p:txBody>
      </p:sp>
      <p:sp>
        <p:nvSpPr>
          <p:cNvPr id="32" name="Shape 29"/>
          <p:cNvSpPr/>
          <p:nvPr/>
        </p:nvSpPr>
        <p:spPr>
          <a:xfrm>
            <a:off x="502920" y="4732020"/>
            <a:ext cx="8138160" cy="0"/>
          </a:xfrm>
          <a:prstGeom prst="line">
            <a:avLst/>
          </a:prstGeom>
          <a:noFill/>
          <a:ln w="9525">
            <a:solidFill>
              <a:srgbClr val="DCE6EE"/>
            </a:solidFill>
            <a:prstDash val="solid"/>
          </a:ln>
        </p:spPr>
      </p:sp>
      <p:sp>
        <p:nvSpPr>
          <p:cNvPr id="33" name="Text 30"/>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34" name="Text 31"/>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35" name="Text 32"/>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The TOC review cycle</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Your theory of change is a living document — review it on a schedule</a:t>
            </a:r>
            <a:endParaRPr lang="en-US" sz="3000" dirty="0"/>
          </a:p>
        </p:txBody>
      </p:sp>
      <p:sp>
        <p:nvSpPr>
          <p:cNvPr id="5" name="Shape 2"/>
          <p:cNvSpPr/>
          <p:nvPr/>
        </p:nvSpPr>
        <p:spPr>
          <a:xfrm>
            <a:off x="502920" y="1554480"/>
            <a:ext cx="8138160" cy="960120"/>
          </a:xfrm>
          <a:prstGeom prst="roundRect">
            <a:avLst>
              <a:gd name="adj" fmla="val 7619"/>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6" name="Shape 3"/>
          <p:cNvSpPr/>
          <p:nvPr/>
        </p:nvSpPr>
        <p:spPr>
          <a:xfrm>
            <a:off x="685800" y="1755648"/>
            <a:ext cx="1234440" cy="411480"/>
          </a:xfrm>
          <a:prstGeom prst="roundRect">
            <a:avLst>
              <a:gd name="adj" fmla="val 11111"/>
            </a:avLst>
          </a:prstGeom>
          <a:solidFill>
            <a:srgbClr val="15314F"/>
          </a:solidFill>
          <a:ln w="12700">
            <a:solidFill>
              <a:srgbClr val="15314F"/>
            </a:solidFill>
            <a:prstDash val="solid"/>
          </a:ln>
        </p:spPr>
      </p:sp>
      <p:sp>
        <p:nvSpPr>
          <p:cNvPr id="7" name="Text 4"/>
          <p:cNvSpPr/>
          <p:nvPr/>
        </p:nvSpPr>
        <p:spPr>
          <a:xfrm>
            <a:off x="685800" y="1755648"/>
            <a:ext cx="1234440" cy="411480"/>
          </a:xfrm>
          <a:prstGeom prst="rect">
            <a:avLst/>
          </a:prstGeom>
          <a:noFill/>
          <a:ln/>
        </p:spPr>
        <p:txBody>
          <a:bodyPr wrap="square" lIns="0" tIns="0" rIns="0" bIns="0" rtlCol="0" anchor="ctr"/>
          <a:lstStyle/>
          <a:p>
            <a:pPr algn="ctr" indent="0" marL="0">
              <a:buNone/>
            </a:pPr>
            <a:r>
              <a:rPr lang="en-US" sz="1100" b="1" spc="300" kern="0" dirty="0">
                <a:solidFill>
                  <a:srgbClr val="5BA9D8"/>
                </a:solidFill>
                <a:latin typeface="Calibri" pitchFamily="34" charset="0"/>
                <a:ea typeface="Calibri" pitchFamily="34" charset="-122"/>
                <a:cs typeface="Calibri" pitchFamily="34" charset="-120"/>
              </a:rPr>
              <a:t>MONTHLY</a:t>
            </a:r>
            <a:endParaRPr lang="en-US" sz="1100" dirty="0"/>
          </a:p>
        </p:txBody>
      </p:sp>
      <p:sp>
        <p:nvSpPr>
          <p:cNvPr id="8" name="Text 5"/>
          <p:cNvSpPr/>
          <p:nvPr/>
        </p:nvSpPr>
        <p:spPr>
          <a:xfrm>
            <a:off x="2103120" y="1691640"/>
            <a:ext cx="548640" cy="182880"/>
          </a:xfrm>
          <a:prstGeom prst="rect">
            <a:avLst/>
          </a:prstGeom>
          <a:noFill/>
          <a:ln/>
        </p:spPr>
        <p:txBody>
          <a:bodyPr wrap="square" lIns="0" tIns="0" rIns="0" bIns="0" rtlCol="0" anchor="ctr"/>
          <a:lstStyle/>
          <a:p>
            <a:pPr indent="0" marL="0">
              <a:buNone/>
            </a:pPr>
            <a:r>
              <a:rPr lang="en-US" sz="800" b="1" spc="200" kern="0" dirty="0">
                <a:solidFill>
                  <a:srgbClr val="5BA9D8"/>
                </a:solidFill>
                <a:latin typeface="Calibri" pitchFamily="34" charset="0"/>
                <a:ea typeface="Calibri" pitchFamily="34" charset="-122"/>
                <a:cs typeface="Calibri" pitchFamily="34" charset="-120"/>
              </a:rPr>
              <a:t>WHO</a:t>
            </a:r>
            <a:endParaRPr lang="en-US" sz="800" dirty="0"/>
          </a:p>
        </p:txBody>
      </p:sp>
      <p:sp>
        <p:nvSpPr>
          <p:cNvPr id="9" name="Text 6"/>
          <p:cNvSpPr/>
          <p:nvPr/>
        </p:nvSpPr>
        <p:spPr>
          <a:xfrm>
            <a:off x="2103120" y="1847088"/>
            <a:ext cx="2423160" cy="548640"/>
          </a:xfrm>
          <a:prstGeom prst="rect">
            <a:avLst/>
          </a:prstGeom>
          <a:noFill/>
          <a:ln/>
        </p:spPr>
        <p:txBody>
          <a:bodyPr wrap="square" lIns="0" tIns="0" rIns="0" bIns="0" rtlCol="0" anchor="ctr"/>
          <a:lstStyle/>
          <a:p>
            <a:pPr indent="0" marL="0">
              <a:buNone/>
            </a:pPr>
            <a:r>
              <a:rPr lang="en-US" sz="1050" b="1" dirty="0">
                <a:solidFill>
                  <a:srgbClr val="15314F"/>
                </a:solidFill>
                <a:latin typeface="Calibri" pitchFamily="34" charset="0"/>
                <a:ea typeface="Calibri" pitchFamily="34" charset="-122"/>
                <a:cs typeface="Calibri" pitchFamily="34" charset="-120"/>
              </a:rPr>
              <a:t>Program leads + Department coordinators</a:t>
            </a:r>
            <a:endParaRPr lang="en-US" sz="1050" dirty="0"/>
          </a:p>
        </p:txBody>
      </p:sp>
      <p:sp>
        <p:nvSpPr>
          <p:cNvPr id="10" name="Text 7"/>
          <p:cNvSpPr/>
          <p:nvPr/>
        </p:nvSpPr>
        <p:spPr>
          <a:xfrm>
            <a:off x="4663440" y="1691640"/>
            <a:ext cx="1371600" cy="182880"/>
          </a:xfrm>
          <a:prstGeom prst="rect">
            <a:avLst/>
          </a:prstGeom>
          <a:noFill/>
          <a:ln/>
        </p:spPr>
        <p:txBody>
          <a:bodyPr wrap="square" lIns="0" tIns="0" rIns="0" bIns="0" rtlCol="0" anchor="ctr"/>
          <a:lstStyle/>
          <a:p>
            <a:pPr indent="0" marL="0">
              <a:buNone/>
            </a:pPr>
            <a:r>
              <a:rPr lang="en-US" sz="800" b="1" spc="200" kern="0" dirty="0">
                <a:solidFill>
                  <a:srgbClr val="5BA9D8"/>
                </a:solidFill>
                <a:latin typeface="Calibri" pitchFamily="34" charset="0"/>
                <a:ea typeface="Calibri" pitchFamily="34" charset="-122"/>
                <a:cs typeface="Calibri" pitchFamily="34" charset="-120"/>
              </a:rPr>
              <a:t>WHAT'S REVIEWED</a:t>
            </a:r>
            <a:endParaRPr lang="en-US" sz="800" dirty="0"/>
          </a:p>
        </p:txBody>
      </p:sp>
      <p:sp>
        <p:nvSpPr>
          <p:cNvPr id="11" name="Text 8"/>
          <p:cNvSpPr/>
          <p:nvPr/>
        </p:nvSpPr>
        <p:spPr>
          <a:xfrm>
            <a:off x="4663440" y="1847088"/>
            <a:ext cx="3840480" cy="640080"/>
          </a:xfrm>
          <a:prstGeom prst="rect">
            <a:avLst/>
          </a:prstGeom>
          <a:noFill/>
          <a:ln/>
        </p:spPr>
        <p:txBody>
          <a:bodyPr wrap="square" lIns="0" tIns="0" rIns="0" bIns="0" rtlCol="0" anchor="ctr"/>
          <a:lstStyle/>
          <a:p>
            <a:pPr indent="0" marL="0">
              <a:buNone/>
            </a:pPr>
            <a:r>
              <a:rPr lang="en-US" sz="1000" dirty="0">
                <a:solidFill>
                  <a:srgbClr val="15314F"/>
                </a:solidFill>
                <a:latin typeface="Calibri" pitchFamily="34" charset="0"/>
                <a:ea typeface="Calibri" pitchFamily="34" charset="-122"/>
                <a:cs typeface="Calibri" pitchFamily="34" charset="-120"/>
              </a:rPr>
              <a:t>Output data from program reports. Attendance figures. Flag programs below target. Note known shifts in key assumptions.</a:t>
            </a:r>
            <a:endParaRPr lang="en-US" sz="1000" dirty="0"/>
          </a:p>
        </p:txBody>
      </p:sp>
      <p:sp>
        <p:nvSpPr>
          <p:cNvPr id="12" name="Shape 9"/>
          <p:cNvSpPr/>
          <p:nvPr/>
        </p:nvSpPr>
        <p:spPr>
          <a:xfrm>
            <a:off x="502920" y="2606040"/>
            <a:ext cx="8138160" cy="960120"/>
          </a:xfrm>
          <a:prstGeom prst="roundRect">
            <a:avLst>
              <a:gd name="adj" fmla="val 7619"/>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3" name="Shape 10"/>
          <p:cNvSpPr/>
          <p:nvPr/>
        </p:nvSpPr>
        <p:spPr>
          <a:xfrm>
            <a:off x="685800" y="2807208"/>
            <a:ext cx="1234440" cy="411480"/>
          </a:xfrm>
          <a:prstGeom prst="roundRect">
            <a:avLst>
              <a:gd name="adj" fmla="val 11111"/>
            </a:avLst>
          </a:prstGeom>
          <a:solidFill>
            <a:srgbClr val="15314F"/>
          </a:solidFill>
          <a:ln w="12700">
            <a:solidFill>
              <a:srgbClr val="15314F"/>
            </a:solidFill>
            <a:prstDash val="solid"/>
          </a:ln>
        </p:spPr>
      </p:sp>
      <p:sp>
        <p:nvSpPr>
          <p:cNvPr id="14" name="Text 11"/>
          <p:cNvSpPr/>
          <p:nvPr/>
        </p:nvSpPr>
        <p:spPr>
          <a:xfrm>
            <a:off x="685800" y="2807208"/>
            <a:ext cx="1234440" cy="411480"/>
          </a:xfrm>
          <a:prstGeom prst="rect">
            <a:avLst/>
          </a:prstGeom>
          <a:noFill/>
          <a:ln/>
        </p:spPr>
        <p:txBody>
          <a:bodyPr wrap="square" lIns="0" tIns="0" rIns="0" bIns="0" rtlCol="0" anchor="ctr"/>
          <a:lstStyle/>
          <a:p>
            <a:pPr algn="ctr" indent="0" marL="0">
              <a:buNone/>
            </a:pPr>
            <a:r>
              <a:rPr lang="en-US" sz="1100" b="1" spc="300" kern="0" dirty="0">
                <a:solidFill>
                  <a:srgbClr val="5BA9D8"/>
                </a:solidFill>
                <a:latin typeface="Calibri" pitchFamily="34" charset="0"/>
                <a:ea typeface="Calibri" pitchFamily="34" charset="-122"/>
                <a:cs typeface="Calibri" pitchFamily="34" charset="-120"/>
              </a:rPr>
              <a:t>QUARTERLY</a:t>
            </a:r>
            <a:endParaRPr lang="en-US" sz="1100" dirty="0"/>
          </a:p>
        </p:txBody>
      </p:sp>
      <p:sp>
        <p:nvSpPr>
          <p:cNvPr id="15" name="Text 12"/>
          <p:cNvSpPr/>
          <p:nvPr/>
        </p:nvSpPr>
        <p:spPr>
          <a:xfrm>
            <a:off x="2103120" y="2743200"/>
            <a:ext cx="548640" cy="182880"/>
          </a:xfrm>
          <a:prstGeom prst="rect">
            <a:avLst/>
          </a:prstGeom>
          <a:noFill/>
          <a:ln/>
        </p:spPr>
        <p:txBody>
          <a:bodyPr wrap="square" lIns="0" tIns="0" rIns="0" bIns="0" rtlCol="0" anchor="ctr"/>
          <a:lstStyle/>
          <a:p>
            <a:pPr indent="0" marL="0">
              <a:buNone/>
            </a:pPr>
            <a:r>
              <a:rPr lang="en-US" sz="800" b="1" spc="200" kern="0" dirty="0">
                <a:solidFill>
                  <a:srgbClr val="5BA9D8"/>
                </a:solidFill>
                <a:latin typeface="Calibri" pitchFamily="34" charset="0"/>
                <a:ea typeface="Calibri" pitchFamily="34" charset="-122"/>
                <a:cs typeface="Calibri" pitchFamily="34" charset="-120"/>
              </a:rPr>
              <a:t>WHO</a:t>
            </a:r>
            <a:endParaRPr lang="en-US" sz="800" dirty="0"/>
          </a:p>
        </p:txBody>
      </p:sp>
      <p:sp>
        <p:nvSpPr>
          <p:cNvPr id="16" name="Text 13"/>
          <p:cNvSpPr/>
          <p:nvPr/>
        </p:nvSpPr>
        <p:spPr>
          <a:xfrm>
            <a:off x="2103120" y="2898648"/>
            <a:ext cx="2423160" cy="548640"/>
          </a:xfrm>
          <a:prstGeom prst="rect">
            <a:avLst/>
          </a:prstGeom>
          <a:noFill/>
          <a:ln/>
        </p:spPr>
        <p:txBody>
          <a:bodyPr wrap="square" lIns="0" tIns="0" rIns="0" bIns="0" rtlCol="0" anchor="ctr"/>
          <a:lstStyle/>
          <a:p>
            <a:pPr indent="0" marL="0">
              <a:buNone/>
            </a:pPr>
            <a:r>
              <a:rPr lang="en-US" sz="1050" b="1" dirty="0">
                <a:solidFill>
                  <a:srgbClr val="15314F"/>
                </a:solidFill>
                <a:latin typeface="Calibri" pitchFamily="34" charset="0"/>
                <a:ea typeface="Calibri" pitchFamily="34" charset="-122"/>
                <a:cs typeface="Calibri" pitchFamily="34" charset="-120"/>
              </a:rPr>
              <a:t>Department directors + Strategy lead</a:t>
            </a:r>
            <a:endParaRPr lang="en-US" sz="1050" dirty="0"/>
          </a:p>
        </p:txBody>
      </p:sp>
      <p:sp>
        <p:nvSpPr>
          <p:cNvPr id="17" name="Text 14"/>
          <p:cNvSpPr/>
          <p:nvPr/>
        </p:nvSpPr>
        <p:spPr>
          <a:xfrm>
            <a:off x="4663440" y="2743200"/>
            <a:ext cx="1371600" cy="182880"/>
          </a:xfrm>
          <a:prstGeom prst="rect">
            <a:avLst/>
          </a:prstGeom>
          <a:noFill/>
          <a:ln/>
        </p:spPr>
        <p:txBody>
          <a:bodyPr wrap="square" lIns="0" tIns="0" rIns="0" bIns="0" rtlCol="0" anchor="ctr"/>
          <a:lstStyle/>
          <a:p>
            <a:pPr indent="0" marL="0">
              <a:buNone/>
            </a:pPr>
            <a:r>
              <a:rPr lang="en-US" sz="800" b="1" spc="200" kern="0" dirty="0">
                <a:solidFill>
                  <a:srgbClr val="5BA9D8"/>
                </a:solidFill>
                <a:latin typeface="Calibri" pitchFamily="34" charset="0"/>
                <a:ea typeface="Calibri" pitchFamily="34" charset="-122"/>
                <a:cs typeface="Calibri" pitchFamily="34" charset="-120"/>
              </a:rPr>
              <a:t>WHAT'S REVIEWED</a:t>
            </a:r>
            <a:endParaRPr lang="en-US" sz="800" dirty="0"/>
          </a:p>
        </p:txBody>
      </p:sp>
      <p:sp>
        <p:nvSpPr>
          <p:cNvPr id="18" name="Text 15"/>
          <p:cNvSpPr/>
          <p:nvPr/>
        </p:nvSpPr>
        <p:spPr>
          <a:xfrm>
            <a:off x="4663440" y="2898648"/>
            <a:ext cx="3840480" cy="640080"/>
          </a:xfrm>
          <a:prstGeom prst="rect">
            <a:avLst/>
          </a:prstGeom>
          <a:noFill/>
          <a:ln/>
        </p:spPr>
        <p:txBody>
          <a:bodyPr wrap="square" lIns="0" tIns="0" rIns="0" bIns="0" rtlCol="0" anchor="ctr"/>
          <a:lstStyle/>
          <a:p>
            <a:pPr indent="0" marL="0">
              <a:buNone/>
            </a:pPr>
            <a:r>
              <a:rPr lang="en-US" sz="1000" dirty="0">
                <a:solidFill>
                  <a:srgbClr val="15314F"/>
                </a:solidFill>
                <a:latin typeface="Calibri" pitchFamily="34" charset="0"/>
                <a:ea typeface="Calibri" pitchFamily="34" charset="-122"/>
                <a:cs typeface="Calibri" pitchFamily="34" charset="-120"/>
              </a:rPr>
              <a:t>Outcome indicators measured. Assumption status reviewed. Keep/Modify/Cancel decisions made for flagged programs. Q-Zero revisited if the program philosophy has shifted.</a:t>
            </a:r>
            <a:endParaRPr lang="en-US" sz="1000" dirty="0"/>
          </a:p>
        </p:txBody>
      </p:sp>
      <p:sp>
        <p:nvSpPr>
          <p:cNvPr id="19" name="Shape 16"/>
          <p:cNvSpPr/>
          <p:nvPr/>
        </p:nvSpPr>
        <p:spPr>
          <a:xfrm>
            <a:off x="502920" y="3657600"/>
            <a:ext cx="8138160" cy="960120"/>
          </a:xfrm>
          <a:prstGeom prst="roundRect">
            <a:avLst>
              <a:gd name="adj" fmla="val 7619"/>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20" name="Shape 17"/>
          <p:cNvSpPr/>
          <p:nvPr/>
        </p:nvSpPr>
        <p:spPr>
          <a:xfrm>
            <a:off x="685800" y="3858768"/>
            <a:ext cx="1234440" cy="411480"/>
          </a:xfrm>
          <a:prstGeom prst="roundRect">
            <a:avLst>
              <a:gd name="adj" fmla="val 11111"/>
            </a:avLst>
          </a:prstGeom>
          <a:solidFill>
            <a:srgbClr val="15314F"/>
          </a:solidFill>
          <a:ln w="12700">
            <a:solidFill>
              <a:srgbClr val="15314F"/>
            </a:solidFill>
            <a:prstDash val="solid"/>
          </a:ln>
        </p:spPr>
      </p:sp>
      <p:sp>
        <p:nvSpPr>
          <p:cNvPr id="21" name="Text 18"/>
          <p:cNvSpPr/>
          <p:nvPr/>
        </p:nvSpPr>
        <p:spPr>
          <a:xfrm>
            <a:off x="685800" y="3858768"/>
            <a:ext cx="1234440" cy="411480"/>
          </a:xfrm>
          <a:prstGeom prst="rect">
            <a:avLst/>
          </a:prstGeom>
          <a:noFill/>
          <a:ln/>
        </p:spPr>
        <p:txBody>
          <a:bodyPr wrap="square" lIns="0" tIns="0" rIns="0" bIns="0" rtlCol="0" anchor="ctr"/>
          <a:lstStyle/>
          <a:p>
            <a:pPr algn="ctr" indent="0" marL="0">
              <a:buNone/>
            </a:pPr>
            <a:r>
              <a:rPr lang="en-US" sz="1100" b="1" spc="300" kern="0" dirty="0">
                <a:solidFill>
                  <a:srgbClr val="5BA9D8"/>
                </a:solidFill>
                <a:latin typeface="Calibri" pitchFamily="34" charset="0"/>
                <a:ea typeface="Calibri" pitchFamily="34" charset="-122"/>
                <a:cs typeface="Calibri" pitchFamily="34" charset="-120"/>
              </a:rPr>
              <a:t>ANNUALLY</a:t>
            </a:r>
            <a:endParaRPr lang="en-US" sz="1100" dirty="0"/>
          </a:p>
        </p:txBody>
      </p:sp>
      <p:sp>
        <p:nvSpPr>
          <p:cNvPr id="22" name="Text 19"/>
          <p:cNvSpPr/>
          <p:nvPr/>
        </p:nvSpPr>
        <p:spPr>
          <a:xfrm>
            <a:off x="2103120" y="3794760"/>
            <a:ext cx="548640" cy="182880"/>
          </a:xfrm>
          <a:prstGeom prst="rect">
            <a:avLst/>
          </a:prstGeom>
          <a:noFill/>
          <a:ln/>
        </p:spPr>
        <p:txBody>
          <a:bodyPr wrap="square" lIns="0" tIns="0" rIns="0" bIns="0" rtlCol="0" anchor="ctr"/>
          <a:lstStyle/>
          <a:p>
            <a:pPr indent="0" marL="0">
              <a:buNone/>
            </a:pPr>
            <a:r>
              <a:rPr lang="en-US" sz="800" b="1" spc="200" kern="0" dirty="0">
                <a:solidFill>
                  <a:srgbClr val="5BA9D8"/>
                </a:solidFill>
                <a:latin typeface="Calibri" pitchFamily="34" charset="0"/>
                <a:ea typeface="Calibri" pitchFamily="34" charset="-122"/>
                <a:cs typeface="Calibri" pitchFamily="34" charset="-120"/>
              </a:rPr>
              <a:t>WHO</a:t>
            </a:r>
            <a:endParaRPr lang="en-US" sz="800" dirty="0"/>
          </a:p>
        </p:txBody>
      </p:sp>
      <p:sp>
        <p:nvSpPr>
          <p:cNvPr id="23" name="Text 20"/>
          <p:cNvSpPr/>
          <p:nvPr/>
        </p:nvSpPr>
        <p:spPr>
          <a:xfrm>
            <a:off x="2103120" y="3950208"/>
            <a:ext cx="2423160" cy="548640"/>
          </a:xfrm>
          <a:prstGeom prst="rect">
            <a:avLst/>
          </a:prstGeom>
          <a:noFill/>
          <a:ln/>
        </p:spPr>
        <p:txBody>
          <a:bodyPr wrap="square" lIns="0" tIns="0" rIns="0" bIns="0" rtlCol="0" anchor="ctr"/>
          <a:lstStyle/>
          <a:p>
            <a:pPr indent="0" marL="0">
              <a:buNone/>
            </a:pPr>
            <a:r>
              <a:rPr lang="en-US" sz="1050" b="1" dirty="0">
                <a:solidFill>
                  <a:srgbClr val="15314F"/>
                </a:solidFill>
                <a:latin typeface="Calibri" pitchFamily="34" charset="0"/>
                <a:ea typeface="Calibri" pitchFamily="34" charset="-122"/>
                <a:cs typeface="Calibri" pitchFamily="34" charset="-120"/>
              </a:rPr>
              <a:t>All staff + Leadership + Community stakeholders</a:t>
            </a:r>
            <a:endParaRPr lang="en-US" sz="1050" dirty="0"/>
          </a:p>
        </p:txBody>
      </p:sp>
      <p:sp>
        <p:nvSpPr>
          <p:cNvPr id="24" name="Text 21"/>
          <p:cNvSpPr/>
          <p:nvPr/>
        </p:nvSpPr>
        <p:spPr>
          <a:xfrm>
            <a:off x="4663440" y="3794760"/>
            <a:ext cx="1371600" cy="182880"/>
          </a:xfrm>
          <a:prstGeom prst="rect">
            <a:avLst/>
          </a:prstGeom>
          <a:noFill/>
          <a:ln/>
        </p:spPr>
        <p:txBody>
          <a:bodyPr wrap="square" lIns="0" tIns="0" rIns="0" bIns="0" rtlCol="0" anchor="ctr"/>
          <a:lstStyle/>
          <a:p>
            <a:pPr indent="0" marL="0">
              <a:buNone/>
            </a:pPr>
            <a:r>
              <a:rPr lang="en-US" sz="800" b="1" spc="200" kern="0" dirty="0">
                <a:solidFill>
                  <a:srgbClr val="5BA9D8"/>
                </a:solidFill>
                <a:latin typeface="Calibri" pitchFamily="34" charset="0"/>
                <a:ea typeface="Calibri" pitchFamily="34" charset="-122"/>
                <a:cs typeface="Calibri" pitchFamily="34" charset="-120"/>
              </a:rPr>
              <a:t>WHAT'S REVIEWED</a:t>
            </a:r>
            <a:endParaRPr lang="en-US" sz="800" dirty="0"/>
          </a:p>
        </p:txBody>
      </p:sp>
      <p:sp>
        <p:nvSpPr>
          <p:cNvPr id="25" name="Text 22"/>
          <p:cNvSpPr/>
          <p:nvPr/>
        </p:nvSpPr>
        <p:spPr>
          <a:xfrm>
            <a:off x="4663440" y="3950208"/>
            <a:ext cx="3840480" cy="640080"/>
          </a:xfrm>
          <a:prstGeom prst="rect">
            <a:avLst/>
          </a:prstGeom>
          <a:noFill/>
          <a:ln/>
        </p:spPr>
        <p:txBody>
          <a:bodyPr wrap="square" lIns="0" tIns="0" rIns="0" bIns="0" rtlCol="0" anchor="ctr"/>
          <a:lstStyle/>
          <a:p>
            <a:pPr indent="0" marL="0">
              <a:buNone/>
            </a:pPr>
            <a:r>
              <a:rPr lang="en-US" sz="1000" dirty="0">
                <a:solidFill>
                  <a:srgbClr val="15314F"/>
                </a:solidFill>
                <a:latin typeface="Calibri" pitchFamily="34" charset="0"/>
                <a:ea typeface="Calibri" pitchFamily="34" charset="-122"/>
                <a:cs typeface="Calibri" pitchFamily="34" charset="-120"/>
              </a:rPr>
              <a:t>Full TOC version review. Baselines updated for the new cycle. Program Dashboard updated. Annual Impact Report published using logframe data.</a:t>
            </a:r>
            <a:endParaRPr lang="en-US" sz="1000" dirty="0"/>
          </a:p>
        </p:txBody>
      </p:sp>
      <p:sp>
        <p:nvSpPr>
          <p:cNvPr id="26" name="Shape 23"/>
          <p:cNvSpPr/>
          <p:nvPr/>
        </p:nvSpPr>
        <p:spPr>
          <a:xfrm>
            <a:off x="502920" y="4732020"/>
            <a:ext cx="8138160" cy="0"/>
          </a:xfrm>
          <a:prstGeom prst="line">
            <a:avLst/>
          </a:prstGeom>
          <a:noFill/>
          <a:ln w="9525">
            <a:solidFill>
              <a:srgbClr val="DCE6EE"/>
            </a:solidFill>
            <a:prstDash val="solid"/>
          </a:ln>
        </p:spPr>
      </p:sp>
      <p:sp>
        <p:nvSpPr>
          <p:cNvPr id="27" name="Text 24"/>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8" name="Text 25"/>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29" name="Text 26"/>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Worksheet  ·  40 minutes</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Build your measurement plan</a:t>
            </a:r>
            <a:endParaRPr lang="en-US" sz="3000" dirty="0"/>
          </a:p>
        </p:txBody>
      </p:sp>
      <p:sp>
        <p:nvSpPr>
          <p:cNvPr id="5" name="Text 2"/>
          <p:cNvSpPr/>
          <p:nvPr/>
        </p:nvSpPr>
        <p:spPr>
          <a:xfrm>
            <a:off x="502920" y="1554480"/>
            <a:ext cx="3931920" cy="274320"/>
          </a:xfrm>
          <a:prstGeom prst="rect">
            <a:avLst/>
          </a:prstGeom>
          <a:noFill/>
          <a:ln/>
        </p:spPr>
        <p:txBody>
          <a:bodyPr wrap="square" lIns="0" tIns="0" rIns="0" bIns="0" rtlCol="0" anchor="ctr"/>
          <a:lstStyle/>
          <a:p>
            <a:pPr indent="0" marL="0">
              <a:buNone/>
            </a:pPr>
            <a:r>
              <a:rPr lang="en-US" sz="1300" b="1" dirty="0">
                <a:solidFill>
                  <a:srgbClr val="15314F"/>
                </a:solidFill>
                <a:latin typeface="Calibri Light" pitchFamily="34" charset="0"/>
                <a:ea typeface="Calibri Light" pitchFamily="34" charset="-122"/>
                <a:cs typeface="Calibri Light" pitchFamily="34" charset="-120"/>
              </a:rPr>
              <a:t>1.  Output measurement</a:t>
            </a:r>
            <a:endParaRPr lang="en-US" sz="1300" dirty="0"/>
          </a:p>
        </p:txBody>
      </p:sp>
      <p:sp>
        <p:nvSpPr>
          <p:cNvPr id="6" name="Text 3"/>
          <p:cNvSpPr/>
          <p:nvPr/>
        </p:nvSpPr>
        <p:spPr>
          <a:xfrm>
            <a:off x="640080" y="1920240"/>
            <a:ext cx="3657600" cy="27432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Baseline (current state):</a:t>
            </a:r>
            <a:endParaRPr lang="en-US" sz="1050" dirty="0"/>
          </a:p>
        </p:txBody>
      </p:sp>
      <p:sp>
        <p:nvSpPr>
          <p:cNvPr id="7" name="Text 4"/>
          <p:cNvSpPr/>
          <p:nvPr/>
        </p:nvSpPr>
        <p:spPr>
          <a:xfrm>
            <a:off x="640080" y="2212848"/>
            <a:ext cx="3657600" cy="27432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Metric (what you count):</a:t>
            </a:r>
            <a:endParaRPr lang="en-US" sz="1050" dirty="0"/>
          </a:p>
        </p:txBody>
      </p:sp>
      <p:sp>
        <p:nvSpPr>
          <p:cNvPr id="8" name="Text 5"/>
          <p:cNvSpPr/>
          <p:nvPr/>
        </p:nvSpPr>
        <p:spPr>
          <a:xfrm>
            <a:off x="640080" y="2505456"/>
            <a:ext cx="3657600" cy="27432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Target (specific goal, by when):</a:t>
            </a:r>
            <a:endParaRPr lang="en-US" sz="1050" dirty="0"/>
          </a:p>
        </p:txBody>
      </p:sp>
      <p:sp>
        <p:nvSpPr>
          <p:cNvPr id="9" name="Text 6"/>
          <p:cNvSpPr/>
          <p:nvPr/>
        </p:nvSpPr>
        <p:spPr>
          <a:xfrm>
            <a:off x="502920" y="2926080"/>
            <a:ext cx="3931920" cy="274320"/>
          </a:xfrm>
          <a:prstGeom prst="rect">
            <a:avLst/>
          </a:prstGeom>
          <a:noFill/>
          <a:ln/>
        </p:spPr>
        <p:txBody>
          <a:bodyPr wrap="square" lIns="0" tIns="0" rIns="0" bIns="0" rtlCol="0" anchor="ctr"/>
          <a:lstStyle/>
          <a:p>
            <a:pPr indent="0" marL="0">
              <a:buNone/>
            </a:pPr>
            <a:r>
              <a:rPr lang="en-US" sz="1300" b="1" dirty="0">
                <a:solidFill>
                  <a:srgbClr val="15314F"/>
                </a:solidFill>
                <a:latin typeface="Calibri Light" pitchFamily="34" charset="0"/>
                <a:ea typeface="Calibri Light" pitchFamily="34" charset="-122"/>
                <a:cs typeface="Calibri Light" pitchFamily="34" charset="-120"/>
              </a:rPr>
              <a:t>2.  SMART outcome indicator</a:t>
            </a:r>
            <a:endParaRPr lang="en-US" sz="1300" dirty="0"/>
          </a:p>
        </p:txBody>
      </p:sp>
      <p:sp>
        <p:nvSpPr>
          <p:cNvPr id="10" name="Text 7"/>
          <p:cNvSpPr/>
          <p:nvPr/>
        </p:nvSpPr>
        <p:spPr>
          <a:xfrm>
            <a:off x="640080" y="3291840"/>
            <a:ext cx="3657600" cy="22860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S — exact population &amp; behavior:</a:t>
            </a:r>
            <a:endParaRPr lang="en-US" sz="1050" dirty="0"/>
          </a:p>
        </p:txBody>
      </p:sp>
      <p:sp>
        <p:nvSpPr>
          <p:cNvPr id="11" name="Text 8"/>
          <p:cNvSpPr/>
          <p:nvPr/>
        </p:nvSpPr>
        <p:spPr>
          <a:xfrm>
            <a:off x="640080" y="3538728"/>
            <a:ext cx="3657600" cy="22860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M — what tool collects it:</a:t>
            </a:r>
            <a:endParaRPr lang="en-US" sz="1050" dirty="0"/>
          </a:p>
        </p:txBody>
      </p:sp>
      <p:sp>
        <p:nvSpPr>
          <p:cNvPr id="12" name="Text 9"/>
          <p:cNvSpPr/>
          <p:nvPr/>
        </p:nvSpPr>
        <p:spPr>
          <a:xfrm>
            <a:off x="640080" y="3785616"/>
            <a:ext cx="3657600" cy="22860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A — realistic for scope?</a:t>
            </a:r>
            <a:endParaRPr lang="en-US" sz="1050" dirty="0"/>
          </a:p>
        </p:txBody>
      </p:sp>
      <p:sp>
        <p:nvSpPr>
          <p:cNvPr id="13" name="Text 10"/>
          <p:cNvSpPr/>
          <p:nvPr/>
        </p:nvSpPr>
        <p:spPr>
          <a:xfrm>
            <a:off x="640080" y="4032504"/>
            <a:ext cx="3657600" cy="22860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R — maps to your Q-Zero?</a:t>
            </a:r>
            <a:endParaRPr lang="en-US" sz="1050" dirty="0"/>
          </a:p>
        </p:txBody>
      </p:sp>
      <p:sp>
        <p:nvSpPr>
          <p:cNvPr id="14" name="Text 11"/>
          <p:cNvSpPr/>
          <p:nvPr/>
        </p:nvSpPr>
        <p:spPr>
          <a:xfrm>
            <a:off x="640080" y="4279392"/>
            <a:ext cx="3657600" cy="22860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T — when collected:</a:t>
            </a:r>
            <a:endParaRPr lang="en-US" sz="1050" dirty="0"/>
          </a:p>
        </p:txBody>
      </p:sp>
      <p:sp>
        <p:nvSpPr>
          <p:cNvPr id="15" name="Text 12"/>
          <p:cNvSpPr/>
          <p:nvPr/>
        </p:nvSpPr>
        <p:spPr>
          <a:xfrm>
            <a:off x="4800600" y="1554480"/>
            <a:ext cx="3931920" cy="274320"/>
          </a:xfrm>
          <a:prstGeom prst="rect">
            <a:avLst/>
          </a:prstGeom>
          <a:noFill/>
          <a:ln/>
        </p:spPr>
        <p:txBody>
          <a:bodyPr wrap="square" lIns="0" tIns="0" rIns="0" bIns="0" rtlCol="0" anchor="ctr"/>
          <a:lstStyle/>
          <a:p>
            <a:pPr indent="0" marL="0">
              <a:buNone/>
            </a:pPr>
            <a:r>
              <a:rPr lang="en-US" sz="1300" b="1" dirty="0">
                <a:solidFill>
                  <a:srgbClr val="15314F"/>
                </a:solidFill>
                <a:latin typeface="Calibri Light" pitchFamily="34" charset="0"/>
                <a:ea typeface="Calibri Light" pitchFamily="34" charset="-122"/>
                <a:cs typeface="Calibri Light" pitchFamily="34" charset="-120"/>
              </a:rPr>
              <a:t>3.  Means of verification</a:t>
            </a:r>
            <a:endParaRPr lang="en-US" sz="1300" dirty="0"/>
          </a:p>
        </p:txBody>
      </p:sp>
      <p:sp>
        <p:nvSpPr>
          <p:cNvPr id="16" name="Text 13"/>
          <p:cNvSpPr/>
          <p:nvPr/>
        </p:nvSpPr>
        <p:spPr>
          <a:xfrm>
            <a:off x="4937760" y="1920240"/>
            <a:ext cx="3657600" cy="27432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Who collects the data:</a:t>
            </a:r>
            <a:endParaRPr lang="en-US" sz="1050" dirty="0"/>
          </a:p>
        </p:txBody>
      </p:sp>
      <p:sp>
        <p:nvSpPr>
          <p:cNvPr id="17" name="Text 14"/>
          <p:cNvSpPr/>
          <p:nvPr/>
        </p:nvSpPr>
        <p:spPr>
          <a:xfrm>
            <a:off x="4937760" y="2194560"/>
            <a:ext cx="3657600" cy="27432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What tool / instrument:</a:t>
            </a:r>
            <a:endParaRPr lang="en-US" sz="1050" dirty="0"/>
          </a:p>
        </p:txBody>
      </p:sp>
      <p:sp>
        <p:nvSpPr>
          <p:cNvPr id="18" name="Text 15"/>
          <p:cNvSpPr/>
          <p:nvPr/>
        </p:nvSpPr>
        <p:spPr>
          <a:xfrm>
            <a:off x="4937760" y="2468880"/>
            <a:ext cx="3657600" cy="27432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How often:</a:t>
            </a:r>
            <a:endParaRPr lang="en-US" sz="1050" dirty="0"/>
          </a:p>
        </p:txBody>
      </p:sp>
      <p:sp>
        <p:nvSpPr>
          <p:cNvPr id="19" name="Text 16"/>
          <p:cNvSpPr/>
          <p:nvPr/>
        </p:nvSpPr>
        <p:spPr>
          <a:xfrm>
            <a:off x="4937760" y="2743200"/>
            <a:ext cx="3657600" cy="274320"/>
          </a:xfrm>
          <a:prstGeom prst="rect">
            <a:avLst/>
          </a:prstGeom>
          <a:noFill/>
          <a:ln/>
        </p:spPr>
        <p:txBody>
          <a:bodyPr wrap="square" lIns="0" tIns="0" rIns="0" bIns="0" rtlCol="0" anchor="ctr"/>
          <a:lstStyle/>
          <a:p>
            <a:pPr indent="0" marL="0">
              <a:buNone/>
            </a:pPr>
            <a:r>
              <a:rPr lang="en-US" sz="1050" dirty="0">
                <a:solidFill>
                  <a:srgbClr val="15314F"/>
                </a:solidFill>
                <a:latin typeface="Calibri" pitchFamily="34" charset="0"/>
                <a:ea typeface="Calibri" pitchFamily="34" charset="-122"/>
                <a:cs typeface="Calibri" pitchFamily="34" charset="-120"/>
              </a:rPr>
              <a:t>Where data is stored:</a:t>
            </a:r>
            <a:endParaRPr lang="en-US" sz="1050" dirty="0"/>
          </a:p>
        </p:txBody>
      </p:sp>
      <p:sp>
        <p:nvSpPr>
          <p:cNvPr id="20" name="Text 17"/>
          <p:cNvSpPr/>
          <p:nvPr/>
        </p:nvSpPr>
        <p:spPr>
          <a:xfrm>
            <a:off x="4800600" y="3108960"/>
            <a:ext cx="3931920" cy="274320"/>
          </a:xfrm>
          <a:prstGeom prst="rect">
            <a:avLst/>
          </a:prstGeom>
          <a:noFill/>
          <a:ln/>
        </p:spPr>
        <p:txBody>
          <a:bodyPr wrap="square" lIns="0" tIns="0" rIns="0" bIns="0" rtlCol="0" anchor="ctr"/>
          <a:lstStyle/>
          <a:p>
            <a:pPr indent="0" marL="0">
              <a:buNone/>
            </a:pPr>
            <a:r>
              <a:rPr lang="en-US" sz="1300" b="1" dirty="0">
                <a:solidFill>
                  <a:srgbClr val="15314F"/>
                </a:solidFill>
                <a:latin typeface="Calibri Light" pitchFamily="34" charset="0"/>
                <a:ea typeface="Calibri Light" pitchFamily="34" charset="-122"/>
                <a:cs typeface="Calibri Light" pitchFamily="34" charset="-120"/>
              </a:rPr>
              <a:t>4.  Key assumptions  ·  rate Low / Med / High</a:t>
            </a:r>
            <a:endParaRPr lang="en-US" sz="1300" dirty="0"/>
          </a:p>
        </p:txBody>
      </p:sp>
      <p:sp>
        <p:nvSpPr>
          <p:cNvPr id="21" name="Text 18"/>
          <p:cNvSpPr/>
          <p:nvPr/>
        </p:nvSpPr>
        <p:spPr>
          <a:xfrm>
            <a:off x="4937760" y="3474720"/>
            <a:ext cx="3840480" cy="274320"/>
          </a:xfrm>
          <a:prstGeom prst="rect">
            <a:avLst/>
          </a:prstGeom>
          <a:noFill/>
          <a:ln/>
        </p:spPr>
        <p:txBody>
          <a:bodyPr wrap="square" lIns="0" tIns="0" rIns="0" bIns="0" rtlCol="0" anchor="ctr"/>
          <a:lstStyle/>
          <a:p>
            <a:pPr indent="0" marL="0">
              <a:buNone/>
            </a:pPr>
            <a:r>
              <a:rPr lang="en-US" sz="1000" dirty="0">
                <a:solidFill>
                  <a:srgbClr val="15314F"/>
                </a:solidFill>
                <a:latin typeface="Calibri" pitchFamily="34" charset="0"/>
                <a:ea typeface="Calibri" pitchFamily="34" charset="-122"/>
                <a:cs typeface="Calibri" pitchFamily="34" charset="-120"/>
              </a:rPr>
              <a:t>Assumption 1 :  ____________________   risk: L / M / H</a:t>
            </a:r>
            <a:endParaRPr lang="en-US" sz="1000" dirty="0"/>
          </a:p>
        </p:txBody>
      </p:sp>
      <p:sp>
        <p:nvSpPr>
          <p:cNvPr id="22" name="Text 19"/>
          <p:cNvSpPr/>
          <p:nvPr/>
        </p:nvSpPr>
        <p:spPr>
          <a:xfrm>
            <a:off x="4937760" y="3749040"/>
            <a:ext cx="3840480" cy="274320"/>
          </a:xfrm>
          <a:prstGeom prst="rect">
            <a:avLst/>
          </a:prstGeom>
          <a:noFill/>
          <a:ln/>
        </p:spPr>
        <p:txBody>
          <a:bodyPr wrap="square" lIns="0" tIns="0" rIns="0" bIns="0" rtlCol="0" anchor="ctr"/>
          <a:lstStyle/>
          <a:p>
            <a:pPr indent="0" marL="0">
              <a:buNone/>
            </a:pPr>
            <a:r>
              <a:rPr lang="en-US" sz="1000" dirty="0">
                <a:solidFill>
                  <a:srgbClr val="15314F"/>
                </a:solidFill>
                <a:latin typeface="Calibri" pitchFamily="34" charset="0"/>
                <a:ea typeface="Calibri" pitchFamily="34" charset="-122"/>
                <a:cs typeface="Calibri" pitchFamily="34" charset="-120"/>
              </a:rPr>
              <a:t>Assumption 2 :  ____________________   risk: L / M / H</a:t>
            </a:r>
            <a:endParaRPr lang="en-US" sz="1000" dirty="0"/>
          </a:p>
        </p:txBody>
      </p:sp>
      <p:sp>
        <p:nvSpPr>
          <p:cNvPr id="23" name="Text 20"/>
          <p:cNvSpPr/>
          <p:nvPr/>
        </p:nvSpPr>
        <p:spPr>
          <a:xfrm>
            <a:off x="4937760" y="4023360"/>
            <a:ext cx="3840480" cy="274320"/>
          </a:xfrm>
          <a:prstGeom prst="rect">
            <a:avLst/>
          </a:prstGeom>
          <a:noFill/>
          <a:ln/>
        </p:spPr>
        <p:txBody>
          <a:bodyPr wrap="square" lIns="0" tIns="0" rIns="0" bIns="0" rtlCol="0" anchor="ctr"/>
          <a:lstStyle/>
          <a:p>
            <a:pPr indent="0" marL="0">
              <a:buNone/>
            </a:pPr>
            <a:r>
              <a:rPr lang="en-US" sz="1000" dirty="0">
                <a:solidFill>
                  <a:srgbClr val="15314F"/>
                </a:solidFill>
                <a:latin typeface="Calibri" pitchFamily="34" charset="0"/>
                <a:ea typeface="Calibri" pitchFamily="34" charset="-122"/>
                <a:cs typeface="Calibri" pitchFamily="34" charset="-120"/>
              </a:rPr>
              <a:t>Assumption 3 :  ____________________   risk: L / M / H</a:t>
            </a:r>
            <a:endParaRPr lang="en-US" sz="1000" dirty="0"/>
          </a:p>
        </p:txBody>
      </p:sp>
      <p:sp>
        <p:nvSpPr>
          <p:cNvPr id="24" name="Shape 21"/>
          <p:cNvSpPr/>
          <p:nvPr/>
        </p:nvSpPr>
        <p:spPr>
          <a:xfrm>
            <a:off x="502920" y="4732020"/>
            <a:ext cx="8138160" cy="0"/>
          </a:xfrm>
          <a:prstGeom prst="line">
            <a:avLst/>
          </a:prstGeom>
          <a:noFill/>
          <a:ln w="9525">
            <a:solidFill>
              <a:srgbClr val="DCE6EE"/>
            </a:solidFill>
            <a:prstDash val="solid"/>
          </a:ln>
        </p:spPr>
      </p:sp>
      <p:sp>
        <p:nvSpPr>
          <p:cNvPr id="25" name="Text 22"/>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6" name="Text 23"/>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27" name="Text 24"/>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What you've built</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Four artifacts — one coherent theory</a:t>
            </a:r>
            <a:endParaRPr lang="en-US" sz="3000" dirty="0"/>
          </a:p>
        </p:txBody>
      </p:sp>
      <p:sp>
        <p:nvSpPr>
          <p:cNvPr id="5" name="Shape 2"/>
          <p:cNvSpPr/>
          <p:nvPr/>
        </p:nvSpPr>
        <p:spPr>
          <a:xfrm>
            <a:off x="406908" y="1508760"/>
            <a:ext cx="1993392" cy="2697480"/>
          </a:xfrm>
          <a:prstGeom prst="roundRect">
            <a:avLst>
              <a:gd name="adj" fmla="val 367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6" name="Text 3"/>
          <p:cNvSpPr/>
          <p:nvPr/>
        </p:nvSpPr>
        <p:spPr>
          <a:xfrm>
            <a:off x="544068" y="1645920"/>
            <a:ext cx="1719072" cy="548640"/>
          </a:xfrm>
          <a:prstGeom prst="rect">
            <a:avLst/>
          </a:prstGeom>
          <a:noFill/>
          <a:ln/>
        </p:spPr>
        <p:txBody>
          <a:bodyPr wrap="square" lIns="0" tIns="0" rIns="0" bIns="0" rtlCol="0" anchor="ctr"/>
          <a:lstStyle/>
          <a:p>
            <a:pPr indent="0" marL="0">
              <a:buNone/>
            </a:pPr>
            <a:r>
              <a:rPr lang="en-US" sz="3800" b="1" dirty="0">
                <a:solidFill>
                  <a:srgbClr val="5BA9D8"/>
                </a:solidFill>
                <a:latin typeface="Calibri Light" pitchFamily="34" charset="0"/>
                <a:ea typeface="Calibri Light" pitchFamily="34" charset="-122"/>
                <a:cs typeface="Calibri Light" pitchFamily="34" charset="-120"/>
              </a:rPr>
              <a:t>01</a:t>
            </a:r>
            <a:endParaRPr lang="en-US" sz="3800" dirty="0"/>
          </a:p>
        </p:txBody>
      </p:sp>
      <p:sp>
        <p:nvSpPr>
          <p:cNvPr id="7" name="Text 4"/>
          <p:cNvSpPr/>
          <p:nvPr/>
        </p:nvSpPr>
        <p:spPr>
          <a:xfrm>
            <a:off x="544068" y="2258568"/>
            <a:ext cx="1719072" cy="201168"/>
          </a:xfrm>
          <a:prstGeom prst="rect">
            <a:avLst/>
          </a:prstGeom>
          <a:noFill/>
          <a:ln/>
        </p:spPr>
        <p:txBody>
          <a:bodyPr wrap="square" lIns="0" tIns="0" rIns="0" bIns="0" rtlCol="0" anchor="ctr"/>
          <a:lstStyle/>
          <a:p>
            <a:pPr indent="0" marL="0">
              <a:buNone/>
            </a:pPr>
            <a:r>
              <a:rPr lang="en-US" sz="850" b="1" spc="200" kern="0" dirty="0">
                <a:solidFill>
                  <a:srgbClr val="9AAEC0"/>
                </a:solidFill>
                <a:latin typeface="Calibri" pitchFamily="34" charset="0"/>
                <a:ea typeface="Calibri" pitchFamily="34" charset="-122"/>
                <a:cs typeface="Calibri" pitchFamily="34" charset="-120"/>
              </a:rPr>
              <a:t>MODULE 2</a:t>
            </a:r>
            <a:endParaRPr lang="en-US" sz="850" dirty="0"/>
          </a:p>
        </p:txBody>
      </p:sp>
      <p:sp>
        <p:nvSpPr>
          <p:cNvPr id="8" name="Text 5"/>
          <p:cNvSpPr/>
          <p:nvPr/>
        </p:nvSpPr>
        <p:spPr>
          <a:xfrm>
            <a:off x="544068" y="2468880"/>
            <a:ext cx="1719072" cy="502920"/>
          </a:xfrm>
          <a:prstGeom prst="rect">
            <a:avLst/>
          </a:prstGeom>
          <a:noFill/>
          <a:ln/>
        </p:spPr>
        <p:txBody>
          <a:bodyPr wrap="square" lIns="0" tIns="0" rIns="0" bIns="0" rtlCol="0" anchor="ctr"/>
          <a:lstStyle/>
          <a:p>
            <a:pPr indent="0" marL="0">
              <a:buNone/>
            </a:pPr>
            <a:r>
              <a:rPr lang="en-US" sz="1500" b="1" dirty="0">
                <a:solidFill>
                  <a:srgbClr val="15314F"/>
                </a:solidFill>
                <a:latin typeface="Calibri Light" pitchFamily="34" charset="0"/>
                <a:ea typeface="Calibri Light" pitchFamily="34" charset="-122"/>
                <a:cs typeface="Calibri Light" pitchFamily="34" charset="-120"/>
              </a:rPr>
              <a:t>Q-Zero statement</a:t>
            </a:r>
            <a:endParaRPr lang="en-US" sz="1500" dirty="0"/>
          </a:p>
        </p:txBody>
      </p:sp>
      <p:sp>
        <p:nvSpPr>
          <p:cNvPr id="9" name="Shape 6"/>
          <p:cNvSpPr/>
          <p:nvPr/>
        </p:nvSpPr>
        <p:spPr>
          <a:xfrm>
            <a:off x="544068" y="3017520"/>
            <a:ext cx="548640" cy="0"/>
          </a:xfrm>
          <a:prstGeom prst="line">
            <a:avLst/>
          </a:prstGeom>
          <a:noFill/>
          <a:ln w="9525">
            <a:solidFill>
              <a:srgbClr val="5BA9D8"/>
            </a:solidFill>
            <a:prstDash val="solid"/>
          </a:ln>
        </p:spPr>
      </p:sp>
      <p:sp>
        <p:nvSpPr>
          <p:cNvPr id="10" name="Text 7"/>
          <p:cNvSpPr/>
          <p:nvPr/>
        </p:nvSpPr>
        <p:spPr>
          <a:xfrm>
            <a:off x="544068" y="3136392"/>
            <a:ext cx="1719072" cy="1005840"/>
          </a:xfrm>
          <a:prstGeom prst="rect">
            <a:avLst/>
          </a:prstGeom>
          <a:noFill/>
          <a:ln/>
        </p:spPr>
        <p:txBody>
          <a:bodyPr wrap="square" lIns="0" tIns="0" rIns="0" bIns="0" rtlCol="0" anchor="t"/>
          <a:lstStyle/>
          <a:p>
            <a:pPr indent="0" marL="0">
              <a:buNone/>
            </a:pPr>
            <a:r>
              <a:rPr lang="en-US" sz="1050" dirty="0">
                <a:solidFill>
                  <a:srgbClr val="15314F"/>
                </a:solidFill>
                <a:latin typeface="Calibri" pitchFamily="34" charset="0"/>
                <a:ea typeface="Calibri" pitchFamily="34" charset="-122"/>
                <a:cs typeface="Calibri" pitchFamily="34" charset="-120"/>
              </a:rPr>
              <a:t>A mission-tied IF–THEN that names your program's philosophy and the change it produces.</a:t>
            </a:r>
            <a:endParaRPr lang="en-US" sz="1050" dirty="0"/>
          </a:p>
        </p:txBody>
      </p:sp>
      <p:sp>
        <p:nvSpPr>
          <p:cNvPr id="11" name="Shape 8"/>
          <p:cNvSpPr/>
          <p:nvPr/>
        </p:nvSpPr>
        <p:spPr>
          <a:xfrm>
            <a:off x="2519172" y="1508760"/>
            <a:ext cx="1993392" cy="2697480"/>
          </a:xfrm>
          <a:prstGeom prst="roundRect">
            <a:avLst>
              <a:gd name="adj" fmla="val 367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2" name="Text 9"/>
          <p:cNvSpPr/>
          <p:nvPr/>
        </p:nvSpPr>
        <p:spPr>
          <a:xfrm>
            <a:off x="2656332" y="1645920"/>
            <a:ext cx="1719072" cy="548640"/>
          </a:xfrm>
          <a:prstGeom prst="rect">
            <a:avLst/>
          </a:prstGeom>
          <a:noFill/>
          <a:ln/>
        </p:spPr>
        <p:txBody>
          <a:bodyPr wrap="square" lIns="0" tIns="0" rIns="0" bIns="0" rtlCol="0" anchor="ctr"/>
          <a:lstStyle/>
          <a:p>
            <a:pPr indent="0" marL="0">
              <a:buNone/>
            </a:pPr>
            <a:r>
              <a:rPr lang="en-US" sz="3800" b="1" dirty="0">
                <a:solidFill>
                  <a:srgbClr val="5BA9D8"/>
                </a:solidFill>
                <a:latin typeface="Calibri Light" pitchFamily="34" charset="0"/>
                <a:ea typeface="Calibri Light" pitchFamily="34" charset="-122"/>
                <a:cs typeface="Calibri Light" pitchFamily="34" charset="-120"/>
              </a:rPr>
              <a:t>02</a:t>
            </a:r>
            <a:endParaRPr lang="en-US" sz="3800" dirty="0"/>
          </a:p>
        </p:txBody>
      </p:sp>
      <p:sp>
        <p:nvSpPr>
          <p:cNvPr id="13" name="Text 10"/>
          <p:cNvSpPr/>
          <p:nvPr/>
        </p:nvSpPr>
        <p:spPr>
          <a:xfrm>
            <a:off x="2656332" y="2258568"/>
            <a:ext cx="1719072" cy="201168"/>
          </a:xfrm>
          <a:prstGeom prst="rect">
            <a:avLst/>
          </a:prstGeom>
          <a:noFill/>
          <a:ln/>
        </p:spPr>
        <p:txBody>
          <a:bodyPr wrap="square" lIns="0" tIns="0" rIns="0" bIns="0" rtlCol="0" anchor="ctr"/>
          <a:lstStyle/>
          <a:p>
            <a:pPr indent="0" marL="0">
              <a:buNone/>
            </a:pPr>
            <a:r>
              <a:rPr lang="en-US" sz="850" b="1" spc="200" kern="0" dirty="0">
                <a:solidFill>
                  <a:srgbClr val="9AAEC0"/>
                </a:solidFill>
                <a:latin typeface="Calibri" pitchFamily="34" charset="0"/>
                <a:ea typeface="Calibri" pitchFamily="34" charset="-122"/>
                <a:cs typeface="Calibri" pitchFamily="34" charset="-120"/>
              </a:rPr>
              <a:t>MODULE 3</a:t>
            </a:r>
            <a:endParaRPr lang="en-US" sz="850" dirty="0"/>
          </a:p>
        </p:txBody>
      </p:sp>
      <p:sp>
        <p:nvSpPr>
          <p:cNvPr id="14" name="Text 11"/>
          <p:cNvSpPr/>
          <p:nvPr/>
        </p:nvSpPr>
        <p:spPr>
          <a:xfrm>
            <a:off x="2656332" y="2468880"/>
            <a:ext cx="1719072" cy="502920"/>
          </a:xfrm>
          <a:prstGeom prst="rect">
            <a:avLst/>
          </a:prstGeom>
          <a:noFill/>
          <a:ln/>
        </p:spPr>
        <p:txBody>
          <a:bodyPr wrap="square" lIns="0" tIns="0" rIns="0" bIns="0" rtlCol="0" anchor="ctr"/>
          <a:lstStyle/>
          <a:p>
            <a:pPr indent="0" marL="0">
              <a:buNone/>
            </a:pPr>
            <a:r>
              <a:rPr lang="en-US" sz="1500" b="1" dirty="0">
                <a:solidFill>
                  <a:srgbClr val="15314F"/>
                </a:solidFill>
                <a:latin typeface="Calibri Light" pitchFamily="34" charset="0"/>
                <a:ea typeface="Calibri Light" pitchFamily="34" charset="-122"/>
                <a:cs typeface="Calibri Light" pitchFamily="34" charset="-120"/>
              </a:rPr>
              <a:t>Impact pathway</a:t>
            </a:r>
            <a:endParaRPr lang="en-US" sz="1500" dirty="0"/>
          </a:p>
        </p:txBody>
      </p:sp>
      <p:sp>
        <p:nvSpPr>
          <p:cNvPr id="15" name="Shape 12"/>
          <p:cNvSpPr/>
          <p:nvPr/>
        </p:nvSpPr>
        <p:spPr>
          <a:xfrm>
            <a:off x="2656332" y="3017520"/>
            <a:ext cx="548640" cy="0"/>
          </a:xfrm>
          <a:prstGeom prst="line">
            <a:avLst/>
          </a:prstGeom>
          <a:noFill/>
          <a:ln w="9525">
            <a:solidFill>
              <a:srgbClr val="5BA9D8"/>
            </a:solidFill>
            <a:prstDash val="solid"/>
          </a:ln>
        </p:spPr>
      </p:sp>
      <p:sp>
        <p:nvSpPr>
          <p:cNvPr id="16" name="Text 13"/>
          <p:cNvSpPr/>
          <p:nvPr/>
        </p:nvSpPr>
        <p:spPr>
          <a:xfrm>
            <a:off x="2656332" y="3136392"/>
            <a:ext cx="1719072" cy="1005840"/>
          </a:xfrm>
          <a:prstGeom prst="rect">
            <a:avLst/>
          </a:prstGeom>
          <a:noFill/>
          <a:ln/>
        </p:spPr>
        <p:txBody>
          <a:bodyPr wrap="square" lIns="0" tIns="0" rIns="0" bIns="0" rtlCol="0" anchor="t"/>
          <a:lstStyle/>
          <a:p>
            <a:pPr indent="0" marL="0">
              <a:buNone/>
            </a:pPr>
            <a:r>
              <a:rPr lang="en-US" sz="1050" dirty="0">
                <a:solidFill>
                  <a:srgbClr val="15314F"/>
                </a:solidFill>
                <a:latin typeface="Calibri" pitchFamily="34" charset="0"/>
                <a:ea typeface="Calibri" pitchFamily="34" charset="-122"/>
                <a:cs typeface="Calibri" pitchFamily="34" charset="-120"/>
              </a:rPr>
              <a:t>A complete five-level chain from WHO through Activities, Outputs, Outcomes, to Impact — with assumptions at every link.</a:t>
            </a:r>
            <a:endParaRPr lang="en-US" sz="1050" dirty="0"/>
          </a:p>
        </p:txBody>
      </p:sp>
      <p:sp>
        <p:nvSpPr>
          <p:cNvPr id="17" name="Shape 14"/>
          <p:cNvSpPr/>
          <p:nvPr/>
        </p:nvSpPr>
        <p:spPr>
          <a:xfrm>
            <a:off x="4631436" y="1508760"/>
            <a:ext cx="1993392" cy="2697480"/>
          </a:xfrm>
          <a:prstGeom prst="roundRect">
            <a:avLst>
              <a:gd name="adj" fmla="val 367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18" name="Text 15"/>
          <p:cNvSpPr/>
          <p:nvPr/>
        </p:nvSpPr>
        <p:spPr>
          <a:xfrm>
            <a:off x="4768596" y="1645920"/>
            <a:ext cx="1719072" cy="548640"/>
          </a:xfrm>
          <a:prstGeom prst="rect">
            <a:avLst/>
          </a:prstGeom>
          <a:noFill/>
          <a:ln/>
        </p:spPr>
        <p:txBody>
          <a:bodyPr wrap="square" lIns="0" tIns="0" rIns="0" bIns="0" rtlCol="0" anchor="ctr"/>
          <a:lstStyle/>
          <a:p>
            <a:pPr indent="0" marL="0">
              <a:buNone/>
            </a:pPr>
            <a:r>
              <a:rPr lang="en-US" sz="3800" b="1" dirty="0">
                <a:solidFill>
                  <a:srgbClr val="5BA9D8"/>
                </a:solidFill>
                <a:latin typeface="Calibri Light" pitchFamily="34" charset="0"/>
                <a:ea typeface="Calibri Light" pitchFamily="34" charset="-122"/>
                <a:cs typeface="Calibri Light" pitchFamily="34" charset="-120"/>
              </a:rPr>
              <a:t>03</a:t>
            </a:r>
            <a:endParaRPr lang="en-US" sz="3800" dirty="0"/>
          </a:p>
        </p:txBody>
      </p:sp>
      <p:sp>
        <p:nvSpPr>
          <p:cNvPr id="19" name="Text 16"/>
          <p:cNvSpPr/>
          <p:nvPr/>
        </p:nvSpPr>
        <p:spPr>
          <a:xfrm>
            <a:off x="4768596" y="2258568"/>
            <a:ext cx="1719072" cy="201168"/>
          </a:xfrm>
          <a:prstGeom prst="rect">
            <a:avLst/>
          </a:prstGeom>
          <a:noFill/>
          <a:ln/>
        </p:spPr>
        <p:txBody>
          <a:bodyPr wrap="square" lIns="0" tIns="0" rIns="0" bIns="0" rtlCol="0" anchor="ctr"/>
          <a:lstStyle/>
          <a:p>
            <a:pPr indent="0" marL="0">
              <a:buNone/>
            </a:pPr>
            <a:r>
              <a:rPr lang="en-US" sz="850" b="1" spc="200" kern="0" dirty="0">
                <a:solidFill>
                  <a:srgbClr val="9AAEC0"/>
                </a:solidFill>
                <a:latin typeface="Calibri" pitchFamily="34" charset="0"/>
                <a:ea typeface="Calibri" pitchFamily="34" charset="-122"/>
                <a:cs typeface="Calibri" pitchFamily="34" charset="-120"/>
              </a:rPr>
              <a:t>MODULE 4</a:t>
            </a:r>
            <a:endParaRPr lang="en-US" sz="850" dirty="0"/>
          </a:p>
        </p:txBody>
      </p:sp>
      <p:sp>
        <p:nvSpPr>
          <p:cNvPr id="20" name="Text 17"/>
          <p:cNvSpPr/>
          <p:nvPr/>
        </p:nvSpPr>
        <p:spPr>
          <a:xfrm>
            <a:off x="4768596" y="2468880"/>
            <a:ext cx="1719072" cy="502920"/>
          </a:xfrm>
          <a:prstGeom prst="rect">
            <a:avLst/>
          </a:prstGeom>
          <a:noFill/>
          <a:ln/>
        </p:spPr>
        <p:txBody>
          <a:bodyPr wrap="square" lIns="0" tIns="0" rIns="0" bIns="0" rtlCol="0" anchor="ctr"/>
          <a:lstStyle/>
          <a:p>
            <a:pPr indent="0" marL="0">
              <a:buNone/>
            </a:pPr>
            <a:r>
              <a:rPr lang="en-US" sz="1500" b="1" dirty="0">
                <a:solidFill>
                  <a:srgbClr val="15314F"/>
                </a:solidFill>
                <a:latin typeface="Calibri Light" pitchFamily="34" charset="0"/>
                <a:ea typeface="Calibri Light" pitchFamily="34" charset="-122"/>
                <a:cs typeface="Calibri Light" pitchFamily="34" charset="-120"/>
              </a:rPr>
              <a:t>Logframe</a:t>
            </a:r>
            <a:endParaRPr lang="en-US" sz="1500" dirty="0"/>
          </a:p>
        </p:txBody>
      </p:sp>
      <p:sp>
        <p:nvSpPr>
          <p:cNvPr id="21" name="Shape 18"/>
          <p:cNvSpPr/>
          <p:nvPr/>
        </p:nvSpPr>
        <p:spPr>
          <a:xfrm>
            <a:off x="4768596" y="3017520"/>
            <a:ext cx="548640" cy="0"/>
          </a:xfrm>
          <a:prstGeom prst="line">
            <a:avLst/>
          </a:prstGeom>
          <a:noFill/>
          <a:ln w="9525">
            <a:solidFill>
              <a:srgbClr val="5BA9D8"/>
            </a:solidFill>
            <a:prstDash val="solid"/>
          </a:ln>
        </p:spPr>
      </p:sp>
      <p:sp>
        <p:nvSpPr>
          <p:cNvPr id="22" name="Text 19"/>
          <p:cNvSpPr/>
          <p:nvPr/>
        </p:nvSpPr>
        <p:spPr>
          <a:xfrm>
            <a:off x="4768596" y="3136392"/>
            <a:ext cx="1719072" cy="1005840"/>
          </a:xfrm>
          <a:prstGeom prst="rect">
            <a:avLst/>
          </a:prstGeom>
          <a:noFill/>
          <a:ln/>
        </p:spPr>
        <p:txBody>
          <a:bodyPr wrap="square" lIns="0" tIns="0" rIns="0" bIns="0" rtlCol="0" anchor="t"/>
          <a:lstStyle/>
          <a:p>
            <a:pPr indent="0" marL="0">
              <a:buNone/>
            </a:pPr>
            <a:r>
              <a:rPr lang="en-US" sz="1050" dirty="0">
                <a:solidFill>
                  <a:srgbClr val="15314F"/>
                </a:solidFill>
                <a:latin typeface="Calibri" pitchFamily="34" charset="0"/>
                <a:ea typeface="Calibri" pitchFamily="34" charset="-122"/>
                <a:cs typeface="Calibri" pitchFamily="34" charset="-120"/>
              </a:rPr>
              <a:t>The 4×4 matrix with narrative, indicators, baselines, targets, and means of verification. The funder-ready artifact.</a:t>
            </a:r>
            <a:endParaRPr lang="en-US" sz="1050" dirty="0"/>
          </a:p>
        </p:txBody>
      </p:sp>
      <p:sp>
        <p:nvSpPr>
          <p:cNvPr id="23" name="Shape 20"/>
          <p:cNvSpPr/>
          <p:nvPr/>
        </p:nvSpPr>
        <p:spPr>
          <a:xfrm>
            <a:off x="6743700" y="1508760"/>
            <a:ext cx="1993392" cy="2697480"/>
          </a:xfrm>
          <a:prstGeom prst="roundRect">
            <a:avLst>
              <a:gd name="adj" fmla="val 3670"/>
            </a:avLst>
          </a:prstGeom>
          <a:solidFill>
            <a:srgbClr val="F8FBFD"/>
          </a:solidFill>
          <a:ln w="6350">
            <a:solidFill>
              <a:srgbClr val="DCE6EE"/>
            </a:solidFill>
            <a:prstDash val="solid"/>
          </a:ln>
          <a:effectLst>
            <a:outerShdw sx="100000" sy="100000" kx="0" ky="0" algn="bl" rotWithShape="0" blurRad="101600" dist="12700" dir="5400000">
              <a:srgbClr val="000000">
                <a:alpha val="5000"/>
              </a:srgbClr>
            </a:outerShdw>
          </a:effectLst>
        </p:spPr>
      </p:sp>
      <p:sp>
        <p:nvSpPr>
          <p:cNvPr id="24" name="Text 21"/>
          <p:cNvSpPr/>
          <p:nvPr/>
        </p:nvSpPr>
        <p:spPr>
          <a:xfrm>
            <a:off x="6880860" y="1645920"/>
            <a:ext cx="1719072" cy="548640"/>
          </a:xfrm>
          <a:prstGeom prst="rect">
            <a:avLst/>
          </a:prstGeom>
          <a:noFill/>
          <a:ln/>
        </p:spPr>
        <p:txBody>
          <a:bodyPr wrap="square" lIns="0" tIns="0" rIns="0" bIns="0" rtlCol="0" anchor="ctr"/>
          <a:lstStyle/>
          <a:p>
            <a:pPr indent="0" marL="0">
              <a:buNone/>
            </a:pPr>
            <a:r>
              <a:rPr lang="en-US" sz="3800" b="1" dirty="0">
                <a:solidFill>
                  <a:srgbClr val="5BA9D8"/>
                </a:solidFill>
                <a:latin typeface="Calibri Light" pitchFamily="34" charset="0"/>
                <a:ea typeface="Calibri Light" pitchFamily="34" charset="-122"/>
                <a:cs typeface="Calibri Light" pitchFamily="34" charset="-120"/>
              </a:rPr>
              <a:t>04</a:t>
            </a:r>
            <a:endParaRPr lang="en-US" sz="3800" dirty="0"/>
          </a:p>
        </p:txBody>
      </p:sp>
      <p:sp>
        <p:nvSpPr>
          <p:cNvPr id="25" name="Text 22"/>
          <p:cNvSpPr/>
          <p:nvPr/>
        </p:nvSpPr>
        <p:spPr>
          <a:xfrm>
            <a:off x="6880860" y="2258568"/>
            <a:ext cx="1719072" cy="201168"/>
          </a:xfrm>
          <a:prstGeom prst="rect">
            <a:avLst/>
          </a:prstGeom>
          <a:noFill/>
          <a:ln/>
        </p:spPr>
        <p:txBody>
          <a:bodyPr wrap="square" lIns="0" tIns="0" rIns="0" bIns="0" rtlCol="0" anchor="ctr"/>
          <a:lstStyle/>
          <a:p>
            <a:pPr indent="0" marL="0">
              <a:buNone/>
            </a:pPr>
            <a:r>
              <a:rPr lang="en-US" sz="850" b="1" spc="200" kern="0" dirty="0">
                <a:solidFill>
                  <a:srgbClr val="9AAEC0"/>
                </a:solidFill>
                <a:latin typeface="Calibri" pitchFamily="34" charset="0"/>
                <a:ea typeface="Calibri" pitchFamily="34" charset="-122"/>
                <a:cs typeface="Calibri" pitchFamily="34" charset="-120"/>
              </a:rPr>
              <a:t>MODULE 5</a:t>
            </a:r>
            <a:endParaRPr lang="en-US" sz="850" dirty="0"/>
          </a:p>
        </p:txBody>
      </p:sp>
      <p:sp>
        <p:nvSpPr>
          <p:cNvPr id="26" name="Text 23"/>
          <p:cNvSpPr/>
          <p:nvPr/>
        </p:nvSpPr>
        <p:spPr>
          <a:xfrm>
            <a:off x="6880860" y="2468880"/>
            <a:ext cx="1719072" cy="502920"/>
          </a:xfrm>
          <a:prstGeom prst="rect">
            <a:avLst/>
          </a:prstGeom>
          <a:noFill/>
          <a:ln/>
        </p:spPr>
        <p:txBody>
          <a:bodyPr wrap="square" lIns="0" tIns="0" rIns="0" bIns="0" rtlCol="0" anchor="ctr"/>
          <a:lstStyle/>
          <a:p>
            <a:pPr indent="0" marL="0">
              <a:buNone/>
            </a:pPr>
            <a:r>
              <a:rPr lang="en-US" sz="1500" b="1" dirty="0">
                <a:solidFill>
                  <a:srgbClr val="15314F"/>
                </a:solidFill>
                <a:latin typeface="Calibri Light" pitchFamily="34" charset="0"/>
                <a:ea typeface="Calibri Light" pitchFamily="34" charset="-122"/>
                <a:cs typeface="Calibri Light" pitchFamily="34" charset="-120"/>
              </a:rPr>
              <a:t>Measurement plan</a:t>
            </a:r>
            <a:endParaRPr lang="en-US" sz="1500" dirty="0"/>
          </a:p>
        </p:txBody>
      </p:sp>
      <p:sp>
        <p:nvSpPr>
          <p:cNvPr id="27" name="Shape 24"/>
          <p:cNvSpPr/>
          <p:nvPr/>
        </p:nvSpPr>
        <p:spPr>
          <a:xfrm>
            <a:off x="6880860" y="3017520"/>
            <a:ext cx="548640" cy="0"/>
          </a:xfrm>
          <a:prstGeom prst="line">
            <a:avLst/>
          </a:prstGeom>
          <a:noFill/>
          <a:ln w="9525">
            <a:solidFill>
              <a:srgbClr val="5BA9D8"/>
            </a:solidFill>
            <a:prstDash val="solid"/>
          </a:ln>
        </p:spPr>
      </p:sp>
      <p:sp>
        <p:nvSpPr>
          <p:cNvPr id="28" name="Text 25"/>
          <p:cNvSpPr/>
          <p:nvPr/>
        </p:nvSpPr>
        <p:spPr>
          <a:xfrm>
            <a:off x="6880860" y="3136392"/>
            <a:ext cx="1719072" cy="1005840"/>
          </a:xfrm>
          <a:prstGeom prst="rect">
            <a:avLst/>
          </a:prstGeom>
          <a:noFill/>
          <a:ln/>
        </p:spPr>
        <p:txBody>
          <a:bodyPr wrap="square" lIns="0" tIns="0" rIns="0" bIns="0" rtlCol="0" anchor="t"/>
          <a:lstStyle/>
          <a:p>
            <a:pPr indent="0" marL="0">
              <a:buNone/>
            </a:pPr>
            <a:r>
              <a:rPr lang="en-US" sz="1050" dirty="0">
                <a:solidFill>
                  <a:srgbClr val="15314F"/>
                </a:solidFill>
                <a:latin typeface="Calibri" pitchFamily="34" charset="0"/>
                <a:ea typeface="Calibri" pitchFamily="34" charset="-122"/>
                <a:cs typeface="Calibri" pitchFamily="34" charset="-120"/>
              </a:rPr>
              <a:t>SMART indicators, means of verification, and an assumption register with risk ratings. How you'll learn and improve.</a:t>
            </a:r>
            <a:endParaRPr lang="en-US" sz="1050" dirty="0"/>
          </a:p>
        </p:txBody>
      </p:sp>
      <p:sp>
        <p:nvSpPr>
          <p:cNvPr id="29" name="Shape 26"/>
          <p:cNvSpPr/>
          <p:nvPr/>
        </p:nvSpPr>
        <p:spPr>
          <a:xfrm>
            <a:off x="502920" y="4732020"/>
            <a:ext cx="8138160" cy="0"/>
          </a:xfrm>
          <a:prstGeom prst="line">
            <a:avLst/>
          </a:prstGeom>
          <a:noFill/>
          <a:ln w="9525">
            <a:solidFill>
              <a:srgbClr val="DCE6EE"/>
            </a:solidFill>
            <a:prstDash val="solid"/>
          </a:ln>
        </p:spPr>
      </p:sp>
      <p:sp>
        <p:nvSpPr>
          <p:cNvPr id="30" name="Text 27"/>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31" name="Text 28"/>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32" name="Text 29"/>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The four questions every great program must answer</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Your artifacts, mapped to the questions they answer</a:t>
            </a:r>
            <a:endParaRPr lang="en-US" sz="3000" dirty="0"/>
          </a:p>
        </p:txBody>
      </p:sp>
      <p:sp>
        <p:nvSpPr>
          <p:cNvPr id="5" name="Text 2"/>
          <p:cNvSpPr/>
          <p:nvPr/>
        </p:nvSpPr>
        <p:spPr>
          <a:xfrm>
            <a:off x="502920" y="1645920"/>
            <a:ext cx="640080" cy="713232"/>
          </a:xfrm>
          <a:prstGeom prst="rect">
            <a:avLst/>
          </a:prstGeom>
          <a:noFill/>
          <a:ln/>
        </p:spPr>
        <p:txBody>
          <a:bodyPr wrap="square" lIns="0" tIns="0" rIns="0" bIns="0" rtlCol="0" anchor="t"/>
          <a:lstStyle/>
          <a:p>
            <a:pPr algn="ctr" indent="0" marL="0">
              <a:buNone/>
            </a:pPr>
            <a:r>
              <a:rPr lang="en-US" sz="3200" b="1" dirty="0">
                <a:solidFill>
                  <a:srgbClr val="5BA9D8"/>
                </a:solidFill>
                <a:latin typeface="Calibri Light" pitchFamily="34" charset="0"/>
                <a:ea typeface="Calibri Light" pitchFamily="34" charset="-122"/>
                <a:cs typeface="Calibri Light" pitchFamily="34" charset="-120"/>
              </a:rPr>
              <a:t>01</a:t>
            </a:r>
            <a:endParaRPr lang="en-US" sz="3200" dirty="0"/>
          </a:p>
        </p:txBody>
      </p:sp>
      <p:sp>
        <p:nvSpPr>
          <p:cNvPr id="6" name="Text 3"/>
          <p:cNvSpPr/>
          <p:nvPr/>
        </p:nvSpPr>
        <p:spPr>
          <a:xfrm>
            <a:off x="1280160" y="1627632"/>
            <a:ext cx="5212080" cy="411480"/>
          </a:xfrm>
          <a:prstGeom prst="rect">
            <a:avLst/>
          </a:prstGeom>
          <a:noFill/>
          <a:ln/>
        </p:spPr>
        <p:txBody>
          <a:bodyPr wrap="square" lIns="0" tIns="0" rIns="0" bIns="0" rtlCol="0" anchor="ctr"/>
          <a:lstStyle/>
          <a:p>
            <a:pPr indent="0" marL="0">
              <a:buNone/>
            </a:pPr>
            <a:r>
              <a:rPr lang="en-US" sz="1450" dirty="0">
                <a:solidFill>
                  <a:srgbClr val="15314F"/>
                </a:solidFill>
                <a:latin typeface="Calibri Light" pitchFamily="34" charset="0"/>
                <a:ea typeface="Calibri Light" pitchFamily="34" charset="-122"/>
                <a:cs typeface="Calibri Light" pitchFamily="34" charset="-120"/>
              </a:rPr>
              <a:t>Who is this program for, and what are we trying to change?</a:t>
            </a:r>
            <a:endParaRPr lang="en-US" sz="1450" dirty="0"/>
          </a:p>
        </p:txBody>
      </p:sp>
      <p:sp>
        <p:nvSpPr>
          <p:cNvPr id="7" name="Text 4"/>
          <p:cNvSpPr/>
          <p:nvPr/>
        </p:nvSpPr>
        <p:spPr>
          <a:xfrm>
            <a:off x="1280160" y="1965960"/>
            <a:ext cx="5212080" cy="182880"/>
          </a:xfrm>
          <a:prstGeom prst="rect">
            <a:avLst/>
          </a:prstGeom>
          <a:noFill/>
          <a:ln/>
        </p:spPr>
        <p:txBody>
          <a:bodyPr wrap="square" lIns="0" tIns="0" rIns="0" bIns="0" rtlCol="0" anchor="ctr"/>
          <a:lstStyle/>
          <a:p>
            <a:pPr indent="0" marL="0">
              <a:buNone/>
            </a:pPr>
            <a:r>
              <a:rPr lang="en-US" sz="800" b="1" spc="200" kern="0" dirty="0">
                <a:solidFill>
                  <a:srgbClr val="9AAEC0"/>
                </a:solidFill>
                <a:latin typeface="Calibri" pitchFamily="34" charset="0"/>
                <a:ea typeface="Calibri" pitchFamily="34" charset="-122"/>
                <a:cs typeface="Calibri" pitchFamily="34" charset="-120"/>
              </a:rPr>
              <a:t>ANSWERED BY</a:t>
            </a:r>
            <a:endParaRPr lang="en-US" sz="800" dirty="0"/>
          </a:p>
        </p:txBody>
      </p:sp>
      <p:sp>
        <p:nvSpPr>
          <p:cNvPr id="8" name="Text 5"/>
          <p:cNvSpPr/>
          <p:nvPr/>
        </p:nvSpPr>
        <p:spPr>
          <a:xfrm>
            <a:off x="6583680" y="1719072"/>
            <a:ext cx="2468880" cy="457200"/>
          </a:xfrm>
          <a:prstGeom prst="rect">
            <a:avLst/>
          </a:prstGeom>
          <a:noFill/>
          <a:ln/>
        </p:spPr>
        <p:txBody>
          <a:bodyPr wrap="square" lIns="0" tIns="0" rIns="0" bIns="0" rtlCol="0" anchor="ctr"/>
          <a:lstStyle/>
          <a:p>
            <a:pPr algn="r" indent="0" marL="0">
              <a:buNone/>
            </a:pPr>
            <a:r>
              <a:rPr lang="en-US" sz="1100" b="1" dirty="0">
                <a:solidFill>
                  <a:srgbClr val="5BA9D8"/>
                </a:solidFill>
                <a:latin typeface="Calibri" pitchFamily="34" charset="0"/>
                <a:ea typeface="Calibri" pitchFamily="34" charset="-122"/>
                <a:cs typeface="Calibri" pitchFamily="34" charset="-120"/>
              </a:rPr>
              <a:t>Q-Zero  +  Impact Pathway</a:t>
            </a:r>
            <a:endParaRPr lang="en-US" sz="1100" dirty="0"/>
          </a:p>
        </p:txBody>
      </p:sp>
      <p:sp>
        <p:nvSpPr>
          <p:cNvPr id="9" name="Shape 6"/>
          <p:cNvSpPr/>
          <p:nvPr/>
        </p:nvSpPr>
        <p:spPr>
          <a:xfrm>
            <a:off x="502920" y="2276856"/>
            <a:ext cx="8138160" cy="0"/>
          </a:xfrm>
          <a:prstGeom prst="line">
            <a:avLst/>
          </a:prstGeom>
          <a:noFill/>
          <a:ln w="6350">
            <a:solidFill>
              <a:srgbClr val="DCE6EE"/>
            </a:solidFill>
            <a:prstDash val="solid"/>
          </a:ln>
        </p:spPr>
      </p:sp>
      <p:sp>
        <p:nvSpPr>
          <p:cNvPr id="10" name="Text 7"/>
          <p:cNvSpPr/>
          <p:nvPr/>
        </p:nvSpPr>
        <p:spPr>
          <a:xfrm>
            <a:off x="502920" y="2450592"/>
            <a:ext cx="640080" cy="713232"/>
          </a:xfrm>
          <a:prstGeom prst="rect">
            <a:avLst/>
          </a:prstGeom>
          <a:noFill/>
          <a:ln/>
        </p:spPr>
        <p:txBody>
          <a:bodyPr wrap="square" lIns="0" tIns="0" rIns="0" bIns="0" rtlCol="0" anchor="t"/>
          <a:lstStyle/>
          <a:p>
            <a:pPr algn="ctr" indent="0" marL="0">
              <a:buNone/>
            </a:pPr>
            <a:r>
              <a:rPr lang="en-US" sz="3200" b="1" dirty="0">
                <a:solidFill>
                  <a:srgbClr val="5BA9D8"/>
                </a:solidFill>
                <a:latin typeface="Calibri Light" pitchFamily="34" charset="0"/>
                <a:ea typeface="Calibri Light" pitchFamily="34" charset="-122"/>
                <a:cs typeface="Calibri Light" pitchFamily="34" charset="-120"/>
              </a:rPr>
              <a:t>02</a:t>
            </a:r>
            <a:endParaRPr lang="en-US" sz="3200" dirty="0"/>
          </a:p>
        </p:txBody>
      </p:sp>
      <p:sp>
        <p:nvSpPr>
          <p:cNvPr id="11" name="Text 8"/>
          <p:cNvSpPr/>
          <p:nvPr/>
        </p:nvSpPr>
        <p:spPr>
          <a:xfrm>
            <a:off x="1280160" y="2432304"/>
            <a:ext cx="5212080" cy="411480"/>
          </a:xfrm>
          <a:prstGeom prst="rect">
            <a:avLst/>
          </a:prstGeom>
          <a:noFill/>
          <a:ln/>
        </p:spPr>
        <p:txBody>
          <a:bodyPr wrap="square" lIns="0" tIns="0" rIns="0" bIns="0" rtlCol="0" anchor="ctr"/>
          <a:lstStyle/>
          <a:p>
            <a:pPr indent="0" marL="0">
              <a:buNone/>
            </a:pPr>
            <a:r>
              <a:rPr lang="en-US" sz="1450" dirty="0">
                <a:solidFill>
                  <a:srgbClr val="15314F"/>
                </a:solidFill>
                <a:latin typeface="Calibri Light" pitchFamily="34" charset="0"/>
                <a:ea typeface="Calibri Light" pitchFamily="34" charset="-122"/>
                <a:cs typeface="Calibri Light" pitchFamily="34" charset="-120"/>
              </a:rPr>
              <a:t>How does what we do logically produce that change?</a:t>
            </a:r>
            <a:endParaRPr lang="en-US" sz="1450" dirty="0"/>
          </a:p>
        </p:txBody>
      </p:sp>
      <p:sp>
        <p:nvSpPr>
          <p:cNvPr id="12" name="Text 9"/>
          <p:cNvSpPr/>
          <p:nvPr/>
        </p:nvSpPr>
        <p:spPr>
          <a:xfrm>
            <a:off x="1280160" y="2770632"/>
            <a:ext cx="5212080" cy="182880"/>
          </a:xfrm>
          <a:prstGeom prst="rect">
            <a:avLst/>
          </a:prstGeom>
          <a:noFill/>
          <a:ln/>
        </p:spPr>
        <p:txBody>
          <a:bodyPr wrap="square" lIns="0" tIns="0" rIns="0" bIns="0" rtlCol="0" anchor="ctr"/>
          <a:lstStyle/>
          <a:p>
            <a:pPr indent="0" marL="0">
              <a:buNone/>
            </a:pPr>
            <a:r>
              <a:rPr lang="en-US" sz="800" b="1" spc="200" kern="0" dirty="0">
                <a:solidFill>
                  <a:srgbClr val="9AAEC0"/>
                </a:solidFill>
                <a:latin typeface="Calibri" pitchFamily="34" charset="0"/>
                <a:ea typeface="Calibri" pitchFamily="34" charset="-122"/>
                <a:cs typeface="Calibri" pitchFamily="34" charset="-120"/>
              </a:rPr>
              <a:t>ANSWERED BY</a:t>
            </a:r>
            <a:endParaRPr lang="en-US" sz="800" dirty="0"/>
          </a:p>
        </p:txBody>
      </p:sp>
      <p:sp>
        <p:nvSpPr>
          <p:cNvPr id="13" name="Text 10"/>
          <p:cNvSpPr/>
          <p:nvPr/>
        </p:nvSpPr>
        <p:spPr>
          <a:xfrm>
            <a:off x="6583680" y="2523744"/>
            <a:ext cx="2468880" cy="457200"/>
          </a:xfrm>
          <a:prstGeom prst="rect">
            <a:avLst/>
          </a:prstGeom>
          <a:noFill/>
          <a:ln/>
        </p:spPr>
        <p:txBody>
          <a:bodyPr wrap="square" lIns="0" tIns="0" rIns="0" bIns="0" rtlCol="0" anchor="ctr"/>
          <a:lstStyle/>
          <a:p>
            <a:pPr algn="r" indent="0" marL="0">
              <a:buNone/>
            </a:pPr>
            <a:r>
              <a:rPr lang="en-US" sz="1100" b="1" dirty="0">
                <a:solidFill>
                  <a:srgbClr val="5BA9D8"/>
                </a:solidFill>
                <a:latin typeface="Calibri" pitchFamily="34" charset="0"/>
                <a:ea typeface="Calibri" pitchFamily="34" charset="-122"/>
                <a:cs typeface="Calibri" pitchFamily="34" charset="-120"/>
              </a:rPr>
              <a:t>Impact Pathway  +  Logframe</a:t>
            </a:r>
            <a:endParaRPr lang="en-US" sz="1100" dirty="0"/>
          </a:p>
        </p:txBody>
      </p:sp>
      <p:sp>
        <p:nvSpPr>
          <p:cNvPr id="14" name="Shape 11"/>
          <p:cNvSpPr/>
          <p:nvPr/>
        </p:nvSpPr>
        <p:spPr>
          <a:xfrm>
            <a:off x="502920" y="3081528"/>
            <a:ext cx="8138160" cy="0"/>
          </a:xfrm>
          <a:prstGeom prst="line">
            <a:avLst/>
          </a:prstGeom>
          <a:noFill/>
          <a:ln w="6350">
            <a:solidFill>
              <a:srgbClr val="DCE6EE"/>
            </a:solidFill>
            <a:prstDash val="solid"/>
          </a:ln>
        </p:spPr>
      </p:sp>
      <p:sp>
        <p:nvSpPr>
          <p:cNvPr id="15" name="Text 12"/>
          <p:cNvSpPr/>
          <p:nvPr/>
        </p:nvSpPr>
        <p:spPr>
          <a:xfrm>
            <a:off x="502920" y="3255264"/>
            <a:ext cx="640080" cy="713232"/>
          </a:xfrm>
          <a:prstGeom prst="rect">
            <a:avLst/>
          </a:prstGeom>
          <a:noFill/>
          <a:ln/>
        </p:spPr>
        <p:txBody>
          <a:bodyPr wrap="square" lIns="0" tIns="0" rIns="0" bIns="0" rtlCol="0" anchor="t"/>
          <a:lstStyle/>
          <a:p>
            <a:pPr algn="ctr" indent="0" marL="0">
              <a:buNone/>
            </a:pPr>
            <a:r>
              <a:rPr lang="en-US" sz="3200" b="1" dirty="0">
                <a:solidFill>
                  <a:srgbClr val="5BA9D8"/>
                </a:solidFill>
                <a:latin typeface="Calibri Light" pitchFamily="34" charset="0"/>
                <a:ea typeface="Calibri Light" pitchFamily="34" charset="-122"/>
                <a:cs typeface="Calibri Light" pitchFamily="34" charset="-120"/>
              </a:rPr>
              <a:t>03</a:t>
            </a:r>
            <a:endParaRPr lang="en-US" sz="3200" dirty="0"/>
          </a:p>
        </p:txBody>
      </p:sp>
      <p:sp>
        <p:nvSpPr>
          <p:cNvPr id="16" name="Text 13"/>
          <p:cNvSpPr/>
          <p:nvPr/>
        </p:nvSpPr>
        <p:spPr>
          <a:xfrm>
            <a:off x="1280160" y="3236976"/>
            <a:ext cx="5212080" cy="411480"/>
          </a:xfrm>
          <a:prstGeom prst="rect">
            <a:avLst/>
          </a:prstGeom>
          <a:noFill/>
          <a:ln/>
        </p:spPr>
        <p:txBody>
          <a:bodyPr wrap="square" lIns="0" tIns="0" rIns="0" bIns="0" rtlCol="0" anchor="ctr"/>
          <a:lstStyle/>
          <a:p>
            <a:pPr indent="0" marL="0">
              <a:buNone/>
            </a:pPr>
            <a:r>
              <a:rPr lang="en-US" sz="1450" dirty="0">
                <a:solidFill>
                  <a:srgbClr val="15314F"/>
                </a:solidFill>
                <a:latin typeface="Calibri Light" pitchFamily="34" charset="0"/>
                <a:ea typeface="Calibri Light" pitchFamily="34" charset="-122"/>
                <a:cs typeface="Calibri Light" pitchFamily="34" charset="-120"/>
              </a:rPr>
              <a:t>How will we know if it worked?</a:t>
            </a:r>
            <a:endParaRPr lang="en-US" sz="1450" dirty="0"/>
          </a:p>
        </p:txBody>
      </p:sp>
      <p:sp>
        <p:nvSpPr>
          <p:cNvPr id="17" name="Text 14"/>
          <p:cNvSpPr/>
          <p:nvPr/>
        </p:nvSpPr>
        <p:spPr>
          <a:xfrm>
            <a:off x="1280160" y="3575304"/>
            <a:ext cx="5212080" cy="182880"/>
          </a:xfrm>
          <a:prstGeom prst="rect">
            <a:avLst/>
          </a:prstGeom>
          <a:noFill/>
          <a:ln/>
        </p:spPr>
        <p:txBody>
          <a:bodyPr wrap="square" lIns="0" tIns="0" rIns="0" bIns="0" rtlCol="0" anchor="ctr"/>
          <a:lstStyle/>
          <a:p>
            <a:pPr indent="0" marL="0">
              <a:buNone/>
            </a:pPr>
            <a:r>
              <a:rPr lang="en-US" sz="800" b="1" spc="200" kern="0" dirty="0">
                <a:solidFill>
                  <a:srgbClr val="9AAEC0"/>
                </a:solidFill>
                <a:latin typeface="Calibri" pitchFamily="34" charset="0"/>
                <a:ea typeface="Calibri" pitchFamily="34" charset="-122"/>
                <a:cs typeface="Calibri" pitchFamily="34" charset="-120"/>
              </a:rPr>
              <a:t>ANSWERED BY</a:t>
            </a:r>
            <a:endParaRPr lang="en-US" sz="800" dirty="0"/>
          </a:p>
        </p:txBody>
      </p:sp>
      <p:sp>
        <p:nvSpPr>
          <p:cNvPr id="18" name="Text 15"/>
          <p:cNvSpPr/>
          <p:nvPr/>
        </p:nvSpPr>
        <p:spPr>
          <a:xfrm>
            <a:off x="6583680" y="3328416"/>
            <a:ext cx="2468880" cy="457200"/>
          </a:xfrm>
          <a:prstGeom prst="rect">
            <a:avLst/>
          </a:prstGeom>
          <a:noFill/>
          <a:ln/>
        </p:spPr>
        <p:txBody>
          <a:bodyPr wrap="square" lIns="0" tIns="0" rIns="0" bIns="0" rtlCol="0" anchor="ctr"/>
          <a:lstStyle/>
          <a:p>
            <a:pPr algn="r" indent="0" marL="0">
              <a:buNone/>
            </a:pPr>
            <a:r>
              <a:rPr lang="en-US" sz="1100" b="1" dirty="0">
                <a:solidFill>
                  <a:srgbClr val="5BA9D8"/>
                </a:solidFill>
                <a:latin typeface="Calibri" pitchFamily="34" charset="0"/>
                <a:ea typeface="Calibri" pitchFamily="34" charset="-122"/>
                <a:cs typeface="Calibri" pitchFamily="34" charset="-120"/>
              </a:rPr>
              <a:t>Logframe  +  Measurement Plan</a:t>
            </a:r>
            <a:endParaRPr lang="en-US" sz="1100" dirty="0"/>
          </a:p>
        </p:txBody>
      </p:sp>
      <p:sp>
        <p:nvSpPr>
          <p:cNvPr id="19" name="Shape 16"/>
          <p:cNvSpPr/>
          <p:nvPr/>
        </p:nvSpPr>
        <p:spPr>
          <a:xfrm>
            <a:off x="502920" y="3886200"/>
            <a:ext cx="8138160" cy="0"/>
          </a:xfrm>
          <a:prstGeom prst="line">
            <a:avLst/>
          </a:prstGeom>
          <a:noFill/>
          <a:ln w="6350">
            <a:solidFill>
              <a:srgbClr val="DCE6EE"/>
            </a:solidFill>
            <a:prstDash val="solid"/>
          </a:ln>
        </p:spPr>
      </p:sp>
      <p:sp>
        <p:nvSpPr>
          <p:cNvPr id="20" name="Text 17"/>
          <p:cNvSpPr/>
          <p:nvPr/>
        </p:nvSpPr>
        <p:spPr>
          <a:xfrm>
            <a:off x="502920" y="4059936"/>
            <a:ext cx="640080" cy="713232"/>
          </a:xfrm>
          <a:prstGeom prst="rect">
            <a:avLst/>
          </a:prstGeom>
          <a:noFill/>
          <a:ln/>
        </p:spPr>
        <p:txBody>
          <a:bodyPr wrap="square" lIns="0" tIns="0" rIns="0" bIns="0" rtlCol="0" anchor="t"/>
          <a:lstStyle/>
          <a:p>
            <a:pPr algn="ctr" indent="0" marL="0">
              <a:buNone/>
            </a:pPr>
            <a:r>
              <a:rPr lang="en-US" sz="3200" b="1" dirty="0">
                <a:solidFill>
                  <a:srgbClr val="5BA9D8"/>
                </a:solidFill>
                <a:latin typeface="Calibri Light" pitchFamily="34" charset="0"/>
                <a:ea typeface="Calibri Light" pitchFamily="34" charset="-122"/>
                <a:cs typeface="Calibri Light" pitchFamily="34" charset="-120"/>
              </a:rPr>
              <a:t>04</a:t>
            </a:r>
            <a:endParaRPr lang="en-US" sz="3200" dirty="0"/>
          </a:p>
        </p:txBody>
      </p:sp>
      <p:sp>
        <p:nvSpPr>
          <p:cNvPr id="21" name="Text 18"/>
          <p:cNvSpPr/>
          <p:nvPr/>
        </p:nvSpPr>
        <p:spPr>
          <a:xfrm>
            <a:off x="1280160" y="4041648"/>
            <a:ext cx="5212080" cy="411480"/>
          </a:xfrm>
          <a:prstGeom prst="rect">
            <a:avLst/>
          </a:prstGeom>
          <a:noFill/>
          <a:ln/>
        </p:spPr>
        <p:txBody>
          <a:bodyPr wrap="square" lIns="0" tIns="0" rIns="0" bIns="0" rtlCol="0" anchor="ctr"/>
          <a:lstStyle/>
          <a:p>
            <a:pPr indent="0" marL="0">
              <a:buNone/>
            </a:pPr>
            <a:r>
              <a:rPr lang="en-US" sz="1450" dirty="0">
                <a:solidFill>
                  <a:srgbClr val="15314F"/>
                </a:solidFill>
                <a:latin typeface="Calibri Light" pitchFamily="34" charset="0"/>
                <a:ea typeface="Calibri Light" pitchFamily="34" charset="-122"/>
                <a:cs typeface="Calibri Light" pitchFamily="34" charset="-120"/>
              </a:rPr>
              <a:t>What will we do if it doesn't?</a:t>
            </a:r>
            <a:endParaRPr lang="en-US" sz="1450" dirty="0"/>
          </a:p>
        </p:txBody>
      </p:sp>
      <p:sp>
        <p:nvSpPr>
          <p:cNvPr id="22" name="Text 19"/>
          <p:cNvSpPr/>
          <p:nvPr/>
        </p:nvSpPr>
        <p:spPr>
          <a:xfrm>
            <a:off x="1280160" y="4379976"/>
            <a:ext cx="5212080" cy="182880"/>
          </a:xfrm>
          <a:prstGeom prst="rect">
            <a:avLst/>
          </a:prstGeom>
          <a:noFill/>
          <a:ln/>
        </p:spPr>
        <p:txBody>
          <a:bodyPr wrap="square" lIns="0" tIns="0" rIns="0" bIns="0" rtlCol="0" anchor="ctr"/>
          <a:lstStyle/>
          <a:p>
            <a:pPr indent="0" marL="0">
              <a:buNone/>
            </a:pPr>
            <a:r>
              <a:rPr lang="en-US" sz="800" b="1" spc="200" kern="0" dirty="0">
                <a:solidFill>
                  <a:srgbClr val="9AAEC0"/>
                </a:solidFill>
                <a:latin typeface="Calibri" pitchFamily="34" charset="0"/>
                <a:ea typeface="Calibri" pitchFamily="34" charset="-122"/>
                <a:cs typeface="Calibri" pitchFamily="34" charset="-120"/>
              </a:rPr>
              <a:t>ANSWERED BY</a:t>
            </a:r>
            <a:endParaRPr lang="en-US" sz="800" dirty="0"/>
          </a:p>
        </p:txBody>
      </p:sp>
      <p:sp>
        <p:nvSpPr>
          <p:cNvPr id="23" name="Text 20"/>
          <p:cNvSpPr/>
          <p:nvPr/>
        </p:nvSpPr>
        <p:spPr>
          <a:xfrm>
            <a:off x="6583680" y="4133088"/>
            <a:ext cx="2468880" cy="457200"/>
          </a:xfrm>
          <a:prstGeom prst="rect">
            <a:avLst/>
          </a:prstGeom>
          <a:noFill/>
          <a:ln/>
        </p:spPr>
        <p:txBody>
          <a:bodyPr wrap="square" lIns="0" tIns="0" rIns="0" bIns="0" rtlCol="0" anchor="ctr"/>
          <a:lstStyle/>
          <a:p>
            <a:pPr algn="r" indent="0" marL="0">
              <a:buNone/>
            </a:pPr>
            <a:r>
              <a:rPr lang="en-US" sz="1100" b="1" dirty="0">
                <a:solidFill>
                  <a:srgbClr val="5BA9D8"/>
                </a:solidFill>
                <a:latin typeface="Calibri" pitchFamily="34" charset="0"/>
                <a:ea typeface="Calibri" pitchFamily="34" charset="-122"/>
                <a:cs typeface="Calibri" pitchFamily="34" charset="-120"/>
              </a:rPr>
              <a:t>Assumption Register  +  Keep/Modify/Cancel</a:t>
            </a:r>
            <a:endParaRPr lang="en-US" sz="1100" dirty="0"/>
          </a:p>
        </p:txBody>
      </p:sp>
      <p:sp>
        <p:nvSpPr>
          <p:cNvPr id="24" name="Shape 21"/>
          <p:cNvSpPr/>
          <p:nvPr/>
        </p:nvSpPr>
        <p:spPr>
          <a:xfrm>
            <a:off x="502920" y="4732020"/>
            <a:ext cx="8138160" cy="0"/>
          </a:xfrm>
          <a:prstGeom prst="line">
            <a:avLst/>
          </a:prstGeom>
          <a:noFill/>
          <a:ln w="9525">
            <a:solidFill>
              <a:srgbClr val="DCE6EE"/>
            </a:solidFill>
            <a:prstDash val="solid"/>
          </a:ln>
        </p:spPr>
      </p:sp>
      <p:sp>
        <p:nvSpPr>
          <p:cNvPr id="25" name="Text 22"/>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26" name="Text 23"/>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27" name="Text 24"/>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314F"/>
        </a:solidFill>
      </p:bgPr>
    </p:bg>
    <p:spTree>
      <p:nvGrpSpPr>
        <p:cNvPr id="1" name=""/>
        <p:cNvGrpSpPr/>
        <p:nvPr/>
      </p:nvGrpSpPr>
      <p:grpSpPr>
        <a:xfrm>
          <a:off x="0" y="0"/>
          <a:ext cx="0" cy="0"/>
          <a:chOff x="0" y="0"/>
          <a:chExt cx="0" cy="0"/>
        </a:xfrm>
      </p:grpSpPr>
      <p:sp>
        <p:nvSpPr>
          <p:cNvPr id="2" name="Text 0"/>
          <p:cNvSpPr/>
          <p:nvPr/>
        </p:nvSpPr>
        <p:spPr>
          <a:xfrm>
            <a:off x="502920" y="1005840"/>
            <a:ext cx="8138160" cy="365760"/>
          </a:xfrm>
          <a:prstGeom prst="rect">
            <a:avLst/>
          </a:prstGeom>
          <a:noFill/>
          <a:ln/>
        </p:spPr>
        <p:txBody>
          <a:bodyPr wrap="square" lIns="0" tIns="0" rIns="0" bIns="0" rtlCol="0" anchor="ctr"/>
          <a:lstStyle/>
          <a:p>
            <a:pPr algn="ctr" indent="0" marL="0">
              <a:buNone/>
            </a:pPr>
            <a:r>
              <a:rPr lang="en-US" sz="1100" b="1" spc="500" kern="0" dirty="0">
                <a:solidFill>
                  <a:srgbClr val="5BA9D8"/>
                </a:solidFill>
                <a:latin typeface="Calibri" pitchFamily="34" charset="0"/>
                <a:ea typeface="Calibri" pitchFamily="34" charset="-122"/>
                <a:cs typeface="Calibri" pitchFamily="34" charset="-120"/>
              </a:rPr>
              <a:t>THE DECEMBER 2026 GOAL</a:t>
            </a:r>
            <a:endParaRPr lang="en-US" sz="1100" dirty="0"/>
          </a:p>
        </p:txBody>
      </p:sp>
      <p:sp>
        <p:nvSpPr>
          <p:cNvPr id="3" name="Text 1"/>
          <p:cNvSpPr/>
          <p:nvPr/>
        </p:nvSpPr>
        <p:spPr>
          <a:xfrm>
            <a:off x="502920" y="1417320"/>
            <a:ext cx="8138160" cy="1371600"/>
          </a:xfrm>
          <a:prstGeom prst="rect">
            <a:avLst/>
          </a:prstGeom>
          <a:noFill/>
          <a:ln/>
        </p:spPr>
        <p:txBody>
          <a:bodyPr wrap="square" lIns="0" tIns="0" rIns="0" bIns="0" rtlCol="0" anchor="ctr"/>
          <a:lstStyle/>
          <a:p>
            <a:pPr algn="ctr" indent="0" marL="0">
              <a:buNone/>
            </a:pPr>
            <a:r>
              <a:rPr lang="en-US" sz="11000" b="1" dirty="0">
                <a:solidFill>
                  <a:srgbClr val="FFFFFF"/>
                </a:solidFill>
                <a:latin typeface="Calibri Light" pitchFamily="34" charset="0"/>
                <a:ea typeface="Calibri Light" pitchFamily="34" charset="-122"/>
                <a:cs typeface="Calibri Light" pitchFamily="34" charset="-120"/>
              </a:rPr>
              <a:t>100%</a:t>
            </a:r>
            <a:endParaRPr lang="en-US" sz="11000" dirty="0"/>
          </a:p>
        </p:txBody>
      </p:sp>
      <p:sp>
        <p:nvSpPr>
          <p:cNvPr id="4" name="Text 2"/>
          <p:cNvSpPr/>
          <p:nvPr/>
        </p:nvSpPr>
        <p:spPr>
          <a:xfrm>
            <a:off x="914400" y="2880360"/>
            <a:ext cx="7315200" cy="640080"/>
          </a:xfrm>
          <a:prstGeom prst="rect">
            <a:avLst/>
          </a:prstGeom>
          <a:noFill/>
          <a:ln/>
        </p:spPr>
        <p:txBody>
          <a:bodyPr wrap="square" lIns="0" tIns="0" rIns="0" bIns="0" rtlCol="0" anchor="ctr"/>
          <a:lstStyle/>
          <a:p>
            <a:pPr algn="ctr" indent="0" marL="0">
              <a:buNone/>
            </a:pPr>
            <a:r>
              <a:rPr lang="en-US" sz="1800" i="1" dirty="0">
                <a:solidFill>
                  <a:srgbClr val="E5F2FA"/>
                </a:solidFill>
                <a:latin typeface="Calibri Light" pitchFamily="34" charset="0"/>
                <a:ea typeface="Calibri Light" pitchFamily="34" charset="-122"/>
                <a:cs typeface="Calibri Light" pitchFamily="34" charset="-120"/>
              </a:rPr>
              <a:t>of MASGLA program leads with a completed, reviewed TOC artifact package by December 2026.</a:t>
            </a:r>
            <a:endParaRPr lang="en-US" sz="1800" dirty="0"/>
          </a:p>
        </p:txBody>
      </p:sp>
      <p:sp>
        <p:nvSpPr>
          <p:cNvPr id="5" name="Text 3"/>
          <p:cNvSpPr/>
          <p:nvPr/>
        </p:nvSpPr>
        <p:spPr>
          <a:xfrm>
            <a:off x="914400" y="3703320"/>
            <a:ext cx="7315200" cy="365760"/>
          </a:xfrm>
          <a:prstGeom prst="rect">
            <a:avLst/>
          </a:prstGeom>
          <a:noFill/>
          <a:ln/>
        </p:spPr>
        <p:txBody>
          <a:bodyPr wrap="square" lIns="0" tIns="0" rIns="0" bIns="0" rtlCol="0" anchor="ctr"/>
          <a:lstStyle/>
          <a:p>
            <a:pPr algn="ctr" indent="0" marL="0">
              <a:buNone/>
            </a:pPr>
            <a:r>
              <a:rPr lang="en-US" sz="1100" spc="150" kern="0" dirty="0">
                <a:solidFill>
                  <a:srgbClr val="E5F2FA"/>
                </a:solidFill>
                <a:latin typeface="Calibri" pitchFamily="34" charset="0"/>
                <a:ea typeface="Calibri" pitchFamily="34" charset="-122"/>
                <a:cs typeface="Calibri" pitchFamily="34" charset="-120"/>
              </a:rPr>
              <a:t>Q-Zero  ·  Impact Pathway  ·  Logframe  ·  Measurement Plan  —  for your actual assigned program.</a:t>
            </a:r>
            <a:endParaRPr lang="en-US" sz="1100" dirty="0"/>
          </a:p>
        </p:txBody>
      </p:sp>
      <p:sp>
        <p:nvSpPr>
          <p:cNvPr id="6" name="Text 4"/>
          <p:cNvSpPr/>
          <p:nvPr/>
        </p:nvSpPr>
        <p:spPr>
          <a:xfrm>
            <a:off x="502920" y="4777740"/>
            <a:ext cx="813816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MASGLA  ·  Theory of Change  ·  Module 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Reflection  ·  5 minutes</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Three questions to close five weeks</a:t>
            </a:r>
            <a:endParaRPr lang="en-US" sz="3000" dirty="0"/>
          </a:p>
        </p:txBody>
      </p:sp>
      <p:sp>
        <p:nvSpPr>
          <p:cNvPr id="5" name="Text 2"/>
          <p:cNvSpPr/>
          <p:nvPr/>
        </p:nvSpPr>
        <p:spPr>
          <a:xfrm>
            <a:off x="502920" y="1645920"/>
            <a:ext cx="457200" cy="640080"/>
          </a:xfrm>
          <a:prstGeom prst="rect">
            <a:avLst/>
          </a:prstGeom>
          <a:noFill/>
          <a:ln/>
        </p:spPr>
        <p:txBody>
          <a:bodyPr wrap="square" lIns="0" tIns="0" rIns="0" bIns="0" rtlCol="0" anchor="ctr"/>
          <a:lstStyle/>
          <a:p>
            <a:pPr indent="0" marL="0">
              <a:buNone/>
            </a:pPr>
            <a:r>
              <a:rPr lang="en-US" sz="4800" dirty="0">
                <a:solidFill>
                  <a:srgbClr val="5BA9D8"/>
                </a:solidFill>
                <a:latin typeface="Calibri Light" pitchFamily="34" charset="0"/>
                <a:ea typeface="Calibri Light" pitchFamily="34" charset="-122"/>
                <a:cs typeface="Calibri Light" pitchFamily="34" charset="-120"/>
              </a:rPr>
              <a:t>“</a:t>
            </a:r>
            <a:endParaRPr lang="en-US" sz="4800" dirty="0"/>
          </a:p>
        </p:txBody>
      </p:sp>
      <p:sp>
        <p:nvSpPr>
          <p:cNvPr id="6" name="Text 3"/>
          <p:cNvSpPr/>
          <p:nvPr/>
        </p:nvSpPr>
        <p:spPr>
          <a:xfrm>
            <a:off x="1005840" y="1691640"/>
            <a:ext cx="7680960" cy="777240"/>
          </a:xfrm>
          <a:prstGeom prst="rect">
            <a:avLst/>
          </a:prstGeom>
          <a:noFill/>
          <a:ln/>
        </p:spPr>
        <p:txBody>
          <a:bodyPr wrap="square" lIns="0" tIns="0" rIns="0" bIns="0" rtlCol="0" anchor="ctr"/>
          <a:lstStyle/>
          <a:p>
            <a:pPr indent="0" marL="0">
              <a:buNone/>
            </a:pPr>
            <a:r>
              <a:rPr lang="en-US" sz="1400" i="1" dirty="0">
                <a:solidFill>
                  <a:srgbClr val="15314F"/>
                </a:solidFill>
                <a:latin typeface="Calibri Light" pitchFamily="34" charset="0"/>
                <a:ea typeface="Calibri Light" pitchFamily="34" charset="-122"/>
                <a:cs typeface="Calibri Light" pitchFamily="34" charset="-120"/>
              </a:rPr>
              <a:t>What is the one thing about my program I now see differently than I did in Week 1?</a:t>
            </a:r>
            <a:endParaRPr lang="en-US" sz="1400" dirty="0"/>
          </a:p>
        </p:txBody>
      </p:sp>
      <p:sp>
        <p:nvSpPr>
          <p:cNvPr id="7" name="Text 4"/>
          <p:cNvSpPr/>
          <p:nvPr/>
        </p:nvSpPr>
        <p:spPr>
          <a:xfrm>
            <a:off x="502920" y="2514600"/>
            <a:ext cx="457200" cy="640080"/>
          </a:xfrm>
          <a:prstGeom prst="rect">
            <a:avLst/>
          </a:prstGeom>
          <a:noFill/>
          <a:ln/>
        </p:spPr>
        <p:txBody>
          <a:bodyPr wrap="square" lIns="0" tIns="0" rIns="0" bIns="0" rtlCol="0" anchor="ctr"/>
          <a:lstStyle/>
          <a:p>
            <a:pPr indent="0" marL="0">
              <a:buNone/>
            </a:pPr>
            <a:r>
              <a:rPr lang="en-US" sz="4800" dirty="0">
                <a:solidFill>
                  <a:srgbClr val="5BA9D8"/>
                </a:solidFill>
                <a:latin typeface="Calibri Light" pitchFamily="34" charset="0"/>
                <a:ea typeface="Calibri Light" pitchFamily="34" charset="-122"/>
                <a:cs typeface="Calibri Light" pitchFamily="34" charset="-120"/>
              </a:rPr>
              <a:t>“</a:t>
            </a:r>
            <a:endParaRPr lang="en-US" sz="4800" dirty="0"/>
          </a:p>
        </p:txBody>
      </p:sp>
      <p:sp>
        <p:nvSpPr>
          <p:cNvPr id="8" name="Text 5"/>
          <p:cNvSpPr/>
          <p:nvPr/>
        </p:nvSpPr>
        <p:spPr>
          <a:xfrm>
            <a:off x="1005840" y="2560320"/>
            <a:ext cx="7680960" cy="777240"/>
          </a:xfrm>
          <a:prstGeom prst="rect">
            <a:avLst/>
          </a:prstGeom>
          <a:noFill/>
          <a:ln/>
        </p:spPr>
        <p:txBody>
          <a:bodyPr wrap="square" lIns="0" tIns="0" rIns="0" bIns="0" rtlCol="0" anchor="ctr"/>
          <a:lstStyle/>
          <a:p>
            <a:pPr indent="0" marL="0">
              <a:buNone/>
            </a:pPr>
            <a:r>
              <a:rPr lang="en-US" sz="1400" i="1" dirty="0">
                <a:solidFill>
                  <a:srgbClr val="15314F"/>
                </a:solidFill>
                <a:latin typeface="Calibri Light" pitchFamily="34" charset="0"/>
                <a:ea typeface="Calibri Light" pitchFamily="34" charset="-122"/>
                <a:cs typeface="Calibri Light" pitchFamily="34" charset="-120"/>
              </a:rPr>
              <a:t>Where is my TOC still fragile — and what's one concrete step I'll take in the next two weeks to strengthen it?</a:t>
            </a:r>
            <a:endParaRPr lang="en-US" sz="1400" dirty="0"/>
          </a:p>
        </p:txBody>
      </p:sp>
      <p:sp>
        <p:nvSpPr>
          <p:cNvPr id="9" name="Text 6"/>
          <p:cNvSpPr/>
          <p:nvPr/>
        </p:nvSpPr>
        <p:spPr>
          <a:xfrm>
            <a:off x="502920" y="3383280"/>
            <a:ext cx="457200" cy="640080"/>
          </a:xfrm>
          <a:prstGeom prst="rect">
            <a:avLst/>
          </a:prstGeom>
          <a:noFill/>
          <a:ln/>
        </p:spPr>
        <p:txBody>
          <a:bodyPr wrap="square" lIns="0" tIns="0" rIns="0" bIns="0" rtlCol="0" anchor="ctr"/>
          <a:lstStyle/>
          <a:p>
            <a:pPr indent="0" marL="0">
              <a:buNone/>
            </a:pPr>
            <a:r>
              <a:rPr lang="en-US" sz="4800" dirty="0">
                <a:solidFill>
                  <a:srgbClr val="5BA9D8"/>
                </a:solidFill>
                <a:latin typeface="Calibri Light" pitchFamily="34" charset="0"/>
                <a:ea typeface="Calibri Light" pitchFamily="34" charset="-122"/>
                <a:cs typeface="Calibri Light" pitchFamily="34" charset="-120"/>
              </a:rPr>
              <a:t>“</a:t>
            </a:r>
            <a:endParaRPr lang="en-US" sz="4800" dirty="0"/>
          </a:p>
        </p:txBody>
      </p:sp>
      <p:sp>
        <p:nvSpPr>
          <p:cNvPr id="10" name="Text 7"/>
          <p:cNvSpPr/>
          <p:nvPr/>
        </p:nvSpPr>
        <p:spPr>
          <a:xfrm>
            <a:off x="1005840" y="3429000"/>
            <a:ext cx="7680960" cy="777240"/>
          </a:xfrm>
          <a:prstGeom prst="rect">
            <a:avLst/>
          </a:prstGeom>
          <a:noFill/>
          <a:ln/>
        </p:spPr>
        <p:txBody>
          <a:bodyPr wrap="square" lIns="0" tIns="0" rIns="0" bIns="0" rtlCol="0" anchor="ctr"/>
          <a:lstStyle/>
          <a:p>
            <a:pPr indent="0" marL="0">
              <a:buNone/>
            </a:pPr>
            <a:r>
              <a:rPr lang="en-US" sz="1400" i="1" dirty="0">
                <a:solidFill>
                  <a:srgbClr val="15314F"/>
                </a:solidFill>
                <a:latin typeface="Calibri Light" pitchFamily="34" charset="0"/>
                <a:ea typeface="Calibri Light" pitchFamily="34" charset="-122"/>
                <a:cs typeface="Calibri Light" pitchFamily="34" charset="-120"/>
              </a:rPr>
              <a:t>Who on my team needs to see this work, and what specifically am I going to share with them first?</a:t>
            </a:r>
            <a:endParaRPr lang="en-US" sz="1400" dirty="0"/>
          </a:p>
        </p:txBody>
      </p:sp>
      <p:sp>
        <p:nvSpPr>
          <p:cNvPr id="11" name="Shape 8"/>
          <p:cNvSpPr/>
          <p:nvPr/>
        </p:nvSpPr>
        <p:spPr>
          <a:xfrm>
            <a:off x="502920" y="4732020"/>
            <a:ext cx="8138160" cy="0"/>
          </a:xfrm>
          <a:prstGeom prst="line">
            <a:avLst/>
          </a:prstGeom>
          <a:noFill/>
          <a:ln w="9525">
            <a:solidFill>
              <a:srgbClr val="DCE6EE"/>
            </a:solidFill>
            <a:prstDash val="solid"/>
          </a:ln>
        </p:spPr>
      </p:sp>
      <p:sp>
        <p:nvSpPr>
          <p:cNvPr id="12" name="Text 9"/>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13" name="Text 10"/>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14" name="Text 11"/>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89520" y="-45720"/>
            <a:ext cx="1554480" cy="777240"/>
          </a:xfrm>
          <a:prstGeom prst="rect">
            <a:avLst/>
          </a:prstGeom>
        </p:spPr>
      </p:pic>
      <p:sp>
        <p:nvSpPr>
          <p:cNvPr id="3" name="Text 0"/>
          <p:cNvSpPr/>
          <p:nvPr/>
        </p:nvSpPr>
        <p:spPr>
          <a:xfrm>
            <a:off x="502920" y="384048"/>
            <a:ext cx="5943600" cy="274320"/>
          </a:xfrm>
          <a:prstGeom prst="rect">
            <a:avLst/>
          </a:prstGeom>
          <a:noFill/>
          <a:ln/>
        </p:spPr>
        <p:txBody>
          <a:bodyPr wrap="square" lIns="0" tIns="0" rIns="0" bIns="0" rtlCol="0" anchor="ctr"/>
          <a:lstStyle/>
          <a:p>
            <a:pPr indent="0" marL="0">
              <a:buNone/>
            </a:pPr>
            <a:r>
              <a:rPr lang="en-US" sz="1050" dirty="0">
                <a:solidFill>
                  <a:srgbClr val="5A6F82"/>
                </a:solidFill>
                <a:latin typeface="Calibri" pitchFamily="34" charset="0"/>
                <a:ea typeface="Calibri" pitchFamily="34" charset="-122"/>
                <a:cs typeface="Calibri" pitchFamily="34" charset="-120"/>
              </a:rPr>
              <a:t>Key takeaways</a:t>
            </a:r>
            <a:endParaRPr lang="en-US" sz="1050" dirty="0"/>
          </a:p>
        </p:txBody>
      </p:sp>
      <p:sp>
        <p:nvSpPr>
          <p:cNvPr id="4" name="Text 1"/>
          <p:cNvSpPr/>
          <p:nvPr/>
        </p:nvSpPr>
        <p:spPr>
          <a:xfrm>
            <a:off x="502920" y="640080"/>
            <a:ext cx="7315200" cy="868680"/>
          </a:xfrm>
          <a:prstGeom prst="rect">
            <a:avLst/>
          </a:prstGeom>
          <a:noFill/>
          <a:ln/>
        </p:spPr>
        <p:txBody>
          <a:bodyPr wrap="square" lIns="0" tIns="0" rIns="0" bIns="0" rtlCol="0" anchor="ctr"/>
          <a:lstStyle/>
          <a:p>
            <a:pPr indent="0" marL="0">
              <a:buNone/>
            </a:pPr>
            <a:r>
              <a:rPr lang="en-US" sz="3000" dirty="0">
                <a:solidFill>
                  <a:srgbClr val="15314F"/>
                </a:solidFill>
                <a:latin typeface="Calibri Light" pitchFamily="34" charset="0"/>
                <a:ea typeface="Calibri Light" pitchFamily="34" charset="-122"/>
                <a:cs typeface="Calibri Light" pitchFamily="34" charset="-120"/>
              </a:rPr>
              <a:t>What to carry forward — from here into the work</a:t>
            </a:r>
            <a:endParaRPr lang="en-US" sz="3000" dirty="0"/>
          </a:p>
        </p:txBody>
      </p:sp>
      <p:pic>
        <p:nvPicPr>
          <p:cNvPr id="5" name="Image 1" descr="preencoded.png">    </p:cNvPr>
          <p:cNvPicPr>
            <a:picLocks noChangeAspect="1"/>
          </p:cNvPicPr>
          <p:nvPr/>
        </p:nvPicPr>
        <p:blipFill>
          <a:blip r:embed="rId2"/>
          <a:stretch>
            <a:fillRect/>
          </a:stretch>
        </p:blipFill>
        <p:spPr>
          <a:xfrm>
            <a:off x="502920" y="1645920"/>
            <a:ext cx="320040" cy="320040"/>
          </a:xfrm>
          <a:prstGeom prst="rect">
            <a:avLst/>
          </a:prstGeom>
        </p:spPr>
      </p:pic>
      <p:sp>
        <p:nvSpPr>
          <p:cNvPr id="6" name="Text 2"/>
          <p:cNvSpPr/>
          <p:nvPr/>
        </p:nvSpPr>
        <p:spPr>
          <a:xfrm>
            <a:off x="1005840" y="1554480"/>
            <a:ext cx="7680960" cy="320040"/>
          </a:xfrm>
          <a:prstGeom prst="rect">
            <a:avLst/>
          </a:prstGeom>
          <a:noFill/>
          <a:ln/>
        </p:spPr>
        <p:txBody>
          <a:bodyPr wrap="square" lIns="0" tIns="0" rIns="0" bIns="0" rtlCol="0" anchor="ctr"/>
          <a:lstStyle/>
          <a:p>
            <a:pPr indent="0" marL="0">
              <a:buNone/>
            </a:pPr>
            <a:r>
              <a:rPr lang="en-US" sz="1450" b="1" dirty="0">
                <a:solidFill>
                  <a:srgbClr val="15314F"/>
                </a:solidFill>
                <a:latin typeface="Calibri Light" pitchFamily="34" charset="0"/>
                <a:ea typeface="Calibri Light" pitchFamily="34" charset="-122"/>
                <a:cs typeface="Calibri Light" pitchFamily="34" charset="-120"/>
              </a:rPr>
              <a:t>Most programs stop at Level 2. We're moving to Level 3.</a:t>
            </a:r>
            <a:endParaRPr lang="en-US" sz="1450" dirty="0"/>
          </a:p>
        </p:txBody>
      </p:sp>
      <p:sp>
        <p:nvSpPr>
          <p:cNvPr id="7" name="Text 3"/>
          <p:cNvSpPr/>
          <p:nvPr/>
        </p:nvSpPr>
        <p:spPr>
          <a:xfrm>
            <a:off x="1005840" y="1874520"/>
            <a:ext cx="7680960" cy="365760"/>
          </a:xfrm>
          <a:prstGeom prst="rect">
            <a:avLst/>
          </a:prstGeom>
          <a:noFill/>
          <a:ln/>
        </p:spPr>
        <p:txBody>
          <a:bodyPr wrap="square" lIns="0" tIns="0" rIns="0" bIns="0" rtlCol="0" anchor="ctr"/>
          <a:lstStyle/>
          <a:p>
            <a:pPr indent="0" marL="0">
              <a:buNone/>
            </a:pPr>
            <a:r>
              <a:rPr lang="en-US" sz="1150" dirty="0">
                <a:solidFill>
                  <a:srgbClr val="5A6F82"/>
                </a:solidFill>
                <a:latin typeface="Calibri" pitchFamily="34" charset="0"/>
                <a:ea typeface="Calibri" pitchFamily="34" charset="-122"/>
                <a:cs typeface="Calibri" pitchFamily="34" charset="-120"/>
              </a:rPr>
              <a:t>Outcome assessment is where real proof of impact lives. Activity and output tracking aren't enough.</a:t>
            </a:r>
            <a:endParaRPr lang="en-US" sz="1150" dirty="0"/>
          </a:p>
        </p:txBody>
      </p:sp>
      <p:pic>
        <p:nvPicPr>
          <p:cNvPr id="8" name="Image 2" descr="preencoded.png">    </p:cNvPr>
          <p:cNvPicPr>
            <a:picLocks noChangeAspect="1"/>
          </p:cNvPicPr>
          <p:nvPr/>
        </p:nvPicPr>
        <p:blipFill>
          <a:blip r:embed="rId3"/>
          <a:stretch>
            <a:fillRect/>
          </a:stretch>
        </p:blipFill>
        <p:spPr>
          <a:xfrm>
            <a:off x="502920" y="2331720"/>
            <a:ext cx="320040" cy="320040"/>
          </a:xfrm>
          <a:prstGeom prst="rect">
            <a:avLst/>
          </a:prstGeom>
        </p:spPr>
      </p:pic>
      <p:sp>
        <p:nvSpPr>
          <p:cNvPr id="9" name="Text 4"/>
          <p:cNvSpPr/>
          <p:nvPr/>
        </p:nvSpPr>
        <p:spPr>
          <a:xfrm>
            <a:off x="1005840" y="2240280"/>
            <a:ext cx="7680960" cy="320040"/>
          </a:xfrm>
          <a:prstGeom prst="rect">
            <a:avLst/>
          </a:prstGeom>
          <a:noFill/>
          <a:ln/>
        </p:spPr>
        <p:txBody>
          <a:bodyPr wrap="square" lIns="0" tIns="0" rIns="0" bIns="0" rtlCol="0" anchor="ctr"/>
          <a:lstStyle/>
          <a:p>
            <a:pPr indent="0" marL="0">
              <a:buNone/>
            </a:pPr>
            <a:r>
              <a:rPr lang="en-US" sz="1450" b="1" dirty="0">
                <a:solidFill>
                  <a:srgbClr val="15314F"/>
                </a:solidFill>
                <a:latin typeface="Calibri Light" pitchFamily="34" charset="0"/>
                <a:ea typeface="Calibri Light" pitchFamily="34" charset="-122"/>
                <a:cs typeface="Calibri Light" pitchFamily="34" charset="-120"/>
              </a:rPr>
              <a:t>An indicator is only useful if it is SMART.</a:t>
            </a:r>
            <a:endParaRPr lang="en-US" sz="1450" dirty="0"/>
          </a:p>
        </p:txBody>
      </p:sp>
      <p:sp>
        <p:nvSpPr>
          <p:cNvPr id="10" name="Text 5"/>
          <p:cNvSpPr/>
          <p:nvPr/>
        </p:nvSpPr>
        <p:spPr>
          <a:xfrm>
            <a:off x="1005840" y="2560320"/>
            <a:ext cx="7680960" cy="365760"/>
          </a:xfrm>
          <a:prstGeom prst="rect">
            <a:avLst/>
          </a:prstGeom>
          <a:noFill/>
          <a:ln/>
        </p:spPr>
        <p:txBody>
          <a:bodyPr wrap="square" lIns="0" tIns="0" rIns="0" bIns="0" rtlCol="0" anchor="ctr"/>
          <a:lstStyle/>
          <a:p>
            <a:pPr indent="0" marL="0">
              <a:buNone/>
            </a:pPr>
            <a:r>
              <a:rPr lang="en-US" sz="1150" dirty="0">
                <a:solidFill>
                  <a:srgbClr val="5A6F82"/>
                </a:solidFill>
                <a:latin typeface="Calibri" pitchFamily="34" charset="0"/>
                <a:ea typeface="Calibri" pitchFamily="34" charset="-122"/>
                <a:cs typeface="Calibri" pitchFamily="34" charset="-120"/>
              </a:rPr>
              <a:t>Specific, Measurable, Achievable, Relevant, Time-bound. Fail one and you measure the wrong thing.</a:t>
            </a:r>
            <a:endParaRPr lang="en-US" sz="1150" dirty="0"/>
          </a:p>
        </p:txBody>
      </p:sp>
      <p:pic>
        <p:nvPicPr>
          <p:cNvPr id="11" name="Image 3" descr="preencoded.png">    </p:cNvPr>
          <p:cNvPicPr>
            <a:picLocks noChangeAspect="1"/>
          </p:cNvPicPr>
          <p:nvPr/>
        </p:nvPicPr>
        <p:blipFill>
          <a:blip r:embed="rId4"/>
          <a:stretch>
            <a:fillRect/>
          </a:stretch>
        </p:blipFill>
        <p:spPr>
          <a:xfrm>
            <a:off x="502920" y="3017520"/>
            <a:ext cx="320040" cy="320040"/>
          </a:xfrm>
          <a:prstGeom prst="rect">
            <a:avLst/>
          </a:prstGeom>
        </p:spPr>
      </p:pic>
      <p:sp>
        <p:nvSpPr>
          <p:cNvPr id="12" name="Text 6"/>
          <p:cNvSpPr/>
          <p:nvPr/>
        </p:nvSpPr>
        <p:spPr>
          <a:xfrm>
            <a:off x="1005840" y="2926080"/>
            <a:ext cx="7680960" cy="320040"/>
          </a:xfrm>
          <a:prstGeom prst="rect">
            <a:avLst/>
          </a:prstGeom>
          <a:noFill/>
          <a:ln/>
        </p:spPr>
        <p:txBody>
          <a:bodyPr wrap="square" lIns="0" tIns="0" rIns="0" bIns="0" rtlCol="0" anchor="ctr"/>
          <a:lstStyle/>
          <a:p>
            <a:pPr indent="0" marL="0">
              <a:buNone/>
            </a:pPr>
            <a:r>
              <a:rPr lang="en-US" sz="1450" b="1" dirty="0">
                <a:solidFill>
                  <a:srgbClr val="15314F"/>
                </a:solidFill>
                <a:latin typeface="Calibri Light" pitchFamily="34" charset="0"/>
                <a:ea typeface="Calibri Light" pitchFamily="34" charset="-122"/>
                <a:cs typeface="Calibri Light" pitchFamily="34" charset="-120"/>
              </a:rPr>
              <a:t>Assumptions are your early-warning system.</a:t>
            </a:r>
            <a:endParaRPr lang="en-US" sz="1450" dirty="0"/>
          </a:p>
        </p:txBody>
      </p:sp>
      <p:sp>
        <p:nvSpPr>
          <p:cNvPr id="13" name="Text 7"/>
          <p:cNvSpPr/>
          <p:nvPr/>
        </p:nvSpPr>
        <p:spPr>
          <a:xfrm>
            <a:off x="1005840" y="3246120"/>
            <a:ext cx="7680960" cy="365760"/>
          </a:xfrm>
          <a:prstGeom prst="rect">
            <a:avLst/>
          </a:prstGeom>
          <a:noFill/>
          <a:ln/>
        </p:spPr>
        <p:txBody>
          <a:bodyPr wrap="square" lIns="0" tIns="0" rIns="0" bIns="0" rtlCol="0" anchor="ctr"/>
          <a:lstStyle/>
          <a:p>
            <a:pPr indent="0" marL="0">
              <a:buNone/>
            </a:pPr>
            <a:r>
              <a:rPr lang="en-US" sz="1150" dirty="0">
                <a:solidFill>
                  <a:srgbClr val="5A6F82"/>
                </a:solidFill>
                <a:latin typeface="Calibri" pitchFamily="34" charset="0"/>
                <a:ea typeface="Calibri" pitchFamily="34" charset="-122"/>
                <a:cs typeface="Calibri" pitchFamily="34" charset="-120"/>
              </a:rPr>
              <a:t>Catalog by type — Participant, Environmental, Organizational, Causal. Rate by risk. Track changes.</a:t>
            </a:r>
            <a:endParaRPr lang="en-US" sz="1150" dirty="0"/>
          </a:p>
        </p:txBody>
      </p:sp>
      <p:pic>
        <p:nvPicPr>
          <p:cNvPr id="14" name="Image 4" descr="preencoded.png">    </p:cNvPr>
          <p:cNvPicPr>
            <a:picLocks noChangeAspect="1"/>
          </p:cNvPicPr>
          <p:nvPr/>
        </p:nvPicPr>
        <p:blipFill>
          <a:blip r:embed="rId5"/>
          <a:stretch>
            <a:fillRect/>
          </a:stretch>
        </p:blipFill>
        <p:spPr>
          <a:xfrm>
            <a:off x="502920" y="3703320"/>
            <a:ext cx="320040" cy="320040"/>
          </a:xfrm>
          <a:prstGeom prst="rect">
            <a:avLst/>
          </a:prstGeom>
        </p:spPr>
      </p:pic>
      <p:sp>
        <p:nvSpPr>
          <p:cNvPr id="15" name="Text 8"/>
          <p:cNvSpPr/>
          <p:nvPr/>
        </p:nvSpPr>
        <p:spPr>
          <a:xfrm>
            <a:off x="1005840" y="3611880"/>
            <a:ext cx="7680960" cy="320040"/>
          </a:xfrm>
          <a:prstGeom prst="rect">
            <a:avLst/>
          </a:prstGeom>
          <a:noFill/>
          <a:ln/>
        </p:spPr>
        <p:txBody>
          <a:bodyPr wrap="square" lIns="0" tIns="0" rIns="0" bIns="0" rtlCol="0" anchor="ctr"/>
          <a:lstStyle/>
          <a:p>
            <a:pPr indent="0" marL="0">
              <a:buNone/>
            </a:pPr>
            <a:r>
              <a:rPr lang="en-US" sz="1450" b="1" dirty="0">
                <a:solidFill>
                  <a:srgbClr val="15314F"/>
                </a:solidFill>
                <a:latin typeface="Calibri Light" pitchFamily="34" charset="0"/>
                <a:ea typeface="Calibri Light" pitchFamily="34" charset="-122"/>
                <a:cs typeface="Calibri Light" pitchFamily="34" charset="-120"/>
              </a:rPr>
              <a:t>Keep / Modify / Cancel is how learning organizations behave.</a:t>
            </a:r>
            <a:endParaRPr lang="en-US" sz="1450" dirty="0"/>
          </a:p>
        </p:txBody>
      </p:sp>
      <p:sp>
        <p:nvSpPr>
          <p:cNvPr id="16" name="Text 9"/>
          <p:cNvSpPr/>
          <p:nvPr/>
        </p:nvSpPr>
        <p:spPr>
          <a:xfrm>
            <a:off x="1005840" y="3931920"/>
            <a:ext cx="7680960" cy="365760"/>
          </a:xfrm>
          <a:prstGeom prst="rect">
            <a:avLst/>
          </a:prstGeom>
          <a:noFill/>
          <a:ln/>
        </p:spPr>
        <p:txBody>
          <a:bodyPr wrap="square" lIns="0" tIns="0" rIns="0" bIns="0" rtlCol="0" anchor="ctr"/>
          <a:lstStyle/>
          <a:p>
            <a:pPr indent="0" marL="0">
              <a:buNone/>
            </a:pPr>
            <a:r>
              <a:rPr lang="en-US" sz="1150" dirty="0">
                <a:solidFill>
                  <a:srgbClr val="5A6F82"/>
                </a:solidFill>
                <a:latin typeface="Calibri" pitchFamily="34" charset="0"/>
                <a:ea typeface="Calibri" pitchFamily="34" charset="-122"/>
                <a:cs typeface="Calibri" pitchFamily="34" charset="-120"/>
              </a:rPr>
              <a:t>When the data flags a problem: flag, diagnose, decide, document. Modify is usually the right answer.</a:t>
            </a:r>
            <a:endParaRPr lang="en-US" sz="1150" dirty="0"/>
          </a:p>
        </p:txBody>
      </p:sp>
      <p:sp>
        <p:nvSpPr>
          <p:cNvPr id="17" name="Shape 10"/>
          <p:cNvSpPr/>
          <p:nvPr/>
        </p:nvSpPr>
        <p:spPr>
          <a:xfrm>
            <a:off x="502920" y="4732020"/>
            <a:ext cx="8138160" cy="0"/>
          </a:xfrm>
          <a:prstGeom prst="line">
            <a:avLst/>
          </a:prstGeom>
          <a:noFill/>
          <a:ln w="9525">
            <a:solidFill>
              <a:srgbClr val="DCE6EE"/>
            </a:solidFill>
            <a:prstDash val="solid"/>
          </a:ln>
        </p:spPr>
      </p:sp>
      <p:sp>
        <p:nvSpPr>
          <p:cNvPr id="18" name="Text 11"/>
          <p:cNvSpPr/>
          <p:nvPr/>
        </p:nvSpPr>
        <p:spPr>
          <a:xfrm>
            <a:off x="502920" y="4823460"/>
            <a:ext cx="3657600" cy="228600"/>
          </a:xfrm>
          <a:prstGeom prst="rect">
            <a:avLst/>
          </a:prstGeom>
          <a:noFill/>
          <a:ln/>
        </p:spPr>
        <p:txBody>
          <a:bodyPr wrap="square" lIns="0" tIns="0" rIns="0" bIns="0" rtlCol="0" anchor="ctr"/>
          <a:lstStyle/>
          <a:p>
            <a:pPr algn="l" indent="0" marL="0">
              <a:buNone/>
            </a:pPr>
            <a:r>
              <a:rPr lang="en-US" sz="900" dirty="0">
                <a:solidFill>
                  <a:srgbClr val="5A6F82"/>
                </a:solidFill>
                <a:latin typeface="Calibri" pitchFamily="34" charset="0"/>
                <a:ea typeface="Calibri" pitchFamily="34" charset="-122"/>
                <a:cs typeface="Calibri" pitchFamily="34" charset="-120"/>
              </a:rPr>
              <a:t>www.amalandcompany.com</a:t>
            </a:r>
            <a:endParaRPr lang="en-US" sz="900" dirty="0"/>
          </a:p>
        </p:txBody>
      </p:sp>
      <p:sp>
        <p:nvSpPr>
          <p:cNvPr id="19" name="Text 12"/>
          <p:cNvSpPr/>
          <p:nvPr/>
        </p:nvSpPr>
        <p:spPr>
          <a:xfrm>
            <a:off x="2743200" y="4823460"/>
            <a:ext cx="3657600" cy="228600"/>
          </a:xfrm>
          <a:prstGeom prst="rect">
            <a:avLst/>
          </a:prstGeom>
          <a:noFill/>
          <a:ln/>
        </p:spPr>
        <p:txBody>
          <a:bodyPr wrap="square" lIns="0" tIns="0" rIns="0" bIns="0" rtlCol="0" anchor="ctr"/>
          <a:lstStyle/>
          <a:p>
            <a:pPr algn="ctr" indent="0" marL="0">
              <a:buNone/>
            </a:pPr>
            <a:r>
              <a:rPr lang="en-US" sz="850" dirty="0">
                <a:solidFill>
                  <a:srgbClr val="9AAEC0"/>
                </a:solidFill>
                <a:latin typeface="Calibri" pitchFamily="34" charset="0"/>
                <a:ea typeface="Calibri" pitchFamily="34" charset="-122"/>
                <a:cs typeface="Calibri" pitchFamily="34" charset="-120"/>
              </a:rPr>
              <a:t>Module 5  ·  Measuring &amp; Validating Impact</a:t>
            </a:r>
            <a:endParaRPr lang="en-US" sz="850" dirty="0"/>
          </a:p>
        </p:txBody>
      </p:sp>
      <p:sp>
        <p:nvSpPr>
          <p:cNvPr id="20" name="Text 13"/>
          <p:cNvSpPr/>
          <p:nvPr/>
        </p:nvSpPr>
        <p:spPr>
          <a:xfrm>
            <a:off x="4983480" y="4823460"/>
            <a:ext cx="3657600" cy="228600"/>
          </a:xfrm>
          <a:prstGeom prst="rect">
            <a:avLst/>
          </a:prstGeom>
          <a:noFill/>
          <a:ln/>
        </p:spPr>
        <p:txBody>
          <a:bodyPr wrap="square" lIns="0" tIns="0" rIns="0" bIns="0" rtlCol="0" anchor="ctr"/>
          <a:lstStyle/>
          <a:p>
            <a:pPr algn="r" indent="0" marL="0">
              <a:buNone/>
            </a:pPr>
            <a:r>
              <a:rPr lang="en-US" sz="900" dirty="0">
                <a:solidFill>
                  <a:srgbClr val="5A6F82"/>
                </a:solidFill>
                <a:latin typeface="Calibri" pitchFamily="34" charset="0"/>
                <a:ea typeface="Calibri" pitchFamily="34" charset="-122"/>
                <a:cs typeface="Calibri" pitchFamily="34" charset="-120"/>
              </a:rPr>
              <a:t>Page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314F"/>
        </a:solidFill>
      </p:bgPr>
    </p:bg>
    <p:spTree>
      <p:nvGrpSpPr>
        <p:cNvPr id="1" name=""/>
        <p:cNvGrpSpPr/>
        <p:nvPr/>
      </p:nvGrpSpPr>
      <p:grpSpPr>
        <a:xfrm>
          <a:off x="0" y="0"/>
          <a:ext cx="0" cy="0"/>
          <a:chOff x="0" y="0"/>
          <a:chExt cx="0" cy="0"/>
        </a:xfrm>
      </p:grpSpPr>
      <p:sp>
        <p:nvSpPr>
          <p:cNvPr id="2" name="Text 0"/>
          <p:cNvSpPr/>
          <p:nvPr/>
        </p:nvSpPr>
        <p:spPr>
          <a:xfrm>
            <a:off x="502920" y="1325880"/>
            <a:ext cx="8138160" cy="320040"/>
          </a:xfrm>
          <a:prstGeom prst="rect">
            <a:avLst/>
          </a:prstGeom>
          <a:noFill/>
          <a:ln/>
        </p:spPr>
        <p:txBody>
          <a:bodyPr wrap="square" lIns="0" tIns="0" rIns="0" bIns="0" rtlCol="0" anchor="ctr"/>
          <a:lstStyle/>
          <a:p>
            <a:pPr algn="ctr" indent="0" marL="0">
              <a:buNone/>
            </a:pPr>
            <a:r>
              <a:rPr lang="en-US" sz="1200" b="1" spc="500" kern="0" dirty="0">
                <a:solidFill>
                  <a:srgbClr val="5BA9D8"/>
                </a:solidFill>
                <a:latin typeface="Calibri" pitchFamily="34" charset="0"/>
                <a:ea typeface="Calibri" pitchFamily="34" charset="-122"/>
                <a:cs typeface="Calibri" pitchFamily="34" charset="-120"/>
              </a:rPr>
              <a:t>Five weeks  ·  Four artifacts  ·  One theory</a:t>
            </a:r>
            <a:endParaRPr lang="en-US" sz="1200" dirty="0"/>
          </a:p>
        </p:txBody>
      </p:sp>
      <p:sp>
        <p:nvSpPr>
          <p:cNvPr id="3" name="Text 1"/>
          <p:cNvSpPr/>
          <p:nvPr/>
        </p:nvSpPr>
        <p:spPr>
          <a:xfrm>
            <a:off x="502920" y="1691640"/>
            <a:ext cx="8138160" cy="1371600"/>
          </a:xfrm>
          <a:prstGeom prst="rect">
            <a:avLst/>
          </a:prstGeom>
          <a:noFill/>
          <a:ln/>
        </p:spPr>
        <p:txBody>
          <a:bodyPr wrap="square" lIns="0" tIns="0" rIns="0" bIns="0" rtlCol="0" anchor="ctr"/>
          <a:lstStyle/>
          <a:p>
            <a:pPr algn="ctr" indent="0" marL="0">
              <a:buNone/>
            </a:pPr>
            <a:r>
              <a:rPr lang="en-US" sz="3800" dirty="0">
                <a:solidFill>
                  <a:srgbClr val="FFFFFF"/>
                </a:solidFill>
                <a:latin typeface="Calibri Light" pitchFamily="34" charset="0"/>
                <a:ea typeface="Calibri Light" pitchFamily="34" charset="-122"/>
                <a:cs typeface="Calibri Light" pitchFamily="34" charset="-120"/>
              </a:rPr>
              <a:t>Your passion now has a structure others can see, measure, and fund.</a:t>
            </a:r>
            <a:endParaRPr lang="en-US" sz="3800" dirty="0"/>
          </a:p>
        </p:txBody>
      </p:sp>
      <p:sp>
        <p:nvSpPr>
          <p:cNvPr id="4" name="Text 2"/>
          <p:cNvSpPr/>
          <p:nvPr/>
        </p:nvSpPr>
        <p:spPr>
          <a:xfrm>
            <a:off x="914400" y="3246120"/>
            <a:ext cx="7315200" cy="1280160"/>
          </a:xfrm>
          <a:prstGeom prst="rect">
            <a:avLst/>
          </a:prstGeom>
          <a:noFill/>
          <a:ln/>
        </p:spPr>
        <p:txBody>
          <a:bodyPr wrap="square" lIns="0" tIns="0" rIns="0" bIns="0" rtlCol="0" anchor="ctr"/>
          <a:lstStyle/>
          <a:p>
            <a:pPr algn="ctr" indent="0" marL="0">
              <a:buNone/>
            </a:pPr>
            <a:r>
              <a:rPr lang="en-US" sz="1400" dirty="0">
                <a:solidFill>
                  <a:srgbClr val="B8DDF0"/>
                </a:solidFill>
                <a:latin typeface="Calibri" pitchFamily="34" charset="0"/>
                <a:ea typeface="Calibri" pitchFamily="34" charset="-122"/>
                <a:cs typeface="Calibri" pitchFamily="34" charset="-120"/>
              </a:rPr>
              <a:t>Take your TOC into the work. Test it. Revise it. Let the data tell you when to keep, when to modify, when to cancel — and document what you learn so the next program lead doesn't start from zero.</a:t>
            </a:r>
            <a:endParaRPr lang="en-US" sz="1400" dirty="0"/>
          </a:p>
        </p:txBody>
      </p:sp>
      <p:sp>
        <p:nvSpPr>
          <p:cNvPr id="5" name="Text 3"/>
          <p:cNvSpPr/>
          <p:nvPr/>
        </p:nvSpPr>
        <p:spPr>
          <a:xfrm>
            <a:off x="502920" y="4777740"/>
            <a:ext cx="8138160" cy="228600"/>
          </a:xfrm>
          <a:prstGeom prst="rect">
            <a:avLst/>
          </a:prstGeom>
          <a:noFill/>
          <a:ln/>
        </p:spPr>
        <p:txBody>
          <a:bodyPr wrap="square" lIns="0" tIns="0" rIns="0" bIns="0" rtlCol="0" anchor="ctr"/>
          <a:lstStyle/>
          <a:p>
            <a:pPr algn="ctr" indent="0" marL="0">
              <a:buNone/>
            </a:pPr>
            <a:r>
              <a:rPr lang="en-US" sz="900" spc="300" kern="0" dirty="0">
                <a:solidFill>
                  <a:srgbClr val="5BA9D8"/>
                </a:solidFill>
                <a:latin typeface="Calibri" pitchFamily="34" charset="0"/>
                <a:ea typeface="Calibri" pitchFamily="34" charset="-122"/>
                <a:cs typeface="Calibri" pitchFamily="34" charset="-120"/>
              </a:rPr>
              <a:t>AMAL &amp; COMPANY  ·  SCALING SOCIAL IMPACT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 Measuring &amp; Validating Impact</dc:title>
  <dc:subject>PptxGenJS Presentation</dc:subject>
  <dc:creator>MASGLA · Amal &amp; Company</dc:creator>
  <cp:lastModifiedBy>MASGLA · Amal &amp; Company</cp:lastModifiedBy>
  <cp:revision>1</cp:revision>
  <dcterms:created xsi:type="dcterms:W3CDTF">2026-06-29T09:35:43Z</dcterms:created>
  <dcterms:modified xsi:type="dcterms:W3CDTF">2026-06-29T09:35:43Z</dcterms:modified>
</cp:coreProperties>
</file>
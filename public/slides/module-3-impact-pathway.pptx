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the longest session. We're building the pathway end-to-end. Have your Q-Zero from Module 2 visible the whole time — it anchors every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idea of Module 3. The pathway is not a list of levels — it is a chain of causal claims. Every claim has an assumption. We'll name assumptions at every link before the session is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 level. Reinforce: Inputs is AUDIENCE not resources. Activities is what we DELIVER. Outputs is what we COUNT. The order matters because each level constrains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 vs. Impact distinction: outcomes are claimable (your program produced them). Impact is contributable (your program is one of many forces). Don't claim more than your program can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many programs stumble. Always set the baseline BEFORE the program runs. If you don't have a baseline yet, your first job in Module 5 is to build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Surface this concept before naming the types. Most participants have never explicitly named the assumptions inside their program. Today they will name at least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 type. Note: participant assumptions are usually highest-risk because they're outside your control. Causal assumptions are what your TOC will ultimately prove or disprove.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model. Show how the Outcomes row connects back to the Q-Zero from Module 2. Show how the Outputs row has all three parts: baseline, metric,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here. This is the slide that turns a TOC from an academic exercise into a strategic risk register. Each assumption is a thing that might break — and your measurement plan in Module 5 will test the highest-risk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first pathways will fall into at least two of these. The worksheet structure is designed to catch them — but call them out now so participants self-correct as they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 minutes. Pair-share at minute 20 so participants can pressure-test their causal logic with someone outside their program. The point is not perfection — it is to produce a complete draft for Module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'stress test' questions. The third one is a trap — you can't drop any level and have the chain hold. But the exercise reveals which level participants feel weakest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Read each takeaway. After takeaway 4, preview Module 4 — the logframe is the same chain reorganized into a table funders can read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21945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" y="39319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 &amp;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1097280" y="60350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097280" y="8138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4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SOCIAL IMPACT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50292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02920" y="2103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Impact</a:t>
            </a:r>
            <a:endParaRPr lang="en-US" sz="5000" dirty="0"/>
          </a:p>
          <a:p>
            <a:pPr indent="0" marL="0">
              <a:buNone/>
            </a:pPr>
            <a:r>
              <a:rPr lang="en-US" sz="5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Pathway</a:t>
            </a:r>
            <a:endParaRPr lang="en-US" sz="5000" dirty="0"/>
          </a:p>
        </p:txBody>
      </p:sp>
      <p:sp>
        <p:nvSpPr>
          <p:cNvPr id="9" name="Text 5"/>
          <p:cNvSpPr/>
          <p:nvPr/>
        </p:nvSpPr>
        <p:spPr>
          <a:xfrm>
            <a:off x="5029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your Q-Zero into the full five-level causal chain.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464058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98348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by Amal &amp; Company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Module 3 of 5  ·  From sentence to chain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002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2 you wrote your Q-Zero — the spine of your TOC. In this session we add the ribs: the five levels of the causal chain, with assumptions named at every link.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0916" y="27889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E5F2FA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0916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62356" y="3566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44268" y="27889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E5F2FA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44268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235708" y="3566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Q-Zero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17620" y="27889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15314F"/>
          </a:solidFill>
          <a:ln w="6350">
            <a:solidFill>
              <a:srgbClr val="1531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17620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909060" y="3566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Pathway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90972" y="27889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90972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5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582412" y="3566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Logframe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64324" y="2788920"/>
            <a:ext cx="1508760" cy="1417320"/>
          </a:xfrm>
          <a:prstGeom prst="roundRect">
            <a:avLst>
              <a:gd name="adj" fmla="val 6452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64324" y="2971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5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7255764" y="3566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&amp; Validating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The Impact Pathway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arrow is a causal claim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94360" y="169164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965960" y="169164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240280" y="169164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4028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24028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11880" y="169164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886200" y="169164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8620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88620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57800" y="169164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532120" y="169164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3212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53212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03720" y="169164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7178040" y="169164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7804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178040" y="2057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" y="2926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Each arrow says: “because of this, that happens.” Each arrow rests on an assumption. If any assumption breaks, the chain breaks.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371600" y="374904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E5F2FA"/>
          </a:solidFill>
          <a:ln w="6350">
            <a:solidFill>
              <a:srgbClr val="5BA9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54480" y="37947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That's why documenting assumptions is not optional — it's the most strategic thing you can do.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The Impact Pathway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the chain (1 of 2)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Inputs · Activities · Outputs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640080" cy="64008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52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6002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57400" y="1490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— THE WHO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057400" y="18013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 </a:t>
            </a:r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exactly are we serving? What do they look like before the program starts?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057400" y="21488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 </a:t>
            </a:r>
            <a:pPr indent="0" marL="0">
              <a:buNone/>
            </a:pPr>
            <a:r>
              <a:rPr lang="en-US" sz="1050" i="1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resources (budget, staff, venue) as inputs instead of the audience.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02920" y="2651760"/>
            <a:ext cx="640080" cy="64008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52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6974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57400" y="2587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057400" y="289864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 </a:t>
            </a:r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our staff and volunteers actually deliver?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2057400" y="3246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 </a:t>
            </a:r>
            <a:pPr indent="0" marL="0">
              <a:buNone/>
            </a:pPr>
            <a:r>
              <a:rPr lang="en-US" sz="1050" i="1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activities (what you deliver) with outputs (what those activities produce).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02920" y="3749040"/>
            <a:ext cx="640080" cy="64008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0292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52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379476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57400" y="3685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2057400" y="399592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 </a:t>
            </a:r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many? How much? What can we count?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2057400" y="43434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 </a:t>
            </a:r>
            <a:pPr indent="0" marL="0">
              <a:buNone/>
            </a:pPr>
            <a:r>
              <a:rPr lang="en-US" sz="1050" i="1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outcomes in the output row. Attendance is a count; behavior change is not.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The Impact Pathway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the chain (2 of 2)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Outcomes · Impact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45920"/>
            <a:ext cx="640080" cy="64008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52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6916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57400" y="1581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057400" y="189280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 </a:t>
            </a:r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a person's life because of our program that would not have happened otherwise?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057400" y="22402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 </a:t>
            </a:r>
            <a:pPr indent="0" marL="0">
              <a:buNone/>
            </a:pPr>
            <a:r>
              <a:rPr lang="en-US" sz="1050" i="1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too vague. “Youth will grow spiritually” is not an outcome — it's a wish.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02920" y="2926080"/>
            <a:ext cx="640080" cy="64008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252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9718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57400" y="2862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057400" y="317296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 </a:t>
            </a:r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our outcomes are consistently achieved over 3 years, what does the community look like?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2057400" y="35204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 </a:t>
            </a:r>
            <a:pPr indent="0" marL="0">
              <a:buNone/>
            </a:pPr>
            <a:r>
              <a:rPr lang="en-US" sz="1050" i="1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impact a single program can't realistically achieve alone. Impact is a contribution, not a solo win.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02920" y="41148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E5F2FA"/>
          </a:solidFill>
          <a:ln w="6350">
            <a:solidFill>
              <a:srgbClr val="5BA9D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Outcomes are where the work shows up in a person's life. Impact is the cumulative story your program contributes to over years.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The Impact Pathway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measurement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 · Metric · Target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691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you start. The current state before the program runs.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7889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CAMP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participants report consistent salah at pre-camp intake.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37033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USRAH CIRCLES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31520" y="3931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youth per usrah; naqeebs untrained; no formal assessment.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5087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46120" y="1691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0" y="2103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unit you'll count or measure to track delivery.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74720" y="27889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CAMP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47472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completing full camp; % reporting consistent salah at 3-month follow-up.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74720" y="37033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USRAH CIRCLES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474720" y="3931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active usrah members; % reporting daily salah on quarterly survey.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89320" y="150876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89320" y="1691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17920" y="2103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specific, time-bound value you're aiming to reach.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17920" y="27889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CAMP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217920" y="3017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completions by camp end; 65% salah at 3-month follow-up.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17920" y="370332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USRAH CIRCLES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217920" y="3931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circles, 10+ members each; 60% daily salah by Q3 2026.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 and Target work together. You can't know if you hit your Target unless you set the Baseline first.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The Impact Pathway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arrow rests on something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645920"/>
            <a:ext cx="54864" cy="1188720"/>
          </a:xfrm>
          <a:prstGeom prst="rect">
            <a:avLst/>
          </a:prstGeom>
          <a:solidFill>
            <a:srgbClr val="5BA9D8"/>
          </a:solidFill>
          <a:ln w="12700">
            <a:solidFill>
              <a:srgbClr val="5BA9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15544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assumption is a condition that must be true for one level to produce the next.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2920" y="30632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assumption is wrong, the arrow doesn't pull. The chain stops. The outcome doesn't happen — no matter how well you delivered the activity.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3794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 of assumptions you'll name: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41605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1605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42032" y="41605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42032" y="41605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81144" y="41605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81144" y="41605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20256" y="41605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0256" y="41605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The Impact Pathway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 of assumptions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Name them — they're your biggest strategic risk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6152" y="1709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Participant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31520" y="2167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Readiness, motivation, circumstances of the people you serve.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3152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Camp: families allow overnight attendance. BJJ: young men have consistent schedules for 2x/week.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75488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73736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68112" y="1709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Environmental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4983480" y="2167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conditions — partnerships, climate, regional context.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98348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Qiyam: masjid facilities remain available. Voices Unveiled: campus environment receptive to Palestine advocacy.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02920" y="3090672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19272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16152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Organizational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73152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MASGLA's own capacity — staff, volunteers, coordination.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31520" y="40965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programs: trained naqeebs consistently available. Naqeeb Training completed before leading first usrah.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754880" y="3090672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319272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68112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Causal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498348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your causal claim is actually true — does this activity really produce that outcome?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983480" y="40965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Breakroom: Islamic-context friendship creates stronger faith commitment than secular bonding alone.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The Impact Pathway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Youth Camp — the full pathway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63624"/>
            <a:ext cx="457200" cy="45720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27632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536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600200" y="1783080"/>
            <a:ext cx="7040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high school juniors/seniors, MASGLA community, vetted by interview.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02920" y="2176272"/>
            <a:ext cx="457200" cy="45720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4028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148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600200" y="2395728"/>
            <a:ext cx="7040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spiritually structured retreat at Angelus Oaks with Islamic mentorship, worship, group bonding.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2920" y="2788920"/>
            <a:ext cx="457200" cy="45720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029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8529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27614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600200" y="3008376"/>
            <a:ext cx="7040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40% salah  ·  Metric: completions + 3-mo salah %  ·  Target 100 completions, 65% salah.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02920" y="3401568"/>
            <a:ext cx="457200" cy="45720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8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465576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33741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1600200" y="3621024"/>
            <a:ext cx="7040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form lasting Islamic bonds and adopt trackable spiritual habits they continue independently.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02920" y="4014216"/>
            <a:ext cx="457200" cy="457200"/>
          </a:xfrm>
          <a:prstGeom prst="ellipse">
            <a:avLst/>
          </a:prstGeom>
          <a:solidFill>
            <a:srgbClr val="15314F"/>
          </a:solidFill>
          <a:ln w="12700">
            <a:solidFill>
              <a:srgbClr val="15314F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292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8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078224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600200" y="39867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1600200" y="4233672"/>
            <a:ext cx="7040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generation of high schoolers carrying Islamic identity into adult Muslim leadership and community life.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worksheet today walks this same structure for your own program.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The Impact Pathway</a:t>
            </a:r>
            <a:endParaRPr lang="en-US" sz="850" dirty="0"/>
          </a:p>
        </p:txBody>
      </p:sp>
      <p:sp>
        <p:nvSpPr>
          <p:cNvPr id="34" name="Text 26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·  Youth Camp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Naming the assumption at each link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45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Inputs → Activities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971800" y="1673352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5F2FA"/>
          </a:solidFill>
          <a:ln w="6350">
            <a:solidFill>
              <a:srgbClr val="5BA9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71800" y="16733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389120" y="1600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allow overnight attendance and support camp values.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331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Activities → Outputs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71800" y="2359152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5F2FA"/>
          </a:solidFill>
          <a:ln w="6350">
            <a:solidFill>
              <a:srgbClr val="5BA9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23591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389120" y="22860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are trained and present; sessions run as designed.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Outputs → Outcomes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971800" y="3044952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5F2FA"/>
          </a:solidFill>
          <a:ln w="6350">
            <a:solidFill>
              <a:srgbClr val="5BA9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71800" y="30449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389120" y="2971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retreat experience translates into sustained habit change at home.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Outcomes → Impact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971800" y="3730752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E5F2FA"/>
          </a:solidFill>
          <a:ln w="6350">
            <a:solidFill>
              <a:srgbClr val="5BA9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71800" y="37307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389120" y="3657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masajid and families reinforce camp values after participants return.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F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your worksheet you'll name at least one assumption per link — and label each one by type.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The Impact Pathway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Errors that appear in nearly every first pass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5648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Inputs = resources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85800" y="21945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budget, staff, or venue under Inputs. Resources are not your audience.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754880" y="155448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755648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9496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Outputs dressed as outcomes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37760" y="21945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“300 youth attended Qiyam” is a count. “Youth report consistent salah at 3 months” is a change.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02920" y="297180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7296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Wishful outcomes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85800" y="36118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“Youth will grow spiritually” — how would you know? Make outcomes observable or measurable.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754880" y="2971800"/>
            <a:ext cx="3886200" cy="1280160"/>
          </a:xfrm>
          <a:prstGeom prst="roundRect">
            <a:avLst>
              <a:gd name="adj" fmla="val 5714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72968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9496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Impact you can't defend alone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937760" y="36118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camp didn't single-handedly create a generation of leaders. Impact is a contribution, not a claim.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The Impact Pathway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 ·  35 minutes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your impact pathway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INPUTS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404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who, how many, what is their starting circumstance?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2900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4290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ACTIVITIES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29000" y="2404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team actually deliver, and in what format?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89320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7220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722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72200" y="24048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Metric · Target. All three. Be specific.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29718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8580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OUTCOMES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5800" y="3685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a person within 6–18 months? Tie to your Q-Zero THEN.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9718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429000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42900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IMPACT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429000" y="3685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community look like in 3–5 years if outcomes hold?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989320" y="297180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8FBFD"/>
          </a:solidFill>
          <a:ln w="6350">
            <a:solidFill>
              <a:srgbClr val="DCE6EE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172200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7220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ASSUMPTIONS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172200" y="3685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per link. Label each by type.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The Impact Pathway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 ·  5 minutes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questions about your pathway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645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05840" y="16916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Which of my assumptions is most likely to break — and which level of my chain would collapse if it did?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514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005840" y="25603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am I claiming outcomes my program can't actually attribute to itself? Where am I being generous?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3383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5BA9D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1005840" y="34290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I had to drop one level and keep four, which would I drop — and why does the chain still hold?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The Impact Pathway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-45720"/>
            <a:ext cx="15544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to carry into Module 4</a:t>
            </a:r>
            <a:endParaRPr lang="en-US" sz="3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554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pathway is a chain of causal claims.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005840" y="1874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levels, four arrows. Each arrow asserts that one level produces the next.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3172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240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arrow rests on an assumption.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00584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assumptions is what makes a TOC a strategic risk register — not just a logic diagram.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1752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Outputs are not Outcomes.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1005840" y="3246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counted. Outcomes are observed. Most programs over-claim by mixing the two.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0332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1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Impact is a contribution, not a claim.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100584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 is one of many forces shaping community over 3–5 years. Phrase it that way.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502920" y="4732020"/>
            <a:ext cx="8138160" cy="0"/>
          </a:xfrm>
          <a:prstGeom prst="line">
            <a:avLst/>
          </a:prstGeom>
          <a:noFill/>
          <a:ln w="9525">
            <a:solidFill>
              <a:srgbClr val="DCE6EE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0292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www.amalandcompany.com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274320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The Impact Pathway</a:t>
            </a:r>
            <a:endParaRPr lang="en-US" sz="850" dirty="0"/>
          </a:p>
        </p:txBody>
      </p:sp>
      <p:sp>
        <p:nvSpPr>
          <p:cNvPr id="20" name="Text 13"/>
          <p:cNvSpPr/>
          <p:nvPr/>
        </p:nvSpPr>
        <p:spPr>
          <a:xfrm>
            <a:off x="4983480" y="48234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3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  ·  Module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69164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Building the Logframe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convert your pathway into a formal 4×4 Logical Framework Matrix — narrative, indicators, baselines, targets, and verification.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477774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5BA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 &amp; COMPANY  ·  SCALING SOCIAL IMPACT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— The Impact Pathway</dc:title>
  <dc:subject>PptxGenJS Presentation</dc:subject>
  <dc:creator>MASGLA · Amal &amp; Company</dc:creator>
  <cp:lastModifiedBy>MASGLA · Amal &amp; Company</cp:lastModifiedBy>
  <cp:revision>1</cp:revision>
  <dcterms:created xsi:type="dcterms:W3CDTF">2026-06-29T09:35:41Z</dcterms:created>
  <dcterms:modified xsi:type="dcterms:W3CDTF">2026-06-29T09:35:41Z</dcterms:modified>
</cp:coreProperties>
</file>
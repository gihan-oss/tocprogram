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75" r:id="rId26"/>
    <p:sldId id="258" r:id="rId4"/>
    <p:sldId id="276" r:id="rId27"/>
    <p:sldId id="280" r:id="rId31"/>
    <p:sldId id="259" r:id="rId5"/>
    <p:sldId id="260" r:id="rId6"/>
    <p:sldId id="277" r:id="rId28"/>
    <p:sldId id="278" r:id="rId29"/>
    <p:sldId id="261" r:id="rId7"/>
    <p:sldId id="279" r:id="rId30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4.xml"/><Relationship Id="rId5" Type="http://schemas.openxmlformats.org/officeDocument/2006/relationships/slide" Target="slides/slide7.xml"/><Relationship Id="rId6" Type="http://schemas.openxmlformats.org/officeDocument/2006/relationships/slide" Target="slides/slide8.xml"/><Relationship Id="rId7" Type="http://schemas.openxmlformats.org/officeDocument/2006/relationships/slide" Target="slides/slide11.xml"/><Relationship Id="rId8" Type="http://schemas.openxmlformats.org/officeDocument/2006/relationships/slide" Target="slides/slide13.xml"/><Relationship Id="rId9" Type="http://schemas.openxmlformats.org/officeDocument/2006/relationships/slide" Target="slides/slide14.xml"/><Relationship Id="rId10" Type="http://schemas.openxmlformats.org/officeDocument/2006/relationships/slide" Target="slides/slide15.xml"/><Relationship Id="rId11" Type="http://schemas.openxmlformats.org/officeDocument/2006/relationships/slide" Target="slides/slide16.xml"/><Relationship Id="rId12" Type="http://schemas.openxmlformats.org/officeDocument/2006/relationships/slide" Target="slides/slide17.xml"/><Relationship Id="rId13" Type="http://schemas.openxmlformats.org/officeDocument/2006/relationships/slide" Target="slides/slide18.xml"/><Relationship Id="rId14" Type="http://schemas.openxmlformats.org/officeDocument/2006/relationships/slide" Target="slides/slide19.xml"/><Relationship Id="rId15" Type="http://schemas.openxmlformats.org/officeDocument/2006/relationships/slide" Target="slides/slide20.xml"/><Relationship Id="rId16" Type="http://schemas.openxmlformats.org/officeDocument/2006/relationships/slide" Target="slides/slide21.xml"/><Relationship Id="rId17" Type="http://schemas.openxmlformats.org/officeDocument/2006/relationships/slide" Target="slides/slide22.xml"/><Relationship Id="rId18" Type="http://schemas.openxmlformats.org/officeDocument/2006/relationships/slide" Target="slides/slide23.xml"/><Relationship Id="rId19" Type="http://schemas.openxmlformats.org/officeDocument/2006/relationships/slide" Target="slides/slide24.xml"/><Relationship Id="rId20" Type="http://schemas.openxmlformats.org/officeDocument/2006/relationships/slide" Target="slides/slide25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Relationship Id="rId26" Type="http://schemas.openxmlformats.org/officeDocument/2006/relationships/slide" Target="slides/slide3.xml"/><Relationship Id="rId27" Type="http://schemas.openxmlformats.org/officeDocument/2006/relationships/slide" Target="slides/slide5.xml"/><Relationship Id="rId28" Type="http://schemas.openxmlformats.org/officeDocument/2006/relationships/slide" Target="slides/slide9.xml"/><Relationship Id="rId29" Type="http://schemas.openxmlformats.org/officeDocument/2006/relationships/slide" Target="slides/slide10.xml"/><Relationship Id="rId30" Type="http://schemas.openxmlformats.org/officeDocument/2006/relationships/slide" Target="slides/slide12.xml"/><Relationship Id="rId31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Welcome. Name the session — 'today we unfold Q-Zero into the full pathway.'
TIME:  1 min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Quick orient. Point to M1-M2 as done, M3 as here.
TIME:  1 min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chain aloud. Emphasize: 'arrows are the load-bearing part. If any arrow is wrong, the chain breaks.'
TIME:  3 min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each level. For each, read the key question aloud, then the common mistake. This is the level-1-to-3 half of the pathway.
TIME:  5 min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pattern. Emphasize the distinction: outcomes = change in the person, impact = change in the community.
TIME:  4 min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Pause the lesson. Ask a volunteer to share the program they lead — put their Q-Zero in the chat so everyone can read it and follow along. Walk them through what their Outputs would be (countable things their program produces). The whole point: use THEIR example as the running case for the B-M-T slide that follows. Don't rush. Aim for a real, specific program from someone in the room.
TIME:  4 min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Now continue with the volunteer's program from the previous slide. Fill in Baseline / Metric / Target using their Q-Zero. Write on the whiteboard or into the field below live. Show the group HOW you convert their program into these three cells. The Youth Camp column stays as a reference the whole time.
TIME:  5 min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is the reviewer's specific fix — before we accept a baseline is 'just there,' we teach HOW to get one. Walk each method briefly. Emphasize the bottom band: 'if you don't plan the baseline collection into your program timeline, you'll skip it.' Ask the volunteer from earlier: 'which of these four methods would work for YOUR program's baseline?' Quick answer, no lengthy detour.
TIME:  4 min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Genuine pause. Ask: 'what's still fuzzy?' Let 5 seconds of silence happen — don't fill it. Prefer the CHAT for private-feeling questions, VERBAL for the confident ones. If nothing lands after 20 seconds, launch a menti poll with one word: 'What word describes your confidence right now?' Address 2–3 questions max, then move on. Don't turn this into a mini-lecture.
TIME:  5 min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it: 'Every arrow is a bet. Assumptions are the terms of the bet.'
TIME:  2 min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each type. Same running example — Youth Camp — across all four so participants see how one program has assumptions of every type. Then land the bottom note explicitly: 'These four are the types you'll see most often, but the muscle we're building is the HABIT of naming assumptions. If a real assumption doesn't fit these boxes, name it anyway.' Ask: 'which one of these types feels most likely to break for YOUR program?' Get 1-2 answers quickly.
TIME:  5 min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to the Q-Zero band at top FIRST. Say: 'This is where we ended Module 2. Now watch how that one sentence unfolds into the whole pathway below.' Then walk down through the 5 levels. Emphasize the linear cause-effect flow — each level produces the next.
TIME:  4 min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it linear — one row per arrow. Read each row aloud in sequence. Show that the same Youth Camp pathway carries different assumption TYPES at each arrow.
TIME:  4 min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reframes worth catching. Read them as SHIFTS in thinking, not as errors — the reviewer's own note: 'there's not necessarily an error, rather a different framework.' Say: 'these are four ways the sharper version differs from a first draft — worth catching in your own pathway.'
TIME:  3 min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Kick off the download IMMEDIATELY — point to the portal link. Everyone should have the template open in a new tab. 20 minutes of quiet work, then 5 minutes for 1–2 volunteers to share their pathway to the group. Roam the chat during the quiet block; flag good ones to invite as volunteers.
OPEN QUESTION FROM OMAR:  is the pathway template technically ready? If yes, share a copy with him before session. If not, flag it BEFORE this slide goes live in a session — the whole 25-min block depends on a working download link.
TIME:  25 min  (20 min quiet work + 5 min shares)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Quiet writing 3 min. Then round-robin on question 3 only. Questions 1 &amp; 2 are private diagnostics.
TIME:  5 min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Rapid recap. Bridge: 'next session we convert your pathway into a formal Logframe.'
TIME:  3 min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End strong. Read all three reminders. Point at the QR — 'take 90 seconds NOW while your reactions are fresh; we send a follow-up email but response rate drops 40% after the same day.' Say the dates twice: 'Townhall August 6, in-person August 22.' QR resolves to  https://discovery.amalandco.com/r/0QyM4Q  — confirm this is still live in the discovery portal before the session.
TIME:  3 min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Land the transition. Bring your completed pathway to Module 4.
TIME:  1 min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-2-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-2-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-2-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-2-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-2-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8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0" y="0"/>
            <a:ext cx="4572000" cy="219456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1965960" cy="44278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02920" y="17830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500" kern="0" dirty="0">
                <a:solidFill>
                  <a:srgbClr val="5BA9D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MODULE 03</a:t>
            </a:r>
            <a:endParaRPr lang="en-US" sz="1200" dirty="0"/>
          </a:p>
        </p:txBody>
      </p:sp>
      <p:sp>
        <p:nvSpPr>
          <p:cNvPr id="5" name="Text 1"/>
          <p:cNvSpPr/>
          <p:nvPr/>
        </p:nvSpPr>
        <p:spPr>
          <a:xfrm>
            <a:off x="502920" y="2103120"/>
            <a:ext cx="8229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Impact</a:t>
            </a:r>
            <a:endParaRPr lang="en-US" sz="5000" dirty="0"/>
          </a:p>
          <a:p>
            <a:pPr indent="0" marL="0">
              <a:buNone/>
            </a:pPr>
            <a:r>
              <a:rPr lang="en-US" sz="5000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Pathway</a:t>
            </a:r>
            <a:endParaRPr lang="en-US" sz="5000" dirty="0"/>
          </a:p>
        </p:txBody>
      </p:sp>
      <p:sp>
        <p:nvSpPr>
          <p:cNvPr id="6" name="Text 2"/>
          <p:cNvSpPr/>
          <p:nvPr/>
        </p:nvSpPr>
        <p:spPr>
          <a:xfrm>
            <a:off x="502920" y="370332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45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Expand your Q-Zero into the full five-level causal chain.</a:t>
            </a:r>
            <a:endParaRPr lang="en-US" sz="1400" dirty="0"/>
          </a:p>
        </p:txBody>
      </p:sp>
      <p:sp>
        <p:nvSpPr>
          <p:cNvPr id="7" name="Text 3"/>
          <p:cNvSpPr/>
          <p:nvPr/>
        </p:nvSpPr>
        <p:spPr>
          <a:xfrm>
            <a:off x="6035040" y="4229100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5A6F8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FACILITATED BY</a:t>
            </a:r>
            <a:endParaRPr lang="en-US" sz="800" dirty="0"/>
          </a:p>
        </p:txBody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0" y="4183380"/>
            <a:ext cx="1417320" cy="319216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502920" y="4640580"/>
            <a:ext cx="8138160" cy="0"/>
          </a:xfrm>
          <a:prstGeom prst="line">
            <a:avLst/>
          </a:prstGeom>
          <a:noFill/>
          <a:ln w="9525">
            <a:solidFill>
              <a:srgbClr val="DCE6EE"/>
            </a:solidFill>
            <a:prstDash val="solid"/>
          </a:ln>
        </p:spPr>
        <p:txBody>
          <a:bodyPr/>
          <a:p/>
        </p:txBody>
      </p:sp>
      <p:sp>
        <p:nvSpPr>
          <p:cNvPr id="10" name="Text 5"/>
          <p:cNvSpPr/>
          <p:nvPr/>
        </p:nvSpPr>
        <p:spPr>
          <a:xfrm>
            <a:off x="502920" y="477774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F8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www.amalandcompany.com</a:t>
            </a:r>
            <a:endParaRPr lang="en-US" sz="950" dirty="0"/>
          </a:p>
        </p:txBody>
      </p:sp>
      <p:sp>
        <p:nvSpPr>
          <p:cNvPr id="11" name="Text 6"/>
          <p:cNvSpPr/>
          <p:nvPr/>
        </p:nvSpPr>
        <p:spPr>
          <a:xfrm>
            <a:off x="4983480" y="477774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A6F8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MAS GLA  ·  Theory of Change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9520" y="-45720"/>
            <a:ext cx="1554480" cy="7772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384048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F8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Where we are</a:t>
            </a:r>
            <a:endParaRPr lang="en-US" sz="1050" dirty="0"/>
          </a:p>
        </p:txBody>
      </p:sp>
      <p:sp>
        <p:nvSpPr>
          <p:cNvPr id="4" name="Text 1"/>
          <p:cNvSpPr/>
          <p:nvPr/>
        </p:nvSpPr>
        <p:spPr>
          <a:xfrm>
            <a:off x="502920" y="640080"/>
            <a:ext cx="7315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Module 3 of 5  ·  From sentence to chain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502920" y="1600200"/>
            <a:ext cx="8138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 Module 2 you wrote your Q-Zero — the spine of your TOC. Today we add the ribs: the five levels of the causal chain, with assumptions named at every link.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470916" y="2834640"/>
            <a:ext cx="1508760" cy="1417320"/>
          </a:xfrm>
          <a:prstGeom prst="roundRect">
            <a:avLst>
              <a:gd name="adj" fmla="val 6452"/>
            </a:avLst>
          </a:prstGeom>
          <a:solidFill>
            <a:srgbClr val="E5F2FA"/>
          </a:solidFill>
          <a:ln w="6350">
            <a:solidFill>
              <a:srgbClr val="DCE6EE"/>
            </a:solidFill>
            <a:prstDash val="solid"/>
          </a:ln>
        </p:spPr>
        <p:txBody>
          <a:bodyPr/>
          <a:p/>
        </p:txBody>
      </p:sp>
      <p:sp>
        <p:nvSpPr>
          <p:cNvPr id="7" name="Text 4"/>
          <p:cNvSpPr/>
          <p:nvPr/>
        </p:nvSpPr>
        <p:spPr>
          <a:xfrm>
            <a:off x="470916" y="3017520"/>
            <a:ext cx="1508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5BA9D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562356" y="3611880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Why This Matters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2144268" y="2834640"/>
            <a:ext cx="1508760" cy="1417320"/>
          </a:xfrm>
          <a:prstGeom prst="roundRect">
            <a:avLst>
              <a:gd name="adj" fmla="val 6452"/>
            </a:avLst>
          </a:prstGeom>
          <a:solidFill>
            <a:srgbClr val="E5F2FA"/>
          </a:solidFill>
          <a:ln w="6350">
            <a:solidFill>
              <a:srgbClr val="DCE6EE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2144268" y="3017520"/>
            <a:ext cx="1508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5BA9D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3000" dirty="0"/>
          </a:p>
        </p:txBody>
      </p:sp>
      <p:sp>
        <p:nvSpPr>
          <p:cNvPr id="11" name="Text 8"/>
          <p:cNvSpPr/>
          <p:nvPr/>
        </p:nvSpPr>
        <p:spPr>
          <a:xfrm>
            <a:off x="2235708" y="3611880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Q-Zero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3817620" y="2834640"/>
            <a:ext cx="1508760" cy="1417320"/>
          </a:xfrm>
          <a:prstGeom prst="roundRect">
            <a:avLst>
              <a:gd name="adj" fmla="val 6452"/>
            </a:avLst>
          </a:prstGeom>
          <a:solidFill>
            <a:srgbClr val="15314F"/>
          </a:solidFill>
          <a:ln w="6350">
            <a:solidFill>
              <a:srgbClr val="15314F"/>
            </a:solidFill>
            <a:prstDash val="solid"/>
          </a:ln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3817620" y="3017520"/>
            <a:ext cx="1508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5BA9D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3000" dirty="0"/>
          </a:p>
        </p:txBody>
      </p:sp>
      <p:sp>
        <p:nvSpPr>
          <p:cNvPr id="14" name="Text 11"/>
          <p:cNvSpPr/>
          <p:nvPr/>
        </p:nvSpPr>
        <p:spPr>
          <a:xfrm>
            <a:off x="3909060" y="3611880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Impact Pathway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5490972" y="2834640"/>
            <a:ext cx="1508760" cy="1417320"/>
          </a:xfrm>
          <a:prstGeom prst="roundRect">
            <a:avLst>
              <a:gd name="adj" fmla="val 6452"/>
            </a:avLst>
          </a:prstGeom>
          <a:solidFill>
            <a:srgbClr val="F8FBFD"/>
          </a:solidFill>
          <a:ln w="6350">
            <a:solidFill>
              <a:srgbClr val="DCE6EE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490972" y="3017520"/>
            <a:ext cx="1508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5BA9D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3000" dirty="0"/>
          </a:p>
        </p:txBody>
      </p:sp>
      <p:sp>
        <p:nvSpPr>
          <p:cNvPr id="17" name="Text 14"/>
          <p:cNvSpPr/>
          <p:nvPr/>
        </p:nvSpPr>
        <p:spPr>
          <a:xfrm>
            <a:off x="5582412" y="3611880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Logframe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7164324" y="2834640"/>
            <a:ext cx="1508760" cy="1417320"/>
          </a:xfrm>
          <a:prstGeom prst="roundRect">
            <a:avLst>
              <a:gd name="adj" fmla="val 6452"/>
            </a:avLst>
          </a:prstGeom>
          <a:solidFill>
            <a:srgbClr val="F8FBFD"/>
          </a:solidFill>
          <a:ln w="6350">
            <a:solidFill>
              <a:srgbClr val="DCE6EE"/>
            </a:solidFill>
            <a:prstDash val="solid"/>
          </a:ln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7164324" y="3017520"/>
            <a:ext cx="1508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5BA9D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</a:t>
            </a:r>
            <a:endParaRPr lang="en-US" sz="3000" dirty="0"/>
          </a:p>
        </p:txBody>
      </p:sp>
      <p:sp>
        <p:nvSpPr>
          <p:cNvPr id="20" name="Text 17"/>
          <p:cNvSpPr/>
          <p:nvPr/>
        </p:nvSpPr>
        <p:spPr>
          <a:xfrm>
            <a:off x="7255764" y="3611880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Measuring &amp; Validating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502920" y="4732020"/>
            <a:ext cx="8138160" cy="0"/>
          </a:xfrm>
          <a:prstGeom prst="line">
            <a:avLst/>
          </a:prstGeom>
          <a:noFill/>
          <a:ln w="9525">
            <a:solidFill>
              <a:srgbClr val="DCE6EE"/>
            </a:solidFill>
            <a:prstDash val="solid"/>
          </a:ln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502920" y="48234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F8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www.amalandcompany.com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2743200" y="48234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AAEC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Module 3  ·  The Impact Pathway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4983480" y="48234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F8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Page 02</a:t>
            </a:r>
            <a:endParaRPr lang="en-US" sz="900" dirty="0"/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ouse_re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9520" y="-45720"/>
            <a:ext cx="1554480" cy="7772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384048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F8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big idea</a:t>
            </a:r>
            <a:endParaRPr lang="en-US" sz="1050" dirty="0"/>
          </a:p>
        </p:txBody>
      </p:sp>
      <p:sp>
        <p:nvSpPr>
          <p:cNvPr id="4" name="Text 1"/>
          <p:cNvSpPr/>
          <p:nvPr/>
        </p:nvSpPr>
        <p:spPr>
          <a:xfrm>
            <a:off x="502920" y="640080"/>
            <a:ext cx="7315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Every arrow is a causal claim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754380" y="1874520"/>
            <a:ext cx="1234440" cy="1051560"/>
          </a:xfrm>
          <a:prstGeom prst="roundRect">
            <a:avLst>
              <a:gd name="adj" fmla="val 6957"/>
            </a:avLst>
          </a:prstGeom>
          <a:solidFill>
            <a:srgbClr val="F8FBFD"/>
          </a:solidFill>
          <a:ln w="6350">
            <a:solidFill>
              <a:srgbClr val="DCE6EE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754380" y="2011680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BA9D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754380" y="2377440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INPUTS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2057400" y="22174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BA9D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</a:t>
            </a:r>
            <a:endParaRPr lang="en-US" sz="2200" dirty="0"/>
          </a:p>
        </p:txBody>
      </p:sp>
      <p:sp>
        <p:nvSpPr>
          <p:cNvPr id="9" name="Shape 6"/>
          <p:cNvSpPr/>
          <p:nvPr/>
        </p:nvSpPr>
        <p:spPr>
          <a:xfrm>
            <a:off x="2354580" y="1874520"/>
            <a:ext cx="1234440" cy="1051560"/>
          </a:xfrm>
          <a:prstGeom prst="roundRect">
            <a:avLst>
              <a:gd name="adj" fmla="val 6957"/>
            </a:avLst>
          </a:prstGeom>
          <a:solidFill>
            <a:srgbClr val="F8FBFD"/>
          </a:solidFill>
          <a:ln w="6350">
            <a:solidFill>
              <a:srgbClr val="DCE6EE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2354580" y="2011680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BA9D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2354580" y="2377440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ACTIVITIES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3657600" y="22174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BA9D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</a:t>
            </a:r>
            <a:endParaRPr lang="en-US" sz="2200" dirty="0"/>
          </a:p>
        </p:txBody>
      </p:sp>
      <p:sp>
        <p:nvSpPr>
          <p:cNvPr id="13" name="Shape 10"/>
          <p:cNvSpPr/>
          <p:nvPr/>
        </p:nvSpPr>
        <p:spPr>
          <a:xfrm>
            <a:off x="3954780" y="1874520"/>
            <a:ext cx="1234440" cy="1051560"/>
          </a:xfrm>
          <a:prstGeom prst="roundRect">
            <a:avLst>
              <a:gd name="adj" fmla="val 6957"/>
            </a:avLst>
          </a:prstGeom>
          <a:solidFill>
            <a:srgbClr val="F8FBFD"/>
          </a:solidFill>
          <a:ln w="6350">
            <a:solidFill>
              <a:srgbClr val="DCE6EE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3954780" y="2011680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BA9D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3954780" y="2377440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OUTPUTS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5257800" y="22174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BA9D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5554980" y="1874520"/>
            <a:ext cx="1234440" cy="1051560"/>
          </a:xfrm>
          <a:prstGeom prst="roundRect">
            <a:avLst>
              <a:gd name="adj" fmla="val 6957"/>
            </a:avLst>
          </a:prstGeom>
          <a:solidFill>
            <a:srgbClr val="F8FBFD"/>
          </a:solidFill>
          <a:ln w="6350">
            <a:solidFill>
              <a:srgbClr val="DCE6EE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18" name="Text 15"/>
          <p:cNvSpPr/>
          <p:nvPr/>
        </p:nvSpPr>
        <p:spPr>
          <a:xfrm>
            <a:off x="5554980" y="2011680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BA9D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5554980" y="2377440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OUTCOMES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6858000" y="22174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BA9D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</a:t>
            </a:r>
            <a:endParaRPr lang="en-US" sz="2200" dirty="0"/>
          </a:p>
        </p:txBody>
      </p:sp>
      <p:sp>
        <p:nvSpPr>
          <p:cNvPr id="21" name="Shape 18"/>
          <p:cNvSpPr/>
          <p:nvPr/>
        </p:nvSpPr>
        <p:spPr>
          <a:xfrm>
            <a:off x="7155180" y="1874520"/>
            <a:ext cx="1234440" cy="1051560"/>
          </a:xfrm>
          <a:prstGeom prst="roundRect">
            <a:avLst>
              <a:gd name="adj" fmla="val 6957"/>
            </a:avLst>
          </a:prstGeom>
          <a:solidFill>
            <a:srgbClr val="F8FBFD"/>
          </a:solidFill>
          <a:ln w="6350">
            <a:solidFill>
              <a:srgbClr val="DCE6EE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7155180" y="2011680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BA9D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</a:t>
            </a:r>
            <a:endParaRPr lang="en-US" sz="2000" dirty="0"/>
          </a:p>
        </p:txBody>
      </p:sp>
      <p:sp>
        <p:nvSpPr>
          <p:cNvPr id="23" name="Text 20"/>
          <p:cNvSpPr/>
          <p:nvPr/>
        </p:nvSpPr>
        <p:spPr>
          <a:xfrm>
            <a:off x="7155180" y="2377440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IMPACT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960120" y="3429000"/>
            <a:ext cx="7223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Each arrow says: “because of this, that happens.” Each arrow rests on an assumption — a condition that must be true for the arrow to hold.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502920" y="4732020"/>
            <a:ext cx="8138160" cy="0"/>
          </a:xfrm>
          <a:prstGeom prst="line">
            <a:avLst/>
          </a:prstGeom>
          <a:noFill/>
          <a:ln w="9525">
            <a:solidFill>
              <a:srgbClr val="DCE6EE"/>
            </a:solidFill>
            <a:prstDash val="solid"/>
          </a:ln>
        </p:spPr>
        <p:txBody>
          <a:bodyPr/>
          <a:p/>
        </p:txBody>
      </p:sp>
      <p:sp>
        <p:nvSpPr>
          <p:cNvPr id="26" name="Text 23"/>
          <p:cNvSpPr/>
          <p:nvPr/>
        </p:nvSpPr>
        <p:spPr>
          <a:xfrm>
            <a:off x="502920" y="48234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F8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www.amalandcompany.com</a:t>
            </a:r>
            <a:endParaRPr lang="en-US" sz="900" dirty="0"/>
          </a:p>
        </p:txBody>
      </p:sp>
      <p:sp>
        <p:nvSpPr>
          <p:cNvPr id="27" name="Text 24"/>
          <p:cNvSpPr/>
          <p:nvPr/>
        </p:nvSpPr>
        <p:spPr>
          <a:xfrm>
            <a:off x="2743200" y="48234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AAEC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Module 3  ·  The Impact Pathway</a:t>
            </a:r>
            <a:endParaRPr lang="en-US" sz="850" dirty="0"/>
          </a:p>
        </p:txBody>
      </p:sp>
      <p:sp>
        <p:nvSpPr>
          <p:cNvPr id="28" name="Text 25"/>
          <p:cNvSpPr/>
          <p:nvPr/>
        </p:nvSpPr>
        <p:spPr>
          <a:xfrm>
            <a:off x="4983480" y="48234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F8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Page 04</a:t>
            </a:r>
            <a:endParaRPr lang="en-US" sz="9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-45720"/>
            <a:ext cx="1554480" cy="7772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482346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>
                <a:solidFill>
                  <a:srgbClr val="5A6F82"/>
                </a:solidFill>
                <a:latin typeface="Montserrat"/>
              </a:rPr>
              <a:t>www.amalandcompany.com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482346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50">
                <a:solidFill>
                  <a:srgbClr val="9AAEC0"/>
                </a:solidFill>
                <a:latin typeface="Montserrat"/>
              </a:rPr>
              <a:t>Module 3  ·  The Impact Pathway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83480" y="482346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>
                <a:solidFill>
                  <a:srgbClr val="5A6F82"/>
                </a:solidFill>
                <a:latin typeface="Montserrat"/>
              </a:rPr>
              <a:t>Page 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92608"/>
            <a:ext cx="8138160" cy="566928"/>
          </a:xfrm>
          <a:prstGeom prst="rect">
            <a:avLst/>
          </a:prstGeom>
          <a:noFill/>
        </p:spPr>
        <p:txBody>
          <a:bodyPr wrap="square" lIns="9144" rIns="9144" tIns="0" bIns="0" anchor="ctr">
            <a:spAutoFit/>
          </a:bodyPr>
          <a:lstStyle/>
          <a:p>
            <a:pPr algn="l"/>
            <a:r>
              <a:rPr sz="3000" b="1" i="0">
                <a:solidFill>
                  <a:srgbClr val="15314F"/>
                </a:solidFill>
                <a:latin typeface="Montserrat"/>
              </a:rPr>
              <a:t>The Impact Pathway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207" y="914400"/>
            <a:ext cx="8138160" cy="365760"/>
          </a:xfrm>
          <a:prstGeom prst="rect">
            <a:avLst/>
          </a:prstGeom>
          <a:noFill/>
        </p:spPr>
        <p:txBody>
          <a:bodyPr wrap="square" lIns="9144" rIns="9144" tIns="0" bIns="0" anchor="ctr">
            <a:spAutoFit/>
          </a:bodyPr>
          <a:lstStyle/>
          <a:p>
            <a:pPr algn="l"/>
            <a:r>
              <a:rPr sz="1300" b="0" i="0">
                <a:solidFill>
                  <a:srgbClr val="5A6F82"/>
                </a:solidFill>
                <a:latin typeface="Montserrat"/>
              </a:rPr>
              <a:t>Five levels, four arrows — each arrow is a causal claim resting on an assumption.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965960"/>
            <a:ext cx="1371600" cy="1234440"/>
          </a:xfrm>
          <a:prstGeom prst="roundRect">
            <a:avLst>
              <a:gd name="adj" fmla="val 7407"/>
            </a:avLst>
          </a:prstGeom>
          <a:solidFill>
            <a:srgbClr val="DCE6EE"/>
          </a:solidFill>
          <a:ln w="15875">
            <a:solidFill>
              <a:srgbClr val="5BA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2057400"/>
            <a:ext cx="1371600" cy="274320"/>
          </a:xfrm>
          <a:prstGeom prst="rect">
            <a:avLst/>
          </a:prstGeom>
          <a:noFill/>
        </p:spPr>
        <p:txBody>
          <a:bodyPr wrap="square" lIns="9144" rIns="9144" tIns="0" bIns="0" anchor="t">
            <a:spAutoFit/>
          </a:bodyPr>
          <a:lstStyle/>
          <a:p>
            <a:pPr algn="ctr"/>
            <a:r>
              <a:rPr sz="1100" b="1" i="0">
                <a:solidFill>
                  <a:srgbClr val="15314F"/>
                </a:solidFill>
                <a:latin typeface="Montserrat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336291"/>
            <a:ext cx="1280160" cy="310896"/>
          </a:xfrm>
          <a:prstGeom prst="rect">
            <a:avLst/>
          </a:prstGeom>
          <a:noFill/>
        </p:spPr>
        <p:txBody>
          <a:bodyPr wrap="square" lIns="9144" rIns="9144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15314F"/>
                </a:solidFill>
                <a:latin typeface="Montserrat"/>
              </a:rPr>
              <a:t>INPUTS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6072" y="2681935"/>
            <a:ext cx="1225296" cy="469087"/>
          </a:xfrm>
          <a:prstGeom prst="rect">
            <a:avLst/>
          </a:prstGeom>
          <a:noFill/>
        </p:spPr>
        <p:txBody>
          <a:bodyPr wrap="square" lIns="9144" rIns="9144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850" b="0" i="0">
                <a:solidFill>
                  <a:srgbClr val="5A6F82"/>
                </a:solidFill>
                <a:latin typeface="Montserrat"/>
              </a:rPr>
              <a:t>The people</a:t>
            </a:r>
          </a:p>
          <a:p>
            <a:pPr algn="ctr">
              <a:lnSpc>
                <a:spcPct val="95000"/>
              </a:lnSpc>
            </a:pPr>
            <a:r>
              <a:rPr sz="850" b="0" i="0">
                <a:solidFill>
                  <a:srgbClr val="5A6F82"/>
                </a:solidFill>
                <a:latin typeface="Montserrat"/>
              </a:rPr>
              <a:t>we serve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1892807" y="2327148"/>
            <a:ext cx="283464" cy="512064"/>
          </a:xfrm>
          <a:prstGeom prst="rightArrow">
            <a:avLst/>
          </a:prstGeom>
          <a:solidFill>
            <a:srgbClr val="1531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801367" y="1691639"/>
            <a:ext cx="502920" cy="237744"/>
          </a:xfrm>
          <a:prstGeom prst="rect">
            <a:avLst/>
          </a:prstGeom>
          <a:noFill/>
        </p:spPr>
        <p:txBody>
          <a:bodyPr wrap="square" lIns="9144" rIns="9144" tIns="0" bIns="0" anchor="ctr">
            <a:spAutoFit/>
          </a:bodyPr>
          <a:lstStyle/>
          <a:p>
            <a:pPr algn="ctr"/>
            <a:r>
              <a:rPr sz="750" b="0" i="1">
                <a:solidFill>
                  <a:srgbClr val="5A6F82"/>
                </a:solidFill>
                <a:latin typeface="Montserrat"/>
              </a:rPr>
              <a:t>assumption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194560" y="1965960"/>
            <a:ext cx="1371600" cy="1234440"/>
          </a:xfrm>
          <a:prstGeom prst="roundRect">
            <a:avLst>
              <a:gd name="adj" fmla="val 7407"/>
            </a:avLst>
          </a:prstGeom>
          <a:solidFill>
            <a:srgbClr val="DCE6EE"/>
          </a:solidFill>
          <a:ln w="15875">
            <a:solidFill>
              <a:srgbClr val="5BA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194560" y="2057400"/>
            <a:ext cx="1371600" cy="274320"/>
          </a:xfrm>
          <a:prstGeom prst="rect">
            <a:avLst/>
          </a:prstGeom>
          <a:noFill/>
        </p:spPr>
        <p:txBody>
          <a:bodyPr wrap="square" lIns="9144" rIns="9144" tIns="0" bIns="0" anchor="t">
            <a:spAutoFit/>
          </a:bodyPr>
          <a:lstStyle/>
          <a:p>
            <a:pPr algn="ctr"/>
            <a:r>
              <a:rPr sz="1100" b="1" i="0">
                <a:solidFill>
                  <a:srgbClr val="15314F"/>
                </a:solidFill>
                <a:latin typeface="Montserrat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40280" y="2336291"/>
            <a:ext cx="1280160" cy="310896"/>
          </a:xfrm>
          <a:prstGeom prst="rect">
            <a:avLst/>
          </a:prstGeom>
          <a:noFill/>
        </p:spPr>
        <p:txBody>
          <a:bodyPr wrap="square" lIns="9144" rIns="9144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15314F"/>
                </a:solidFill>
                <a:latin typeface="Montserrat"/>
              </a:rPr>
              <a:t>ACTIVITIES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67712" y="2681935"/>
            <a:ext cx="1225296" cy="469087"/>
          </a:xfrm>
          <a:prstGeom prst="rect">
            <a:avLst/>
          </a:prstGeom>
          <a:noFill/>
        </p:spPr>
        <p:txBody>
          <a:bodyPr wrap="square" lIns="9144" rIns="9144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850" b="0" i="0">
                <a:solidFill>
                  <a:srgbClr val="5A6F82"/>
                </a:solidFill>
                <a:latin typeface="Montserrat"/>
              </a:rPr>
              <a:t>What we</a:t>
            </a:r>
          </a:p>
          <a:p>
            <a:pPr algn="ctr">
              <a:lnSpc>
                <a:spcPct val="95000"/>
              </a:lnSpc>
            </a:pPr>
            <a:r>
              <a:rPr sz="850" b="0" i="0">
                <a:solidFill>
                  <a:srgbClr val="5A6F82"/>
                </a:solidFill>
                <a:latin typeface="Montserrat"/>
              </a:rPr>
              <a:t>deliver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3584448" y="2327148"/>
            <a:ext cx="283464" cy="512064"/>
          </a:xfrm>
          <a:prstGeom prst="rightArrow">
            <a:avLst/>
          </a:prstGeom>
          <a:solidFill>
            <a:srgbClr val="1531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93008" y="1691639"/>
            <a:ext cx="502920" cy="237744"/>
          </a:xfrm>
          <a:prstGeom prst="rect">
            <a:avLst/>
          </a:prstGeom>
          <a:noFill/>
        </p:spPr>
        <p:txBody>
          <a:bodyPr wrap="square" lIns="9144" rIns="9144" tIns="0" bIns="0" anchor="ctr">
            <a:spAutoFit/>
          </a:bodyPr>
          <a:lstStyle/>
          <a:p>
            <a:pPr algn="ctr"/>
            <a:r>
              <a:rPr sz="750" b="0" i="1">
                <a:solidFill>
                  <a:srgbClr val="5A6F82"/>
                </a:solidFill>
                <a:latin typeface="Montserrat"/>
              </a:rPr>
              <a:t>assumption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886200" y="1965960"/>
            <a:ext cx="1371600" cy="1234440"/>
          </a:xfrm>
          <a:prstGeom prst="roundRect">
            <a:avLst>
              <a:gd name="adj" fmla="val 7407"/>
            </a:avLst>
          </a:prstGeom>
          <a:solidFill>
            <a:srgbClr val="DCE6EE"/>
          </a:solidFill>
          <a:ln w="15875">
            <a:solidFill>
              <a:srgbClr val="5BA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86200" y="2057400"/>
            <a:ext cx="1371600" cy="274320"/>
          </a:xfrm>
          <a:prstGeom prst="rect">
            <a:avLst/>
          </a:prstGeom>
          <a:noFill/>
        </p:spPr>
        <p:txBody>
          <a:bodyPr wrap="square" lIns="9144" rIns="9144" tIns="0" bIns="0" anchor="t">
            <a:spAutoFit/>
          </a:bodyPr>
          <a:lstStyle/>
          <a:p>
            <a:pPr algn="ctr"/>
            <a:r>
              <a:rPr sz="1100" b="1" i="0">
                <a:solidFill>
                  <a:srgbClr val="15314F"/>
                </a:solidFill>
                <a:latin typeface="Montserrat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31920" y="2336291"/>
            <a:ext cx="1280160" cy="310896"/>
          </a:xfrm>
          <a:prstGeom prst="rect">
            <a:avLst/>
          </a:prstGeom>
          <a:noFill/>
        </p:spPr>
        <p:txBody>
          <a:bodyPr wrap="square" lIns="9144" rIns="9144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15314F"/>
                </a:solidFill>
                <a:latin typeface="Montserrat"/>
              </a:rPr>
              <a:t>OUTPUTS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59352" y="2681935"/>
            <a:ext cx="1225296" cy="469087"/>
          </a:xfrm>
          <a:prstGeom prst="rect">
            <a:avLst/>
          </a:prstGeom>
          <a:noFill/>
        </p:spPr>
        <p:txBody>
          <a:bodyPr wrap="square" lIns="9144" rIns="9144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850" b="0" i="0">
                <a:solidFill>
                  <a:srgbClr val="5A6F82"/>
                </a:solidFill>
                <a:latin typeface="Montserrat"/>
              </a:rPr>
              <a:t>What we</a:t>
            </a:r>
          </a:p>
          <a:p>
            <a:pPr algn="ctr">
              <a:lnSpc>
                <a:spcPct val="95000"/>
              </a:lnSpc>
            </a:pPr>
            <a:r>
              <a:rPr sz="850" b="0" i="0">
                <a:solidFill>
                  <a:srgbClr val="5A6F82"/>
                </a:solidFill>
                <a:latin typeface="Montserrat"/>
              </a:rPr>
              <a:t>count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5276088" y="2327148"/>
            <a:ext cx="283464" cy="512064"/>
          </a:xfrm>
          <a:prstGeom prst="rightArrow">
            <a:avLst/>
          </a:prstGeom>
          <a:solidFill>
            <a:srgbClr val="1531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84648" y="1691639"/>
            <a:ext cx="502920" cy="237744"/>
          </a:xfrm>
          <a:prstGeom prst="rect">
            <a:avLst/>
          </a:prstGeom>
          <a:noFill/>
        </p:spPr>
        <p:txBody>
          <a:bodyPr wrap="square" lIns="9144" rIns="9144" tIns="0" bIns="0" anchor="ctr">
            <a:spAutoFit/>
          </a:bodyPr>
          <a:lstStyle/>
          <a:p>
            <a:pPr algn="ctr"/>
            <a:r>
              <a:rPr sz="750" b="0" i="1">
                <a:solidFill>
                  <a:srgbClr val="5A6F82"/>
                </a:solidFill>
                <a:latin typeface="Montserrat"/>
              </a:rPr>
              <a:t>assumption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577840" y="1965960"/>
            <a:ext cx="1371600" cy="1234440"/>
          </a:xfrm>
          <a:prstGeom prst="roundRect">
            <a:avLst>
              <a:gd name="adj" fmla="val 7407"/>
            </a:avLst>
          </a:prstGeom>
          <a:solidFill>
            <a:srgbClr val="5BA9D8"/>
          </a:solidFill>
          <a:ln w="15875">
            <a:solidFill>
              <a:srgbClr val="5BA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77840" y="2057400"/>
            <a:ext cx="1371600" cy="274320"/>
          </a:xfrm>
          <a:prstGeom prst="rect">
            <a:avLst/>
          </a:prstGeom>
          <a:noFill/>
        </p:spPr>
        <p:txBody>
          <a:bodyPr wrap="square" lIns="9144" rIns="9144" tIns="0" bIns="0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Montserrat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23560" y="2336291"/>
            <a:ext cx="1280160" cy="310896"/>
          </a:xfrm>
          <a:prstGeom prst="rect">
            <a:avLst/>
          </a:prstGeom>
          <a:noFill/>
        </p:spPr>
        <p:txBody>
          <a:bodyPr wrap="square" lIns="9144" rIns="9144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Montserrat"/>
              </a:rPr>
              <a:t>OUTCOMES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50992" y="2681935"/>
            <a:ext cx="1225296" cy="469087"/>
          </a:xfrm>
          <a:prstGeom prst="rect">
            <a:avLst/>
          </a:prstGeom>
          <a:noFill/>
        </p:spPr>
        <p:txBody>
          <a:bodyPr wrap="square" lIns="9144" rIns="9144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850" b="0" i="0">
                <a:solidFill>
                  <a:srgbClr val="FFFFFF"/>
                </a:solidFill>
                <a:latin typeface="Montserrat"/>
              </a:rPr>
              <a:t>What changes</a:t>
            </a:r>
          </a:p>
          <a:p>
            <a:pPr algn="ctr">
              <a:lnSpc>
                <a:spcPct val="95000"/>
              </a:lnSpc>
            </a:pPr>
            <a:r>
              <a:rPr sz="850" b="0" i="0">
                <a:solidFill>
                  <a:srgbClr val="FFFFFF"/>
                </a:solidFill>
                <a:latin typeface="Montserrat"/>
              </a:rPr>
              <a:t>in people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6967728" y="2327148"/>
            <a:ext cx="283464" cy="512064"/>
          </a:xfrm>
          <a:prstGeom prst="rightArrow">
            <a:avLst/>
          </a:prstGeom>
          <a:solidFill>
            <a:srgbClr val="1531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76288" y="1691639"/>
            <a:ext cx="502920" cy="237744"/>
          </a:xfrm>
          <a:prstGeom prst="rect">
            <a:avLst/>
          </a:prstGeom>
          <a:noFill/>
        </p:spPr>
        <p:txBody>
          <a:bodyPr wrap="square" lIns="9144" rIns="9144" tIns="0" bIns="0" anchor="ctr">
            <a:spAutoFit/>
          </a:bodyPr>
          <a:lstStyle/>
          <a:p>
            <a:pPr algn="ctr"/>
            <a:r>
              <a:rPr sz="750" b="0" i="1">
                <a:solidFill>
                  <a:srgbClr val="5A6F82"/>
                </a:solidFill>
                <a:latin typeface="Montserrat"/>
              </a:rPr>
              <a:t>assumption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269480" y="1965960"/>
            <a:ext cx="1371600" cy="1234440"/>
          </a:xfrm>
          <a:prstGeom prst="roundRect">
            <a:avLst>
              <a:gd name="adj" fmla="val 7407"/>
            </a:avLst>
          </a:prstGeom>
          <a:solidFill>
            <a:srgbClr val="15314F"/>
          </a:solidFill>
          <a:ln w="15875">
            <a:solidFill>
              <a:srgbClr val="1531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269480" y="2057400"/>
            <a:ext cx="1371600" cy="274320"/>
          </a:xfrm>
          <a:prstGeom prst="rect">
            <a:avLst/>
          </a:prstGeom>
          <a:noFill/>
        </p:spPr>
        <p:txBody>
          <a:bodyPr wrap="square" lIns="9144" rIns="9144" tIns="0" bIns="0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Montserrat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0" y="2336291"/>
            <a:ext cx="1280160" cy="310896"/>
          </a:xfrm>
          <a:prstGeom prst="rect">
            <a:avLst/>
          </a:prstGeom>
          <a:noFill/>
        </p:spPr>
        <p:txBody>
          <a:bodyPr wrap="square" lIns="9144" rIns="9144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Montserrat"/>
              </a:rPr>
              <a:t>IMPACT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42631" y="2681935"/>
            <a:ext cx="1225296" cy="469087"/>
          </a:xfrm>
          <a:prstGeom prst="rect">
            <a:avLst/>
          </a:prstGeom>
          <a:noFill/>
        </p:spPr>
        <p:txBody>
          <a:bodyPr wrap="square" lIns="9144" rIns="9144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850" b="0" i="0">
                <a:solidFill>
                  <a:srgbClr val="FFFFFF"/>
                </a:solidFill>
                <a:latin typeface="Montserrat"/>
              </a:rPr>
              <a:t>Long-term</a:t>
            </a:r>
          </a:p>
          <a:p>
            <a:pPr algn="ctr">
              <a:lnSpc>
                <a:spcPct val="95000"/>
              </a:lnSpc>
            </a:pPr>
            <a:r>
              <a:rPr sz="850" b="0" i="0">
                <a:solidFill>
                  <a:srgbClr val="FFFFFF"/>
                </a:solidFill>
                <a:latin typeface="Montserrat"/>
              </a:rPr>
              <a:t>community shift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02920" y="3703320"/>
            <a:ext cx="8138160" cy="713232"/>
          </a:xfrm>
          <a:prstGeom prst="roundRect">
            <a:avLst>
              <a:gd name="adj" fmla="val 10256"/>
            </a:avLst>
          </a:prstGeom>
          <a:solidFill>
            <a:srgbClr val="F8FBFD"/>
          </a:solidFill>
          <a:ln w="12700">
            <a:solidFill>
              <a:srgbClr val="5BA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1520" y="3703320"/>
            <a:ext cx="7680960" cy="713232"/>
          </a:xfrm>
          <a:prstGeom prst="rect">
            <a:avLst/>
          </a:prstGeom>
          <a:noFill/>
        </p:spPr>
        <p:txBody>
          <a:bodyPr wrap="square" lIns="9144" rIns="9144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0" i="0">
                <a:solidFill>
                  <a:srgbClr val="15314F"/>
                </a:solidFill>
                <a:latin typeface="Montserrat"/>
              </a:rPr>
              <a:t>Each arrow says: “because of this, that happens.”</a:t>
            </a:r>
          </a:p>
          <a:p>
            <a:pPr algn="ctr">
              <a:lnSpc>
                <a:spcPct val="105000"/>
              </a:lnSpc>
            </a:pPr>
            <a:r>
              <a:rPr sz="1250" b="0" i="0">
                <a:solidFill>
                  <a:srgbClr val="15314F"/>
                </a:solidFill>
                <a:latin typeface="Montserrat"/>
              </a:rPr>
              <a:t>If its assumption breaks, the chain stops right there.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-45720"/>
            <a:ext cx="1554480" cy="7772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92608"/>
            <a:ext cx="822960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15314F"/>
                </a:solidFill>
                <a:latin typeface="Montserrat"/>
              </a:rPr>
              <a:t>From Inputs to Impact — the Youth Camp pathway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914400"/>
            <a:ext cx="8229600" cy="32918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A6F82"/>
                </a:solidFill>
                <a:latin typeface="Montserrat"/>
              </a:rPr>
              <a:t>Click to reveal each level ▶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0040" y="1417320"/>
            <a:ext cx="1591056" cy="566928"/>
          </a:xfrm>
          <a:prstGeom prst="roundRect">
            <a:avLst>
              <a:gd name="adj" fmla="val 8000"/>
            </a:avLst>
          </a:prstGeom>
          <a:solidFill>
            <a:srgbClr val="DCE6EE"/>
          </a:solidFill>
          <a:ln w="15875">
            <a:solidFill>
              <a:srgbClr val="5BA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15314F"/>
                </a:solidFill>
                <a:latin typeface="Montserrat"/>
              </a:rPr>
              <a:t>1</a:t>
            </a:r>
          </a:p>
          <a:p>
            <a:pPr algn="ctr">
              <a:spcAft>
                <a:spcPts val="400"/>
              </a:spcAft>
            </a:pPr>
            <a:r>
              <a:rPr sz="1300" b="1">
                <a:solidFill>
                  <a:srgbClr val="15314F"/>
                </a:solidFill>
                <a:latin typeface="Montserrat"/>
              </a:rPr>
              <a:t>INPUTS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2157984"/>
            <a:ext cx="1591056" cy="1783080"/>
          </a:xfrm>
          <a:prstGeom prst="roundRect">
            <a:avLst>
              <a:gd name="adj" fmla="val 6000"/>
            </a:avLst>
          </a:prstGeom>
          <a:solidFill>
            <a:srgbClr val="F8FBFD"/>
          </a:solidFill>
          <a:ln w="15875">
            <a:solidFill>
              <a:srgbClr val="5BA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27432" bIns="27432"/>
          <a:lstStyle/>
          <a:p>
            <a:pPr algn="l">
              <a:spcAft>
                <a:spcPts val="400"/>
              </a:spcAft>
            </a:pPr>
            <a:r>
              <a:rPr sz="930" b="0">
                <a:solidFill>
                  <a:srgbClr val="15314F"/>
                </a:solidFill>
                <a:latin typeface="Montserrat"/>
              </a:rPr>
              <a:t>•  120 high-school juniors &amp; seniors</a:t>
            </a:r>
          </a:p>
          <a:p>
            <a:pPr algn="l">
              <a:spcAft>
                <a:spcPts val="400"/>
              </a:spcAft>
            </a:pPr>
            <a:r>
              <a:rPr sz="930" b="0">
                <a:solidFill>
                  <a:srgbClr val="15314F"/>
                </a:solidFill>
                <a:latin typeface="Montserrat"/>
              </a:rPr>
              <a:t>•  Vetted by interview</a:t>
            </a:r>
          </a:p>
          <a:p>
            <a:pPr algn="l">
              <a:spcAft>
                <a:spcPts val="400"/>
              </a:spcAft>
            </a:pPr>
            <a:r>
              <a:rPr sz="930" b="0">
                <a:solidFill>
                  <a:srgbClr val="15314F"/>
                </a:solidFill>
                <a:latin typeface="Montserrat"/>
              </a:rPr>
              <a:t>•  MASGLA community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48255" y="1417320"/>
            <a:ext cx="1591056" cy="566928"/>
          </a:xfrm>
          <a:prstGeom prst="roundRect">
            <a:avLst>
              <a:gd name="adj" fmla="val 8000"/>
            </a:avLst>
          </a:prstGeom>
          <a:solidFill>
            <a:srgbClr val="DCE6EE"/>
          </a:solidFill>
          <a:ln w="15875">
            <a:solidFill>
              <a:srgbClr val="5BA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15314F"/>
                </a:solidFill>
                <a:latin typeface="Montserrat"/>
              </a:rPr>
              <a:t>2</a:t>
            </a:r>
          </a:p>
          <a:p>
            <a:pPr algn="ctr">
              <a:spcAft>
                <a:spcPts val="400"/>
              </a:spcAft>
            </a:pPr>
            <a:r>
              <a:rPr sz="1300" b="1">
                <a:solidFill>
                  <a:srgbClr val="15314F"/>
                </a:solidFill>
                <a:latin typeface="Montserrat"/>
              </a:rPr>
              <a:t>ACTIVITIES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48255" y="2157984"/>
            <a:ext cx="1591056" cy="1783080"/>
          </a:xfrm>
          <a:prstGeom prst="roundRect">
            <a:avLst>
              <a:gd name="adj" fmla="val 6000"/>
            </a:avLst>
          </a:prstGeom>
          <a:solidFill>
            <a:srgbClr val="F8FBFD"/>
          </a:solidFill>
          <a:ln w="15875">
            <a:solidFill>
              <a:srgbClr val="5BA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27432" bIns="27432"/>
          <a:lstStyle/>
          <a:p>
            <a:pPr algn="l">
              <a:spcAft>
                <a:spcPts val="400"/>
              </a:spcAft>
            </a:pPr>
            <a:r>
              <a:rPr sz="930" b="0">
                <a:solidFill>
                  <a:srgbClr val="15314F"/>
                </a:solidFill>
                <a:latin typeface="Montserrat"/>
              </a:rPr>
              <a:t>•  5-day retreat at Angelus Oaks</a:t>
            </a:r>
          </a:p>
          <a:p>
            <a:pPr algn="l">
              <a:spcAft>
                <a:spcPts val="400"/>
              </a:spcAft>
            </a:pPr>
            <a:r>
              <a:rPr sz="930" b="0">
                <a:solidFill>
                  <a:srgbClr val="15314F"/>
                </a:solidFill>
                <a:latin typeface="Montserrat"/>
              </a:rPr>
              <a:t>•  Islamic mentorship</a:t>
            </a:r>
          </a:p>
          <a:p>
            <a:pPr algn="l">
              <a:spcAft>
                <a:spcPts val="400"/>
              </a:spcAft>
            </a:pPr>
            <a:r>
              <a:rPr sz="930" b="0">
                <a:solidFill>
                  <a:srgbClr val="15314F"/>
                </a:solidFill>
                <a:latin typeface="Montserrat"/>
              </a:rPr>
              <a:t>•  Worship &amp; group bonding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776472" y="1417320"/>
            <a:ext cx="1591056" cy="566928"/>
          </a:xfrm>
          <a:prstGeom prst="roundRect">
            <a:avLst>
              <a:gd name="adj" fmla="val 8000"/>
            </a:avLst>
          </a:prstGeom>
          <a:solidFill>
            <a:srgbClr val="DCE6EE"/>
          </a:solidFill>
          <a:ln w="15875">
            <a:solidFill>
              <a:srgbClr val="5BA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15314F"/>
                </a:solidFill>
                <a:latin typeface="Montserrat"/>
              </a:rPr>
              <a:t>3</a:t>
            </a:r>
          </a:p>
          <a:p>
            <a:pPr algn="ctr">
              <a:spcAft>
                <a:spcPts val="400"/>
              </a:spcAft>
            </a:pPr>
            <a:r>
              <a:rPr sz="1300" b="1">
                <a:solidFill>
                  <a:srgbClr val="15314F"/>
                </a:solidFill>
                <a:latin typeface="Montserrat"/>
              </a:rPr>
              <a:t>OUTPUTS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776472" y="2157984"/>
            <a:ext cx="1591056" cy="1783080"/>
          </a:xfrm>
          <a:prstGeom prst="roundRect">
            <a:avLst>
              <a:gd name="adj" fmla="val 6000"/>
            </a:avLst>
          </a:prstGeom>
          <a:solidFill>
            <a:srgbClr val="F8FBFD"/>
          </a:solidFill>
          <a:ln w="15875">
            <a:solidFill>
              <a:srgbClr val="5BA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27432" bIns="27432"/>
          <a:lstStyle/>
          <a:p>
            <a:pPr algn="l">
              <a:spcAft>
                <a:spcPts val="400"/>
              </a:spcAft>
            </a:pPr>
            <a:r>
              <a:rPr sz="930" b="0">
                <a:solidFill>
                  <a:srgbClr val="15314F"/>
                </a:solidFill>
                <a:latin typeface="Montserrat"/>
              </a:rPr>
              <a:t>•  Baseline: 40% salah</a:t>
            </a:r>
          </a:p>
          <a:p>
            <a:pPr algn="l">
              <a:spcAft>
                <a:spcPts val="400"/>
              </a:spcAft>
            </a:pPr>
            <a:r>
              <a:rPr sz="930" b="0">
                <a:solidFill>
                  <a:srgbClr val="15314F"/>
                </a:solidFill>
                <a:latin typeface="Montserrat"/>
              </a:rPr>
              <a:t>•  Metric: completions + 3-mo salah %</a:t>
            </a:r>
          </a:p>
          <a:p>
            <a:pPr algn="l">
              <a:spcAft>
                <a:spcPts val="400"/>
              </a:spcAft>
            </a:pPr>
            <a:r>
              <a:rPr sz="930" b="0">
                <a:solidFill>
                  <a:srgbClr val="15314F"/>
                </a:solidFill>
                <a:latin typeface="Montserrat"/>
              </a:rPr>
              <a:t>•  Target: 100 done · 65% salah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504688" y="1417320"/>
            <a:ext cx="1591056" cy="566928"/>
          </a:xfrm>
          <a:prstGeom prst="roundRect">
            <a:avLst>
              <a:gd name="adj" fmla="val 8000"/>
            </a:avLst>
          </a:prstGeom>
          <a:solidFill>
            <a:srgbClr val="5BA9D8"/>
          </a:solidFill>
          <a:ln w="15875">
            <a:solidFill>
              <a:srgbClr val="5BA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Montserrat"/>
              </a:rPr>
              <a:t>4</a:t>
            </a:r>
          </a:p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Montserrat"/>
              </a:rPr>
              <a:t>OUTCOMES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504688" y="2157984"/>
            <a:ext cx="1591056" cy="1783080"/>
          </a:xfrm>
          <a:prstGeom prst="roundRect">
            <a:avLst>
              <a:gd name="adj" fmla="val 6000"/>
            </a:avLst>
          </a:prstGeom>
          <a:solidFill>
            <a:srgbClr val="F8FBFD"/>
          </a:solidFill>
          <a:ln w="15875">
            <a:solidFill>
              <a:srgbClr val="5BA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27432" bIns="27432"/>
          <a:lstStyle/>
          <a:p>
            <a:pPr algn="l">
              <a:spcAft>
                <a:spcPts val="400"/>
              </a:spcAft>
            </a:pPr>
            <a:r>
              <a:rPr sz="930" b="0">
                <a:solidFill>
                  <a:srgbClr val="15314F"/>
                </a:solidFill>
                <a:latin typeface="Montserrat"/>
              </a:rPr>
              <a:t>•  Lasting Islamic bonds</a:t>
            </a:r>
          </a:p>
          <a:p>
            <a:pPr algn="l">
              <a:spcAft>
                <a:spcPts val="400"/>
              </a:spcAft>
            </a:pPr>
            <a:r>
              <a:rPr sz="930" b="0">
                <a:solidFill>
                  <a:srgbClr val="15314F"/>
                </a:solidFill>
                <a:latin typeface="Montserrat"/>
              </a:rPr>
              <a:t>•  Trackable spiritual habits</a:t>
            </a:r>
          </a:p>
          <a:p>
            <a:pPr algn="l">
              <a:spcAft>
                <a:spcPts val="400"/>
              </a:spcAft>
            </a:pPr>
            <a:r>
              <a:rPr sz="930" b="0">
                <a:solidFill>
                  <a:srgbClr val="15314F"/>
                </a:solidFill>
                <a:latin typeface="Montserrat"/>
              </a:rPr>
              <a:t>•  Continued independently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32903" y="1417320"/>
            <a:ext cx="1591056" cy="566928"/>
          </a:xfrm>
          <a:prstGeom prst="roundRect">
            <a:avLst>
              <a:gd name="adj" fmla="val 8000"/>
            </a:avLst>
          </a:prstGeom>
          <a:solidFill>
            <a:srgbClr val="15314F"/>
          </a:solidFill>
          <a:ln w="15875">
            <a:solidFill>
              <a:srgbClr val="1531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Montserrat"/>
              </a:rPr>
              <a:t>5</a:t>
            </a:r>
          </a:p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Montserrat"/>
              </a:rPr>
              <a:t>IMPACT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32903" y="2157984"/>
            <a:ext cx="1591056" cy="1783080"/>
          </a:xfrm>
          <a:prstGeom prst="roundRect">
            <a:avLst>
              <a:gd name="adj" fmla="val 6000"/>
            </a:avLst>
          </a:prstGeom>
          <a:solidFill>
            <a:srgbClr val="F8FBFD"/>
          </a:solidFill>
          <a:ln w="15875">
            <a:solidFill>
              <a:srgbClr val="5BA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27432" bIns="27432"/>
          <a:lstStyle/>
          <a:p>
            <a:pPr algn="l">
              <a:spcAft>
                <a:spcPts val="400"/>
              </a:spcAft>
            </a:pPr>
            <a:r>
              <a:rPr sz="930" b="0">
                <a:solidFill>
                  <a:srgbClr val="15314F"/>
                </a:solidFill>
                <a:latin typeface="Montserrat"/>
              </a:rPr>
              <a:t>•  Islamic identity into adulthood</a:t>
            </a:r>
          </a:p>
          <a:p>
            <a:pPr algn="l">
              <a:spcAft>
                <a:spcPts val="400"/>
              </a:spcAft>
            </a:pPr>
            <a:r>
              <a:rPr sz="930" b="0">
                <a:solidFill>
                  <a:srgbClr val="15314F"/>
                </a:solidFill>
                <a:latin typeface="Montserrat"/>
              </a:rPr>
              <a:t>•  Future Muslim leaders</a:t>
            </a:r>
          </a:p>
          <a:p>
            <a:pPr algn="l">
              <a:spcAft>
                <a:spcPts val="400"/>
              </a:spcAft>
            </a:pPr>
            <a:r>
              <a:rPr sz="930" b="0">
                <a:solidFill>
                  <a:srgbClr val="15314F"/>
                </a:solidFill>
                <a:latin typeface="Montserrat"/>
              </a:rPr>
              <a:t>•  Stronger community life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4846320"/>
            <a:ext cx="3657600" cy="20116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A6F82"/>
                </a:solidFill>
                <a:latin typeface="Montserrat"/>
              </a:rPr>
              <a:t>www.amalandcompany.com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0" y="4846320"/>
            <a:ext cx="3657600" cy="20116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9AAEC0"/>
                </a:solidFill>
                <a:latin typeface="Montserrat"/>
              </a:rPr>
              <a:t>Module 3  ·  The Impact Pathway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9520" y="-45720"/>
            <a:ext cx="1554480" cy="7772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384048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F8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Walking the chain (1 of 2)</a:t>
            </a:r>
            <a:endParaRPr lang="en-US" sz="1050" dirty="0"/>
          </a:p>
        </p:txBody>
      </p:sp>
      <p:sp>
        <p:nvSpPr>
          <p:cNvPr id="4" name="Text 1"/>
          <p:cNvSpPr/>
          <p:nvPr/>
        </p:nvSpPr>
        <p:spPr>
          <a:xfrm>
            <a:off x="502920" y="640080"/>
            <a:ext cx="7315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Inputs  ·  Activities  ·  Outputs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502920" y="1554480"/>
            <a:ext cx="8138160" cy="960120"/>
          </a:xfrm>
          <a:prstGeom prst="roundRect">
            <a:avLst>
              <a:gd name="adj" fmla="val 7619"/>
            </a:avLst>
          </a:prstGeom>
          <a:solidFill>
            <a:srgbClr val="F8FBFD"/>
          </a:solidFill>
          <a:ln w="6350">
            <a:solidFill>
              <a:srgbClr val="DCE6EE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6" name="Shape 3"/>
          <p:cNvSpPr/>
          <p:nvPr/>
        </p:nvSpPr>
        <p:spPr>
          <a:xfrm>
            <a:off x="640080" y="1691640"/>
            <a:ext cx="685800" cy="685800"/>
          </a:xfrm>
          <a:prstGeom prst="ellipse">
            <a:avLst/>
          </a:prstGeom>
          <a:solidFill>
            <a:srgbClr val="15314F"/>
          </a:solidFill>
          <a:ln w="12700">
            <a:solidFill>
              <a:srgbClr val="15314F"/>
            </a:solidFill>
            <a:prstDash val="solid"/>
          </a:ln>
        </p:spPr>
        <p:txBody>
          <a:bodyPr/>
          <a:p/>
        </p:txBody>
      </p:sp>
      <p:sp>
        <p:nvSpPr>
          <p:cNvPr id="7" name="Text 4"/>
          <p:cNvSpPr/>
          <p:nvPr/>
        </p:nvSpPr>
        <p:spPr>
          <a:xfrm>
            <a:off x="640080" y="169164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5BA9D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27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1783080"/>
            <a:ext cx="457200" cy="4572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2011680" y="164592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INPUTS — THE WHO</a:t>
            </a:r>
            <a:endParaRPr lang="en-US" sz="1350" dirty="0"/>
          </a:p>
        </p:txBody>
      </p:sp>
      <p:sp>
        <p:nvSpPr>
          <p:cNvPr id="10" name="Text 6"/>
          <p:cNvSpPr/>
          <p:nvPr/>
        </p:nvSpPr>
        <p:spPr>
          <a:xfrm>
            <a:off x="2011680" y="1920240"/>
            <a:ext cx="6858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5BA9D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Key question:  </a:t>
            </a:r>
            <a:pPr indent="0" marL="0">
              <a:buNone/>
            </a:pPr>
            <a:r>
              <a:rPr lang="en-US" sz="1000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Who exactly are we serving? What do they look like before the program starts?</a:t>
            </a:r>
            <a:endParaRPr lang="en-US" sz="1000" dirty="0"/>
          </a:p>
        </p:txBody>
      </p:sp>
      <p:sp>
        <p:nvSpPr>
          <p:cNvPr id="11" name="Text 7"/>
          <p:cNvSpPr/>
          <p:nvPr/>
        </p:nvSpPr>
        <p:spPr>
          <a:xfrm>
            <a:off x="2011680" y="2194560"/>
            <a:ext cx="6858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D953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Common mistake:  </a:t>
            </a:r>
            <a:pPr indent="0" marL="0">
              <a:buNone/>
            </a:pPr>
            <a:r>
              <a:rPr lang="en-US" sz="1000" i="1" dirty="0">
                <a:solidFill>
                  <a:srgbClr val="5A6F8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Listing budget, staff, or venue. Those are resources, not inputs. Inputs describe the PEOPLE.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502920" y="2587752"/>
            <a:ext cx="8138160" cy="960120"/>
          </a:xfrm>
          <a:prstGeom prst="roundRect">
            <a:avLst>
              <a:gd name="adj" fmla="val 7619"/>
            </a:avLst>
          </a:prstGeom>
          <a:solidFill>
            <a:srgbClr val="F8FBFD"/>
          </a:solidFill>
          <a:ln w="6350">
            <a:solidFill>
              <a:srgbClr val="DCE6EE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13" name="Shape 9"/>
          <p:cNvSpPr/>
          <p:nvPr/>
        </p:nvSpPr>
        <p:spPr>
          <a:xfrm>
            <a:off x="640080" y="2724912"/>
            <a:ext cx="685800" cy="685800"/>
          </a:xfrm>
          <a:prstGeom prst="ellipse">
            <a:avLst/>
          </a:prstGeom>
          <a:solidFill>
            <a:srgbClr val="15314F"/>
          </a:solidFill>
          <a:ln w="12700">
            <a:solidFill>
              <a:srgbClr val="15314F"/>
            </a:solidFill>
            <a:prstDash val="solid"/>
          </a:ln>
        </p:spPr>
        <p:txBody>
          <a:bodyPr/>
          <a:p/>
        </p:txBody>
      </p:sp>
      <p:sp>
        <p:nvSpPr>
          <p:cNvPr id="14" name="Text 10"/>
          <p:cNvSpPr/>
          <p:nvPr/>
        </p:nvSpPr>
        <p:spPr>
          <a:xfrm>
            <a:off x="640080" y="2724912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5BA9D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2700" dirty="0"/>
          </a:p>
        </p:txBody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3040" y="2816352"/>
            <a:ext cx="457200" cy="45720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2011680" y="267919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ACTIVITIES — WHAT WE DELIVER</a:t>
            </a:r>
            <a:endParaRPr lang="en-US" sz="1350" dirty="0"/>
          </a:p>
        </p:txBody>
      </p:sp>
      <p:sp>
        <p:nvSpPr>
          <p:cNvPr id="17" name="Text 12"/>
          <p:cNvSpPr/>
          <p:nvPr/>
        </p:nvSpPr>
        <p:spPr>
          <a:xfrm>
            <a:off x="2011680" y="2953512"/>
            <a:ext cx="6858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5BA9D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Key question:  </a:t>
            </a:r>
            <a:pPr indent="0" marL="0">
              <a:buNone/>
            </a:pPr>
            <a:r>
              <a:rPr lang="en-US" sz="1000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What structured experience does our team actually run?</a:t>
            </a:r>
            <a:endParaRPr lang="en-US" sz="1000" dirty="0"/>
          </a:p>
        </p:txBody>
      </p:sp>
      <p:sp>
        <p:nvSpPr>
          <p:cNvPr id="18" name="Text 13"/>
          <p:cNvSpPr/>
          <p:nvPr/>
        </p:nvSpPr>
        <p:spPr>
          <a:xfrm>
            <a:off x="2011680" y="3227832"/>
            <a:ext cx="6858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D953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Common mistake:  </a:t>
            </a:r>
            <a:pPr indent="0" marL="0">
              <a:buNone/>
            </a:pPr>
            <a:r>
              <a:rPr lang="en-US" sz="1000" i="1" dirty="0">
                <a:solidFill>
                  <a:srgbClr val="5A6F8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Vague summaries. “We hold events.” Name the format, cadence, and duration.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502920" y="3621024"/>
            <a:ext cx="8138160" cy="960120"/>
          </a:xfrm>
          <a:prstGeom prst="roundRect">
            <a:avLst>
              <a:gd name="adj" fmla="val 7619"/>
            </a:avLst>
          </a:prstGeom>
          <a:solidFill>
            <a:srgbClr val="F8FBFD"/>
          </a:solidFill>
          <a:ln w="6350">
            <a:solidFill>
              <a:srgbClr val="DCE6EE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20" name="Shape 15"/>
          <p:cNvSpPr/>
          <p:nvPr/>
        </p:nvSpPr>
        <p:spPr>
          <a:xfrm>
            <a:off x="640080" y="3758184"/>
            <a:ext cx="685800" cy="685800"/>
          </a:xfrm>
          <a:prstGeom prst="ellipse">
            <a:avLst/>
          </a:prstGeom>
          <a:solidFill>
            <a:srgbClr val="15314F"/>
          </a:solidFill>
          <a:ln w="12700">
            <a:solidFill>
              <a:srgbClr val="15314F"/>
            </a:solidFill>
            <a:prstDash val="solid"/>
          </a:ln>
        </p:spPr>
        <p:txBody>
          <a:bodyPr/>
          <a:p/>
        </p:txBody>
      </p:sp>
      <p:sp>
        <p:nvSpPr>
          <p:cNvPr id="21" name="Text 16"/>
          <p:cNvSpPr/>
          <p:nvPr/>
        </p:nvSpPr>
        <p:spPr>
          <a:xfrm>
            <a:off x="640080" y="3758184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5BA9D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2700" dirty="0"/>
          </a:p>
        </p:txBody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63040" y="3849624"/>
            <a:ext cx="457200" cy="45720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2011680" y="37124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OUTPUTS — WHAT WE COUNT</a:t>
            </a:r>
            <a:endParaRPr lang="en-US" sz="1350" dirty="0"/>
          </a:p>
        </p:txBody>
      </p:sp>
      <p:sp>
        <p:nvSpPr>
          <p:cNvPr id="24" name="Text 18"/>
          <p:cNvSpPr/>
          <p:nvPr/>
        </p:nvSpPr>
        <p:spPr>
          <a:xfrm>
            <a:off x="2011680" y="3986784"/>
            <a:ext cx="6858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5BA9D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Key question:  </a:t>
            </a:r>
            <a:pPr indent="0" marL="0">
              <a:buNone/>
            </a:pPr>
            <a:r>
              <a:rPr lang="en-US" sz="1000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What countable things does the activity produce? (attendance, completions, sessions)</a:t>
            </a:r>
            <a:endParaRPr lang="en-US" sz="1000" dirty="0"/>
          </a:p>
        </p:txBody>
      </p:sp>
      <p:sp>
        <p:nvSpPr>
          <p:cNvPr id="25" name="Text 19"/>
          <p:cNvSpPr/>
          <p:nvPr/>
        </p:nvSpPr>
        <p:spPr>
          <a:xfrm>
            <a:off x="2011680" y="4261104"/>
            <a:ext cx="6858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D953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Common mistake:  </a:t>
            </a:r>
            <a:pPr indent="0" marL="0">
              <a:buNone/>
            </a:pPr>
            <a:r>
              <a:rPr lang="en-US" sz="1000" i="1" dirty="0">
                <a:solidFill>
                  <a:srgbClr val="5A6F8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Confusing outputs with outcomes. Outputs are countable. Outcomes are what changes in people.</a:t>
            </a:r>
            <a:endParaRPr lang="en-US" sz="1000" dirty="0"/>
          </a:p>
        </p:txBody>
      </p:sp>
      <p:sp>
        <p:nvSpPr>
          <p:cNvPr id="26" name="Shape 20"/>
          <p:cNvSpPr/>
          <p:nvPr/>
        </p:nvSpPr>
        <p:spPr>
          <a:xfrm>
            <a:off x="502920" y="4732020"/>
            <a:ext cx="8138160" cy="0"/>
          </a:xfrm>
          <a:prstGeom prst="line">
            <a:avLst/>
          </a:prstGeom>
          <a:noFill/>
          <a:ln w="9525">
            <a:solidFill>
              <a:srgbClr val="DCE6EE"/>
            </a:solidFill>
            <a:prstDash val="solid"/>
          </a:ln>
        </p:spPr>
        <p:txBody>
          <a:bodyPr/>
          <a:p/>
        </p:txBody>
      </p:sp>
      <p:sp>
        <p:nvSpPr>
          <p:cNvPr id="27" name="Text 21"/>
          <p:cNvSpPr/>
          <p:nvPr/>
        </p:nvSpPr>
        <p:spPr>
          <a:xfrm>
            <a:off x="502920" y="48234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F8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www.amalandcompany.com</a:t>
            </a:r>
            <a:endParaRPr lang="en-US" sz="900" dirty="0"/>
          </a:p>
        </p:txBody>
      </p:sp>
      <p:sp>
        <p:nvSpPr>
          <p:cNvPr id="28" name="Text 22"/>
          <p:cNvSpPr/>
          <p:nvPr/>
        </p:nvSpPr>
        <p:spPr>
          <a:xfrm>
            <a:off x="2743200" y="48234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AAEC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Module 3  ·  The Impact Pathway</a:t>
            </a:r>
            <a:endParaRPr lang="en-US" sz="850" dirty="0"/>
          </a:p>
        </p:txBody>
      </p:sp>
      <p:sp>
        <p:nvSpPr>
          <p:cNvPr id="29" name="Text 23"/>
          <p:cNvSpPr/>
          <p:nvPr/>
        </p:nvSpPr>
        <p:spPr>
          <a:xfrm>
            <a:off x="4983480" y="48234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F8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Page 06</a:t>
            </a:r>
            <a:endParaRPr lang="en-US" sz="900" dirty="0"/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9520" y="-45720"/>
            <a:ext cx="1554480" cy="7772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384048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F8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Walking the chain (2 of 2)</a:t>
            </a:r>
            <a:endParaRPr lang="en-US" sz="1050" dirty="0"/>
          </a:p>
        </p:txBody>
      </p:sp>
      <p:sp>
        <p:nvSpPr>
          <p:cNvPr id="4" name="Text 1"/>
          <p:cNvSpPr/>
          <p:nvPr/>
        </p:nvSpPr>
        <p:spPr>
          <a:xfrm>
            <a:off x="502920" y="640080"/>
            <a:ext cx="7315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Outcomes  ·  Impact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502920" y="1554480"/>
            <a:ext cx="8138160" cy="1371600"/>
          </a:xfrm>
          <a:prstGeom prst="roundRect">
            <a:avLst>
              <a:gd name="adj" fmla="val 5333"/>
            </a:avLst>
          </a:prstGeom>
          <a:solidFill>
            <a:srgbClr val="F8FBFD"/>
          </a:solidFill>
          <a:ln w="6350">
            <a:solidFill>
              <a:srgbClr val="DCE6EE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6" name="Shape 3"/>
          <p:cNvSpPr/>
          <p:nvPr/>
        </p:nvSpPr>
        <p:spPr>
          <a:xfrm>
            <a:off x="640080" y="1737360"/>
            <a:ext cx="685800" cy="685800"/>
          </a:xfrm>
          <a:prstGeom prst="ellipse">
            <a:avLst/>
          </a:prstGeom>
          <a:solidFill>
            <a:srgbClr val="15314F"/>
          </a:solidFill>
          <a:ln w="12700">
            <a:solidFill>
              <a:srgbClr val="15314F"/>
            </a:solidFill>
            <a:prstDash val="solid"/>
          </a:ln>
        </p:spPr>
        <p:txBody>
          <a:bodyPr/>
          <a:p/>
        </p:txBody>
      </p:sp>
      <p:sp>
        <p:nvSpPr>
          <p:cNvPr id="7" name="Text 4"/>
          <p:cNvSpPr/>
          <p:nvPr/>
        </p:nvSpPr>
        <p:spPr>
          <a:xfrm>
            <a:off x="640080" y="173736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5BA9D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27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1874520"/>
            <a:ext cx="457200" cy="4572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2011680" y="164592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OUTCOMES — WHAT CHANGES</a:t>
            </a:r>
            <a:endParaRPr lang="en-US" sz="1350" dirty="0"/>
          </a:p>
        </p:txBody>
      </p:sp>
      <p:sp>
        <p:nvSpPr>
          <p:cNvPr id="10" name="Text 6"/>
          <p:cNvSpPr/>
          <p:nvPr/>
        </p:nvSpPr>
        <p:spPr>
          <a:xfrm>
            <a:off x="2011680" y="1920240"/>
            <a:ext cx="6858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5BA9D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Key question:  </a:t>
            </a:r>
            <a:pPr indent="0" marL="0">
              <a:buNone/>
            </a:pPr>
            <a:r>
              <a:rPr lang="en-US" sz="1000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What changes in a person's life because of our program that would not have happened otherwise?</a:t>
            </a:r>
            <a:endParaRPr lang="en-US" sz="1000" dirty="0"/>
          </a:p>
        </p:txBody>
      </p:sp>
      <p:sp>
        <p:nvSpPr>
          <p:cNvPr id="11" name="Text 7"/>
          <p:cNvSpPr/>
          <p:nvPr/>
        </p:nvSpPr>
        <p:spPr>
          <a:xfrm>
            <a:off x="2011680" y="2194560"/>
            <a:ext cx="6858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D953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Common mistake:  </a:t>
            </a:r>
            <a:pPr indent="0" marL="0">
              <a:buNone/>
            </a:pPr>
            <a:r>
              <a:rPr lang="en-US" sz="1000" i="1" dirty="0">
                <a:solidFill>
                  <a:srgbClr val="5A6F8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Being too vague. “Grow spiritually” is not measurable. Specify behavior, condition, or knowledge changes.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2011680" y="2487168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BA9D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Youth Camp: Youth form lasting Islamic bonds and adopt trackable spiritual habits they continue independently.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502920" y="3063240"/>
            <a:ext cx="8138160" cy="1371600"/>
          </a:xfrm>
          <a:prstGeom prst="roundRect">
            <a:avLst>
              <a:gd name="adj" fmla="val 5333"/>
            </a:avLst>
          </a:prstGeom>
          <a:solidFill>
            <a:srgbClr val="F8FBFD"/>
          </a:solidFill>
          <a:ln w="6350">
            <a:solidFill>
              <a:srgbClr val="DCE6EE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14" name="Shape 10"/>
          <p:cNvSpPr/>
          <p:nvPr/>
        </p:nvSpPr>
        <p:spPr>
          <a:xfrm>
            <a:off x="640080" y="3246120"/>
            <a:ext cx="685800" cy="685800"/>
          </a:xfrm>
          <a:prstGeom prst="ellipse">
            <a:avLst/>
          </a:prstGeom>
          <a:solidFill>
            <a:srgbClr val="15314F"/>
          </a:solidFill>
          <a:ln w="12700">
            <a:solidFill>
              <a:srgbClr val="15314F"/>
            </a:solidFill>
            <a:prstDash val="solid"/>
          </a:ln>
        </p:spPr>
        <p:txBody>
          <a:bodyPr/>
          <a:p/>
        </p:txBody>
      </p:sp>
      <p:sp>
        <p:nvSpPr>
          <p:cNvPr id="15" name="Text 11"/>
          <p:cNvSpPr/>
          <p:nvPr/>
        </p:nvSpPr>
        <p:spPr>
          <a:xfrm>
            <a:off x="640080" y="32461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5BA9D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</a:t>
            </a:r>
            <a:endParaRPr lang="en-US" sz="2700" dirty="0"/>
          </a:p>
        </p:txBody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3040" y="3383280"/>
            <a:ext cx="457200" cy="45720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2011680" y="315468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IMPACT — LONG-TERM SHIFT</a:t>
            </a:r>
            <a:endParaRPr lang="en-US" sz="1350" dirty="0"/>
          </a:p>
        </p:txBody>
      </p:sp>
      <p:sp>
        <p:nvSpPr>
          <p:cNvPr id="18" name="Text 13"/>
          <p:cNvSpPr/>
          <p:nvPr/>
        </p:nvSpPr>
        <p:spPr>
          <a:xfrm>
            <a:off x="2011680" y="3429000"/>
            <a:ext cx="6858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5BA9D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Key question:  </a:t>
            </a:r>
            <a:pPr indent="0" marL="0">
              <a:buNone/>
            </a:pPr>
            <a:r>
              <a:rPr lang="en-US" sz="1000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What community-level shift do we contribute to across 3–5 years?</a:t>
            </a:r>
            <a:endParaRPr lang="en-US" sz="1000" dirty="0"/>
          </a:p>
        </p:txBody>
      </p:sp>
      <p:sp>
        <p:nvSpPr>
          <p:cNvPr id="19" name="Text 14"/>
          <p:cNvSpPr/>
          <p:nvPr/>
        </p:nvSpPr>
        <p:spPr>
          <a:xfrm>
            <a:off x="2011680" y="3703320"/>
            <a:ext cx="6858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D953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Common mistake:  </a:t>
            </a:r>
            <a:pPr indent="0" marL="0">
              <a:buNone/>
            </a:pPr>
            <a:r>
              <a:rPr lang="en-US" sz="1000" i="1" dirty="0">
                <a:solidFill>
                  <a:srgbClr val="5A6F8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Overclaiming. Impact is contribution, not sole causation. Frame it as 'contributes to,' not 'causes.'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2011680" y="3995928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BA9D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Youth Camp: A generation of high schoolers carrying Islamic identity into adult Muslim leadership.</a:t>
            </a:r>
            <a:endParaRPr lang="en-US" sz="1000" dirty="0"/>
          </a:p>
        </p:txBody>
      </p:sp>
      <p:sp>
        <p:nvSpPr>
          <p:cNvPr id="21" name="Shape 16"/>
          <p:cNvSpPr/>
          <p:nvPr/>
        </p:nvSpPr>
        <p:spPr>
          <a:xfrm>
            <a:off x="502920" y="4732020"/>
            <a:ext cx="8138160" cy="0"/>
          </a:xfrm>
          <a:prstGeom prst="line">
            <a:avLst/>
          </a:prstGeom>
          <a:noFill/>
          <a:ln w="9525">
            <a:solidFill>
              <a:srgbClr val="DCE6EE"/>
            </a:solidFill>
            <a:prstDash val="solid"/>
          </a:ln>
        </p:spPr>
        <p:txBody>
          <a:bodyPr/>
          <a:p/>
        </p:txBody>
      </p:sp>
      <p:sp>
        <p:nvSpPr>
          <p:cNvPr id="22" name="Text 17"/>
          <p:cNvSpPr/>
          <p:nvPr/>
        </p:nvSpPr>
        <p:spPr>
          <a:xfrm>
            <a:off x="502920" y="48234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F8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www.amalandcompany.com</a:t>
            </a:r>
            <a:endParaRPr lang="en-US" sz="900" dirty="0"/>
          </a:p>
        </p:txBody>
      </p:sp>
      <p:sp>
        <p:nvSpPr>
          <p:cNvPr id="23" name="Text 18"/>
          <p:cNvSpPr/>
          <p:nvPr/>
        </p:nvSpPr>
        <p:spPr>
          <a:xfrm>
            <a:off x="2743200" y="48234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AAEC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Module 3  ·  The Impact Pathway</a:t>
            </a:r>
            <a:endParaRPr lang="en-US" sz="850" dirty="0"/>
          </a:p>
        </p:txBody>
      </p:sp>
      <p:sp>
        <p:nvSpPr>
          <p:cNvPr id="24" name="Text 19"/>
          <p:cNvSpPr/>
          <p:nvPr/>
        </p:nvSpPr>
        <p:spPr>
          <a:xfrm>
            <a:off x="4983480" y="48234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F8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Page 07</a:t>
            </a:r>
            <a:endParaRPr lang="en-US" sz="900" dirty="0"/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-45720"/>
            <a:ext cx="1554480" cy="7772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482346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>
                <a:solidFill>
                  <a:srgbClr val="5A6F82"/>
                </a:solidFill>
                <a:latin typeface="Montserrat"/>
              </a:rPr>
              <a:t>www.amalandcompany.com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482346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50">
                <a:solidFill>
                  <a:srgbClr val="9AAEC0"/>
                </a:solidFill>
                <a:latin typeface="Montserrat"/>
              </a:rPr>
              <a:t>Module 3  ·  The Impact Pathway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83480" y="482346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>
                <a:solidFill>
                  <a:srgbClr val="5A6F82"/>
                </a:solidFill>
                <a:latin typeface="Montserrat"/>
              </a:rPr>
              <a:t>Page 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92608"/>
            <a:ext cx="8138160" cy="566928"/>
          </a:xfrm>
          <a:prstGeom prst="rect">
            <a:avLst/>
          </a:prstGeom>
          <a:noFill/>
        </p:spPr>
        <p:txBody>
          <a:bodyPr wrap="square" lIns="9144" rIns="9144" tIns="0" bIns="0" anchor="ctr">
            <a:spAutoFit/>
          </a:bodyPr>
          <a:lstStyle/>
          <a:p>
            <a:pPr algn="l"/>
            <a:r>
              <a:rPr sz="2500" b="1" i="0">
                <a:solidFill>
                  <a:srgbClr val="15314F"/>
                </a:solidFill>
                <a:latin typeface="Montserrat"/>
              </a:rPr>
              <a:t>How much do you stretch the logic model?</a:t>
            </a:r>
          </a:p>
        </p:txBody>
      </p:sp>
      <p:sp>
        <p:nvSpPr>
          <p:cNvPr id="7" name="Oval 6"/>
          <p:cNvSpPr/>
          <p:nvPr/>
        </p:nvSpPr>
        <p:spPr>
          <a:xfrm>
            <a:off x="502920" y="1965960"/>
            <a:ext cx="4069080" cy="1463040"/>
          </a:xfrm>
          <a:prstGeom prst="ellipse">
            <a:avLst/>
          </a:prstGeom>
          <a:noFill/>
          <a:ln w="25400">
            <a:solidFill>
              <a:srgbClr val="3F91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57200" y="1801368"/>
            <a:ext cx="5532120" cy="1792224"/>
          </a:xfrm>
          <a:prstGeom prst="ellipse">
            <a:avLst/>
          </a:prstGeom>
          <a:noFill/>
          <a:ln w="19050">
            <a:solidFill>
              <a:srgbClr val="1531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502920" y="1691640"/>
            <a:ext cx="7360920" cy="2011680"/>
          </a:xfrm>
          <a:prstGeom prst="ellipse">
            <a:avLst/>
          </a:prstGeom>
          <a:noFill/>
          <a:ln w="25400">
            <a:solidFill>
              <a:srgbClr val="F2B7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51560" y="1298448"/>
            <a:ext cx="283464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1531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1298448"/>
            <a:ext cx="2834640" cy="420624"/>
          </a:xfrm>
          <a:prstGeom prst="rect">
            <a:avLst/>
          </a:prstGeom>
          <a:noFill/>
        </p:spPr>
        <p:txBody>
          <a:bodyPr wrap="square" lIns="9144" rIns="9144" tIns="0" bIns="0" anchor="ctr">
            <a:spAutoFit/>
          </a:bodyPr>
          <a:lstStyle/>
          <a:p>
            <a:pPr algn="ctr"/>
            <a:r>
              <a:rPr sz="1300" b="1" i="0">
                <a:solidFill>
                  <a:srgbClr val="15314F"/>
                </a:solidFill>
                <a:latin typeface="Montserrat"/>
              </a:rPr>
              <a:t>Enterprise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20640" y="1298448"/>
            <a:ext cx="278892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1531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0" y="1298448"/>
            <a:ext cx="2788920" cy="420624"/>
          </a:xfrm>
          <a:prstGeom prst="rect">
            <a:avLst/>
          </a:prstGeom>
          <a:noFill/>
        </p:spPr>
        <p:txBody>
          <a:bodyPr wrap="square" lIns="9144" rIns="9144" tIns="0" bIns="0" anchor="ctr">
            <a:spAutoFit/>
          </a:bodyPr>
          <a:lstStyle/>
          <a:p>
            <a:pPr algn="ctr"/>
            <a:r>
              <a:rPr sz="1300" b="1" i="0">
                <a:solidFill>
                  <a:srgbClr val="15314F"/>
                </a:solidFill>
                <a:latin typeface="Montserrat"/>
              </a:rPr>
              <a:t>Eco-System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2368296"/>
            <a:ext cx="960120" cy="658368"/>
          </a:xfrm>
          <a:prstGeom prst="roundRect">
            <a:avLst>
              <a:gd name="adj" fmla="val 11111"/>
            </a:avLst>
          </a:prstGeom>
          <a:solidFill>
            <a:srgbClr val="DCE6EE"/>
          </a:solidFill>
          <a:ln w="15875">
            <a:solidFill>
              <a:srgbClr val="5BA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2368296"/>
            <a:ext cx="960120" cy="658368"/>
          </a:xfrm>
          <a:prstGeom prst="rect">
            <a:avLst/>
          </a:prstGeom>
          <a:noFill/>
        </p:spPr>
        <p:txBody>
          <a:bodyPr wrap="square" lIns="9144" rIns="9144" tIns="0" bIns="0" anchor="ctr">
            <a:spAutoFit/>
          </a:bodyPr>
          <a:lstStyle/>
          <a:p>
            <a:pPr algn="ctr"/>
            <a:r>
              <a:rPr sz="1150" b="1" i="0">
                <a:solidFill>
                  <a:srgbClr val="15314F"/>
                </a:solidFill>
                <a:latin typeface="Montserrat"/>
              </a:rPr>
              <a:t>Inputs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874519" y="2368296"/>
            <a:ext cx="1051560" cy="658368"/>
          </a:xfrm>
          <a:prstGeom prst="roundRect">
            <a:avLst>
              <a:gd name="adj" fmla="val 11111"/>
            </a:avLst>
          </a:prstGeom>
          <a:solidFill>
            <a:srgbClr val="DCE6EE"/>
          </a:solidFill>
          <a:ln w="15875">
            <a:solidFill>
              <a:srgbClr val="5BA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874519" y="2368296"/>
            <a:ext cx="1051560" cy="658368"/>
          </a:xfrm>
          <a:prstGeom prst="rect">
            <a:avLst/>
          </a:prstGeom>
          <a:noFill/>
        </p:spPr>
        <p:txBody>
          <a:bodyPr wrap="square" lIns="9144" rIns="9144" tIns="0" bIns="0" anchor="ctr">
            <a:spAutoFit/>
          </a:bodyPr>
          <a:lstStyle/>
          <a:p>
            <a:pPr algn="ctr"/>
            <a:r>
              <a:rPr sz="1150" b="1" i="0">
                <a:solidFill>
                  <a:srgbClr val="15314F"/>
                </a:solidFill>
                <a:latin typeface="Montserrat"/>
              </a:rPr>
              <a:t>Activity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154680" y="2368296"/>
            <a:ext cx="1051560" cy="658368"/>
          </a:xfrm>
          <a:prstGeom prst="roundRect">
            <a:avLst>
              <a:gd name="adj" fmla="val 11111"/>
            </a:avLst>
          </a:prstGeom>
          <a:solidFill>
            <a:srgbClr val="DCE6EE"/>
          </a:solidFill>
          <a:ln w="15875">
            <a:solidFill>
              <a:srgbClr val="5BA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154680" y="2368296"/>
            <a:ext cx="1051560" cy="658368"/>
          </a:xfrm>
          <a:prstGeom prst="rect">
            <a:avLst/>
          </a:prstGeom>
          <a:noFill/>
        </p:spPr>
        <p:txBody>
          <a:bodyPr wrap="square" lIns="9144" rIns="9144" tIns="0" bIns="0" anchor="ctr">
            <a:spAutoFit/>
          </a:bodyPr>
          <a:lstStyle/>
          <a:p>
            <a:pPr algn="ctr"/>
            <a:r>
              <a:rPr sz="1150" b="1" i="0">
                <a:solidFill>
                  <a:srgbClr val="15314F"/>
                </a:solidFill>
                <a:latin typeface="Montserrat"/>
              </a:rPr>
              <a:t>Outputs</a:t>
            </a:r>
          </a:p>
        </p:txBody>
      </p:sp>
      <p:sp>
        <p:nvSpPr>
          <p:cNvPr id="20" name="Oval 19"/>
          <p:cNvSpPr/>
          <p:nvPr/>
        </p:nvSpPr>
        <p:spPr>
          <a:xfrm>
            <a:off x="4434840" y="2231136"/>
            <a:ext cx="932688" cy="932688"/>
          </a:xfrm>
          <a:prstGeom prst="ellipse">
            <a:avLst/>
          </a:prstGeom>
          <a:solidFill>
            <a:srgbClr val="9DC0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34840" y="2231136"/>
            <a:ext cx="932688" cy="932688"/>
          </a:xfrm>
          <a:prstGeom prst="rect">
            <a:avLst/>
          </a:prstGeom>
          <a:noFill/>
        </p:spPr>
        <p:txBody>
          <a:bodyPr wrap="square" lIns="9144" rIns="9144" tIns="0" bIns="0" anchor="ctr">
            <a:spAutoFit/>
          </a:bodyPr>
          <a:lstStyle/>
          <a:p>
            <a:pPr algn="ctr">
              <a:lnSpc>
                <a:spcPct val="90000"/>
              </a:lnSpc>
            </a:pPr>
            <a:r>
              <a:rPr sz="1050" b="1" i="0">
                <a:solidFill>
                  <a:srgbClr val="FFFFFF"/>
                </a:solidFill>
                <a:latin typeface="Montserrat"/>
              </a:rPr>
              <a:t>Outcomes</a:t>
            </a:r>
          </a:p>
        </p:txBody>
      </p:sp>
      <p:sp>
        <p:nvSpPr>
          <p:cNvPr id="22" name="Oval 21"/>
          <p:cNvSpPr/>
          <p:nvPr/>
        </p:nvSpPr>
        <p:spPr>
          <a:xfrm>
            <a:off x="5623560" y="2231136"/>
            <a:ext cx="932688" cy="932688"/>
          </a:xfrm>
          <a:prstGeom prst="ellipse">
            <a:avLst/>
          </a:prstGeom>
          <a:solidFill>
            <a:srgbClr val="6D9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23560" y="2231136"/>
            <a:ext cx="932688" cy="932688"/>
          </a:xfrm>
          <a:prstGeom prst="rect">
            <a:avLst/>
          </a:prstGeom>
          <a:noFill/>
        </p:spPr>
        <p:txBody>
          <a:bodyPr wrap="square" lIns="9144" rIns="9144" tIns="0" bIns="0" anchor="ctr">
            <a:spAutoFit/>
          </a:bodyPr>
          <a:lstStyle/>
          <a:p>
            <a:pPr algn="ctr">
              <a:lnSpc>
                <a:spcPct val="90000"/>
              </a:lnSpc>
            </a:pPr>
            <a:r>
              <a:rPr sz="1050" b="1" i="0">
                <a:solidFill>
                  <a:srgbClr val="FFFFFF"/>
                </a:solidFill>
                <a:latin typeface="Montserrat"/>
              </a:rPr>
              <a:t>Community</a:t>
            </a:r>
          </a:p>
        </p:txBody>
      </p:sp>
      <p:sp>
        <p:nvSpPr>
          <p:cNvPr id="24" name="Oval 23"/>
          <p:cNvSpPr/>
          <p:nvPr/>
        </p:nvSpPr>
        <p:spPr>
          <a:xfrm>
            <a:off x="6812280" y="2231136"/>
            <a:ext cx="932688" cy="932688"/>
          </a:xfrm>
          <a:prstGeom prst="ellipse">
            <a:avLst/>
          </a:prstGeom>
          <a:solidFill>
            <a:srgbClr val="3F91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12280" y="2231136"/>
            <a:ext cx="932688" cy="932688"/>
          </a:xfrm>
          <a:prstGeom prst="rect">
            <a:avLst/>
          </a:prstGeom>
          <a:noFill/>
        </p:spPr>
        <p:txBody>
          <a:bodyPr wrap="square" lIns="9144" rIns="9144" tIns="0" bIns="0" anchor="ctr">
            <a:spAutoFit/>
          </a:bodyPr>
          <a:lstStyle/>
          <a:p>
            <a:pPr algn="ctr">
              <a:lnSpc>
                <a:spcPct val="90000"/>
              </a:lnSpc>
            </a:pPr>
            <a:r>
              <a:rPr sz="1050" b="1" i="0">
                <a:solidFill>
                  <a:srgbClr val="FFFFFF"/>
                </a:solidFill>
                <a:latin typeface="Montserrat"/>
              </a:rPr>
              <a:t>Systemic</a:t>
            </a:r>
          </a:p>
          <a:p>
            <a:pPr algn="ctr">
              <a:lnSpc>
                <a:spcPct val="90000"/>
              </a:lnSpc>
            </a:pPr>
            <a:r>
              <a:rPr sz="1050" b="1" i="0">
                <a:solidFill>
                  <a:srgbClr val="FFFFFF"/>
                </a:solidFill>
                <a:latin typeface="Montserrat"/>
              </a:rPr>
              <a:t>Change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1618488" y="2578608"/>
            <a:ext cx="219455" cy="237744"/>
          </a:xfrm>
          <a:prstGeom prst="rightArrow">
            <a:avLst/>
          </a:prstGeom>
          <a:solidFill>
            <a:srgbClr val="1531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ight Arrow 26"/>
          <p:cNvSpPr/>
          <p:nvPr/>
        </p:nvSpPr>
        <p:spPr>
          <a:xfrm>
            <a:off x="2944368" y="2578608"/>
            <a:ext cx="173736" cy="237744"/>
          </a:xfrm>
          <a:prstGeom prst="rightArrow">
            <a:avLst/>
          </a:prstGeom>
          <a:solidFill>
            <a:srgbClr val="1531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ight Arrow 27"/>
          <p:cNvSpPr/>
          <p:nvPr/>
        </p:nvSpPr>
        <p:spPr>
          <a:xfrm>
            <a:off x="4224527" y="2578608"/>
            <a:ext cx="173736" cy="237744"/>
          </a:xfrm>
          <a:prstGeom prst="rightArrow">
            <a:avLst/>
          </a:prstGeom>
          <a:solidFill>
            <a:srgbClr val="1531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ight Arrow 28"/>
          <p:cNvSpPr/>
          <p:nvPr/>
        </p:nvSpPr>
        <p:spPr>
          <a:xfrm>
            <a:off x="5385816" y="2578608"/>
            <a:ext cx="201168" cy="237744"/>
          </a:xfrm>
          <a:prstGeom prst="rightArrow">
            <a:avLst/>
          </a:prstGeom>
          <a:solidFill>
            <a:srgbClr val="1531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ight Arrow 29"/>
          <p:cNvSpPr/>
          <p:nvPr/>
        </p:nvSpPr>
        <p:spPr>
          <a:xfrm>
            <a:off x="6574536" y="2578608"/>
            <a:ext cx="201168" cy="237744"/>
          </a:xfrm>
          <a:prstGeom prst="rightArrow">
            <a:avLst/>
          </a:prstGeom>
          <a:solidFill>
            <a:srgbClr val="1531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40080" y="3822191"/>
            <a:ext cx="3291840" cy="713232"/>
          </a:xfrm>
          <a:prstGeom prst="roundRect">
            <a:avLst>
              <a:gd name="adj" fmla="val 8974"/>
            </a:avLst>
          </a:prstGeom>
          <a:solidFill>
            <a:srgbClr val="F8FBFD"/>
          </a:solidFill>
          <a:ln w="12700">
            <a:solidFill>
              <a:srgbClr val="5BA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7240" y="3822191"/>
            <a:ext cx="3017520" cy="713232"/>
          </a:xfrm>
          <a:prstGeom prst="rect">
            <a:avLst/>
          </a:prstGeom>
          <a:noFill/>
        </p:spPr>
        <p:txBody>
          <a:bodyPr wrap="square" lIns="9144" rIns="9144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0" i="0">
                <a:solidFill>
                  <a:srgbClr val="15314F"/>
                </a:solidFill>
                <a:latin typeface="Montserrat"/>
              </a:rPr>
              <a:t>Robust Logic Model with</a:t>
            </a:r>
          </a:p>
          <a:p>
            <a:pPr algn="ctr">
              <a:lnSpc>
                <a:spcPct val="105000"/>
              </a:lnSpc>
            </a:pPr>
            <a:r>
              <a:rPr sz="1200" b="0" i="0">
                <a:solidFill>
                  <a:srgbClr val="15314F"/>
                </a:solidFill>
                <a:latin typeface="Montserrat"/>
              </a:rPr>
              <a:t>tangible measures and metrics.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892040" y="3822191"/>
            <a:ext cx="3291840" cy="713232"/>
          </a:xfrm>
          <a:prstGeom prst="roundRect">
            <a:avLst>
              <a:gd name="adj" fmla="val 8974"/>
            </a:avLst>
          </a:prstGeom>
          <a:solidFill>
            <a:srgbClr val="F8FBFD"/>
          </a:solidFill>
          <a:ln w="12700">
            <a:solidFill>
              <a:srgbClr val="5BA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0" y="3822191"/>
            <a:ext cx="3017520" cy="713232"/>
          </a:xfrm>
          <a:prstGeom prst="rect">
            <a:avLst/>
          </a:prstGeom>
          <a:noFill/>
        </p:spPr>
        <p:txBody>
          <a:bodyPr wrap="square" lIns="9144" rIns="9144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0" i="0">
                <a:solidFill>
                  <a:srgbClr val="15314F"/>
                </a:solidFill>
                <a:latin typeface="Montserrat"/>
              </a:rPr>
              <a:t>Theory of Change supported</a:t>
            </a:r>
          </a:p>
          <a:p>
            <a:pPr algn="ctr">
              <a:lnSpc>
                <a:spcPct val="105000"/>
              </a:lnSpc>
            </a:pPr>
            <a:r>
              <a:rPr sz="1200" b="0" i="0">
                <a:solidFill>
                  <a:srgbClr val="15314F"/>
                </a:solidFill>
                <a:latin typeface="Montserrat"/>
              </a:rPr>
              <a:t>by secondary data.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-45720"/>
            <a:ext cx="1554480" cy="7772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482346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>
                <a:solidFill>
                  <a:srgbClr val="5A6F82"/>
                </a:solidFill>
                <a:latin typeface="Montserrat"/>
              </a:rPr>
              <a:t>www.amalandcompany.com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482346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50">
                <a:solidFill>
                  <a:srgbClr val="9AAEC0"/>
                </a:solidFill>
                <a:latin typeface="Montserrat"/>
              </a:rPr>
              <a:t>Module 3  ·  The Impact Pathway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83480" y="482346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>
                <a:solidFill>
                  <a:srgbClr val="5A6F82"/>
                </a:solidFill>
                <a:latin typeface="Montserrat"/>
              </a:rPr>
              <a:t>Page 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92608"/>
            <a:ext cx="8138160" cy="566928"/>
          </a:xfrm>
          <a:prstGeom prst="rect">
            <a:avLst/>
          </a:prstGeom>
          <a:noFill/>
        </p:spPr>
        <p:txBody>
          <a:bodyPr wrap="square" lIns="9144" rIns="9144" tIns="0" bIns="0" anchor="ctr">
            <a:spAutoFit/>
          </a:bodyPr>
          <a:lstStyle/>
          <a:p>
            <a:pPr algn="l"/>
            <a:r>
              <a:rPr sz="3000" b="1" i="0">
                <a:solidFill>
                  <a:srgbClr val="15314F"/>
                </a:solidFill>
                <a:latin typeface="Montserrat"/>
              </a:rPr>
              <a:t>What is Impact?</a:t>
            </a:r>
          </a:p>
        </p:txBody>
      </p:sp>
      <p:sp>
        <p:nvSpPr>
          <p:cNvPr id="7" name="Rectangle 6"/>
          <p:cNvSpPr/>
          <p:nvPr/>
        </p:nvSpPr>
        <p:spPr>
          <a:xfrm>
            <a:off x="960120" y="1417320"/>
            <a:ext cx="288036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1531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417320"/>
            <a:ext cx="2880360" cy="420624"/>
          </a:xfrm>
          <a:prstGeom prst="rect">
            <a:avLst/>
          </a:prstGeom>
          <a:noFill/>
        </p:spPr>
        <p:txBody>
          <a:bodyPr wrap="square" lIns="9144" rIns="9144" tIns="0" bIns="0" anchor="ctr">
            <a:spAutoFit/>
          </a:bodyPr>
          <a:lstStyle/>
          <a:p>
            <a:pPr algn="ctr"/>
            <a:r>
              <a:rPr sz="1300" b="1" i="0">
                <a:solidFill>
                  <a:srgbClr val="15314F"/>
                </a:solidFill>
                <a:latin typeface="Montserrat"/>
              </a:rPr>
              <a:t>Enterprise</a:t>
            </a:r>
          </a:p>
        </p:txBody>
      </p:sp>
      <p:sp>
        <p:nvSpPr>
          <p:cNvPr id="9" name="Rectangle 8"/>
          <p:cNvSpPr/>
          <p:nvPr/>
        </p:nvSpPr>
        <p:spPr>
          <a:xfrm>
            <a:off x="4800600" y="1417320"/>
            <a:ext cx="310896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1531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00600" y="1417320"/>
            <a:ext cx="3108960" cy="420624"/>
          </a:xfrm>
          <a:prstGeom prst="rect">
            <a:avLst/>
          </a:prstGeom>
          <a:noFill/>
        </p:spPr>
        <p:txBody>
          <a:bodyPr wrap="square" lIns="9144" rIns="9144" tIns="0" bIns="0" anchor="ctr">
            <a:spAutoFit/>
          </a:bodyPr>
          <a:lstStyle/>
          <a:p>
            <a:pPr algn="ctr"/>
            <a:r>
              <a:rPr sz="1300" b="1" i="0">
                <a:solidFill>
                  <a:srgbClr val="15314F"/>
                </a:solidFill>
                <a:latin typeface="Montserrat"/>
              </a:rPr>
              <a:t>Theory of Change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368296"/>
            <a:ext cx="960120" cy="658368"/>
          </a:xfrm>
          <a:prstGeom prst="roundRect">
            <a:avLst>
              <a:gd name="adj" fmla="val 11111"/>
            </a:avLst>
          </a:prstGeom>
          <a:solidFill>
            <a:srgbClr val="DCE6EE"/>
          </a:solidFill>
          <a:ln w="15875">
            <a:solidFill>
              <a:srgbClr val="5BA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368296"/>
            <a:ext cx="960120" cy="658368"/>
          </a:xfrm>
          <a:prstGeom prst="rect">
            <a:avLst/>
          </a:prstGeom>
          <a:noFill/>
        </p:spPr>
        <p:txBody>
          <a:bodyPr wrap="square" lIns="9144" rIns="9144" tIns="0" bIns="0" anchor="ctr">
            <a:spAutoFit/>
          </a:bodyPr>
          <a:lstStyle/>
          <a:p>
            <a:pPr algn="ctr"/>
            <a:r>
              <a:rPr sz="1150" b="1" i="0">
                <a:solidFill>
                  <a:srgbClr val="15314F"/>
                </a:solidFill>
                <a:latin typeface="Montserrat"/>
              </a:rPr>
              <a:t>Inputs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74519" y="2368296"/>
            <a:ext cx="1051560" cy="658368"/>
          </a:xfrm>
          <a:prstGeom prst="roundRect">
            <a:avLst>
              <a:gd name="adj" fmla="val 11111"/>
            </a:avLst>
          </a:prstGeom>
          <a:solidFill>
            <a:srgbClr val="DCE6EE"/>
          </a:solidFill>
          <a:ln w="15875">
            <a:solidFill>
              <a:srgbClr val="5BA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74519" y="2368296"/>
            <a:ext cx="1051560" cy="658368"/>
          </a:xfrm>
          <a:prstGeom prst="rect">
            <a:avLst/>
          </a:prstGeom>
          <a:noFill/>
        </p:spPr>
        <p:txBody>
          <a:bodyPr wrap="square" lIns="9144" rIns="9144" tIns="0" bIns="0" anchor="ctr">
            <a:spAutoFit/>
          </a:bodyPr>
          <a:lstStyle/>
          <a:p>
            <a:pPr algn="ctr"/>
            <a:r>
              <a:rPr sz="1150" b="1" i="0">
                <a:solidFill>
                  <a:srgbClr val="15314F"/>
                </a:solidFill>
                <a:latin typeface="Montserrat"/>
              </a:rPr>
              <a:t>Activity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154680" y="2368296"/>
            <a:ext cx="1051560" cy="658368"/>
          </a:xfrm>
          <a:prstGeom prst="roundRect">
            <a:avLst>
              <a:gd name="adj" fmla="val 11111"/>
            </a:avLst>
          </a:prstGeom>
          <a:solidFill>
            <a:srgbClr val="DCE6EE"/>
          </a:solidFill>
          <a:ln w="15875">
            <a:solidFill>
              <a:srgbClr val="5BA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154680" y="2368296"/>
            <a:ext cx="1051560" cy="658368"/>
          </a:xfrm>
          <a:prstGeom prst="rect">
            <a:avLst/>
          </a:prstGeom>
          <a:noFill/>
        </p:spPr>
        <p:txBody>
          <a:bodyPr wrap="square" lIns="9144" rIns="9144" tIns="0" bIns="0" anchor="ctr">
            <a:spAutoFit/>
          </a:bodyPr>
          <a:lstStyle/>
          <a:p>
            <a:pPr algn="ctr"/>
            <a:r>
              <a:rPr sz="1150" b="1" i="0">
                <a:solidFill>
                  <a:srgbClr val="15314F"/>
                </a:solidFill>
                <a:latin typeface="Montserrat"/>
              </a:rPr>
              <a:t>Outputs</a:t>
            </a:r>
          </a:p>
        </p:txBody>
      </p:sp>
      <p:sp>
        <p:nvSpPr>
          <p:cNvPr id="17" name="Oval 16"/>
          <p:cNvSpPr/>
          <p:nvPr/>
        </p:nvSpPr>
        <p:spPr>
          <a:xfrm>
            <a:off x="4434840" y="2231136"/>
            <a:ext cx="932688" cy="932688"/>
          </a:xfrm>
          <a:prstGeom prst="ellipse">
            <a:avLst/>
          </a:prstGeom>
          <a:solidFill>
            <a:srgbClr val="9DC0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34840" y="2231136"/>
            <a:ext cx="932688" cy="932688"/>
          </a:xfrm>
          <a:prstGeom prst="rect">
            <a:avLst/>
          </a:prstGeom>
          <a:noFill/>
        </p:spPr>
        <p:txBody>
          <a:bodyPr wrap="square" lIns="9144" rIns="9144" tIns="0" bIns="0" anchor="ctr">
            <a:spAutoFit/>
          </a:bodyPr>
          <a:lstStyle/>
          <a:p>
            <a:pPr algn="ctr">
              <a:lnSpc>
                <a:spcPct val="90000"/>
              </a:lnSpc>
            </a:pPr>
            <a:r>
              <a:rPr sz="1050" b="1" i="0">
                <a:solidFill>
                  <a:srgbClr val="FFFFFF"/>
                </a:solidFill>
                <a:latin typeface="Montserrat"/>
              </a:rPr>
              <a:t>Outcomes</a:t>
            </a:r>
          </a:p>
        </p:txBody>
      </p:sp>
      <p:sp>
        <p:nvSpPr>
          <p:cNvPr id="19" name="Oval 18"/>
          <p:cNvSpPr/>
          <p:nvPr/>
        </p:nvSpPr>
        <p:spPr>
          <a:xfrm>
            <a:off x="5623560" y="2231136"/>
            <a:ext cx="932688" cy="932688"/>
          </a:xfrm>
          <a:prstGeom prst="ellipse">
            <a:avLst/>
          </a:prstGeom>
          <a:solidFill>
            <a:srgbClr val="6D9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23560" y="2231136"/>
            <a:ext cx="932688" cy="932688"/>
          </a:xfrm>
          <a:prstGeom prst="rect">
            <a:avLst/>
          </a:prstGeom>
          <a:noFill/>
        </p:spPr>
        <p:txBody>
          <a:bodyPr wrap="square" lIns="9144" rIns="9144" tIns="0" bIns="0" anchor="ctr">
            <a:spAutoFit/>
          </a:bodyPr>
          <a:lstStyle/>
          <a:p>
            <a:pPr algn="ctr">
              <a:lnSpc>
                <a:spcPct val="90000"/>
              </a:lnSpc>
            </a:pPr>
            <a:r>
              <a:rPr sz="1050" b="1" i="0">
                <a:solidFill>
                  <a:srgbClr val="FFFFFF"/>
                </a:solidFill>
                <a:latin typeface="Montserrat"/>
              </a:rPr>
              <a:t>Community</a:t>
            </a:r>
          </a:p>
        </p:txBody>
      </p:sp>
      <p:sp>
        <p:nvSpPr>
          <p:cNvPr id="21" name="Oval 20"/>
          <p:cNvSpPr/>
          <p:nvPr/>
        </p:nvSpPr>
        <p:spPr>
          <a:xfrm>
            <a:off x="6812280" y="2231136"/>
            <a:ext cx="932688" cy="932688"/>
          </a:xfrm>
          <a:prstGeom prst="ellipse">
            <a:avLst/>
          </a:prstGeom>
          <a:solidFill>
            <a:srgbClr val="3F91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12280" y="2231136"/>
            <a:ext cx="932688" cy="932688"/>
          </a:xfrm>
          <a:prstGeom prst="rect">
            <a:avLst/>
          </a:prstGeom>
          <a:noFill/>
        </p:spPr>
        <p:txBody>
          <a:bodyPr wrap="square" lIns="9144" rIns="9144" tIns="0" bIns="0" anchor="ctr">
            <a:spAutoFit/>
          </a:bodyPr>
          <a:lstStyle/>
          <a:p>
            <a:pPr algn="ctr">
              <a:lnSpc>
                <a:spcPct val="90000"/>
              </a:lnSpc>
            </a:pPr>
            <a:r>
              <a:rPr sz="1050" b="1" i="0">
                <a:solidFill>
                  <a:srgbClr val="FFFFFF"/>
                </a:solidFill>
                <a:latin typeface="Montserrat"/>
              </a:rPr>
              <a:t>Systemic</a:t>
            </a:r>
          </a:p>
          <a:p>
            <a:pPr algn="ctr">
              <a:lnSpc>
                <a:spcPct val="90000"/>
              </a:lnSpc>
            </a:pPr>
            <a:r>
              <a:rPr sz="1050" b="1" i="0">
                <a:solidFill>
                  <a:srgbClr val="FFFFFF"/>
                </a:solidFill>
                <a:latin typeface="Montserrat"/>
              </a:rPr>
              <a:t>Change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1618488" y="2578608"/>
            <a:ext cx="219455" cy="237744"/>
          </a:xfrm>
          <a:prstGeom prst="rightArrow">
            <a:avLst/>
          </a:prstGeom>
          <a:solidFill>
            <a:srgbClr val="1531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ight Arrow 23"/>
          <p:cNvSpPr/>
          <p:nvPr/>
        </p:nvSpPr>
        <p:spPr>
          <a:xfrm>
            <a:off x="2944368" y="2578608"/>
            <a:ext cx="173736" cy="237744"/>
          </a:xfrm>
          <a:prstGeom prst="rightArrow">
            <a:avLst/>
          </a:prstGeom>
          <a:solidFill>
            <a:srgbClr val="1531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ight Arrow 24"/>
          <p:cNvSpPr/>
          <p:nvPr/>
        </p:nvSpPr>
        <p:spPr>
          <a:xfrm>
            <a:off x="4224527" y="2578608"/>
            <a:ext cx="173736" cy="237744"/>
          </a:xfrm>
          <a:prstGeom prst="rightArrow">
            <a:avLst/>
          </a:prstGeom>
          <a:solidFill>
            <a:srgbClr val="1531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ight Arrow 25"/>
          <p:cNvSpPr/>
          <p:nvPr/>
        </p:nvSpPr>
        <p:spPr>
          <a:xfrm>
            <a:off x="5385816" y="2578608"/>
            <a:ext cx="201168" cy="237744"/>
          </a:xfrm>
          <a:prstGeom prst="rightArrow">
            <a:avLst/>
          </a:prstGeom>
          <a:solidFill>
            <a:srgbClr val="1531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ight Arrow 26"/>
          <p:cNvSpPr/>
          <p:nvPr/>
        </p:nvSpPr>
        <p:spPr>
          <a:xfrm>
            <a:off x="6574536" y="2578608"/>
            <a:ext cx="201168" cy="237744"/>
          </a:xfrm>
          <a:prstGeom prst="rightArrow">
            <a:avLst/>
          </a:prstGeom>
          <a:solidFill>
            <a:srgbClr val="1531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4315968" y="2130552"/>
            <a:ext cx="1170432" cy="1133856"/>
          </a:xfrm>
          <a:prstGeom prst="ellipse">
            <a:avLst/>
          </a:prstGeom>
          <a:noFill/>
          <a:ln w="19050">
            <a:solidFill>
              <a:srgbClr val="1531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60120" y="3840480"/>
            <a:ext cx="288036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1531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60120" y="3840480"/>
            <a:ext cx="2880360" cy="457200"/>
          </a:xfrm>
          <a:prstGeom prst="rect">
            <a:avLst/>
          </a:prstGeom>
          <a:noFill/>
        </p:spPr>
        <p:txBody>
          <a:bodyPr wrap="square" lIns="9144" rIns="9144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15314F"/>
                </a:solidFill>
                <a:latin typeface="Montserrat"/>
              </a:rPr>
              <a:t>Business Model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977639" y="3840480"/>
            <a:ext cx="187451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1531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77639" y="3840480"/>
            <a:ext cx="1874519" cy="658368"/>
          </a:xfrm>
          <a:prstGeom prst="rect">
            <a:avLst/>
          </a:prstGeom>
          <a:noFill/>
        </p:spPr>
        <p:txBody>
          <a:bodyPr wrap="square" lIns="9144" rIns="9144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15314F"/>
                </a:solidFill>
                <a:latin typeface="Montserrat"/>
              </a:rPr>
              <a:t>Individuals or</a:t>
            </a:r>
          </a:p>
          <a:p>
            <a:pPr algn="ctr"/>
            <a:r>
              <a:rPr sz="1200" b="1" i="0">
                <a:solidFill>
                  <a:srgbClr val="15314F"/>
                </a:solidFill>
                <a:latin typeface="Montserrat"/>
              </a:rPr>
              <a:t>Households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989320" y="3840480"/>
            <a:ext cx="192024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1531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989320" y="3840480"/>
            <a:ext cx="1920240" cy="457200"/>
          </a:xfrm>
          <a:prstGeom prst="rect">
            <a:avLst/>
          </a:prstGeom>
          <a:noFill/>
        </p:spPr>
        <p:txBody>
          <a:bodyPr wrap="square" lIns="9144" rIns="9144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15314F"/>
                </a:solidFill>
                <a:latin typeface="Montserrat"/>
              </a:rPr>
              <a:t>Social Impact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9520" y="-45720"/>
            <a:ext cx="1554480" cy="7772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384048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F8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Zooming into Outputs</a:t>
            </a:r>
            <a:endParaRPr lang="en-US" sz="1050" dirty="0"/>
          </a:p>
        </p:txBody>
      </p:sp>
      <p:sp>
        <p:nvSpPr>
          <p:cNvPr id="4" name="Text 1"/>
          <p:cNvSpPr/>
          <p:nvPr/>
        </p:nvSpPr>
        <p:spPr>
          <a:xfrm>
            <a:off x="502920" y="640080"/>
            <a:ext cx="7315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transition from delivery to measurement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20624" y="1508760"/>
            <a:ext cx="1572768" cy="1417320"/>
          </a:xfrm>
          <a:prstGeom prst="roundRect">
            <a:avLst>
              <a:gd name="adj" fmla="val 5161"/>
            </a:avLst>
          </a:prstGeom>
          <a:solidFill>
            <a:srgbClr val="F8FBFD"/>
          </a:solidFill>
          <a:ln w="6350">
            <a:solidFill>
              <a:srgbClr val="DCE6EE"/>
            </a:solidFill>
            <a:prstDash val="solid"/>
          </a:ln>
        </p:spPr>
        <p:txBody>
          <a:bodyPr/>
          <a:p/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" y="1673352"/>
            <a:ext cx="365760" cy="36576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420624" y="2075688"/>
            <a:ext cx="1572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2400" dirty="0"/>
          </a:p>
        </p:txBody>
      </p:sp>
      <p:sp>
        <p:nvSpPr>
          <p:cNvPr id="8" name="Text 4"/>
          <p:cNvSpPr/>
          <p:nvPr/>
        </p:nvSpPr>
        <p:spPr>
          <a:xfrm>
            <a:off x="512064" y="2468880"/>
            <a:ext cx="13898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5BA9D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INPUTS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2103120" y="1508760"/>
            <a:ext cx="1572768" cy="1417320"/>
          </a:xfrm>
          <a:prstGeom prst="roundRect">
            <a:avLst>
              <a:gd name="adj" fmla="val 5161"/>
            </a:avLst>
          </a:prstGeom>
          <a:solidFill>
            <a:srgbClr val="F8FBFD"/>
          </a:solidFill>
          <a:ln w="6350">
            <a:solidFill>
              <a:srgbClr val="DCE6EE"/>
            </a:solidFill>
            <a:prstDash val="solid"/>
          </a:ln>
        </p:spPr>
        <p:txBody>
          <a:bodyPr/>
          <a:p/>
        </p:txBody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06624" y="1673352"/>
            <a:ext cx="365760" cy="36576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2103120" y="2075688"/>
            <a:ext cx="1572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2194560" y="2468880"/>
            <a:ext cx="13898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5BA9D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ACTIVITIES</a:t>
            </a:r>
            <a:endParaRPr lang="en-US" sz="1100" dirty="0"/>
          </a:p>
        </p:txBody>
      </p:sp>
      <p:sp>
        <p:nvSpPr>
          <p:cNvPr id="13" name="Shape 8"/>
          <p:cNvSpPr/>
          <p:nvPr/>
        </p:nvSpPr>
        <p:spPr>
          <a:xfrm>
            <a:off x="3785616" y="1508760"/>
            <a:ext cx="1572768" cy="1417320"/>
          </a:xfrm>
          <a:prstGeom prst="roundRect">
            <a:avLst>
              <a:gd name="adj" fmla="val 5161"/>
            </a:avLst>
          </a:prstGeom>
          <a:solidFill>
            <a:srgbClr val="15314F"/>
          </a:solidFill>
          <a:ln w="6350">
            <a:solidFill>
              <a:srgbClr val="15314F"/>
            </a:solidFill>
            <a:prstDash val="solid"/>
          </a:ln>
        </p:spPr>
        <p:txBody>
          <a:bodyPr/>
          <a:p/>
        </p:txBody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89120" y="1673352"/>
            <a:ext cx="365760" cy="36576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3785616" y="2075688"/>
            <a:ext cx="1572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5BA9D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2400" dirty="0"/>
          </a:p>
        </p:txBody>
      </p:sp>
      <p:sp>
        <p:nvSpPr>
          <p:cNvPr id="16" name="Text 10"/>
          <p:cNvSpPr/>
          <p:nvPr/>
        </p:nvSpPr>
        <p:spPr>
          <a:xfrm>
            <a:off x="3877056" y="2468880"/>
            <a:ext cx="13898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OUTPUTS</a:t>
            </a:r>
            <a:endParaRPr lang="en-US" sz="1100" dirty="0"/>
          </a:p>
        </p:txBody>
      </p:sp>
      <p:sp>
        <p:nvSpPr>
          <p:cNvPr id="17" name="Shape 11"/>
          <p:cNvSpPr/>
          <p:nvPr/>
        </p:nvSpPr>
        <p:spPr>
          <a:xfrm>
            <a:off x="5468112" y="1508760"/>
            <a:ext cx="1572768" cy="1417320"/>
          </a:xfrm>
          <a:prstGeom prst="roundRect">
            <a:avLst>
              <a:gd name="adj" fmla="val 5161"/>
            </a:avLst>
          </a:prstGeom>
          <a:solidFill>
            <a:srgbClr val="F8FBFD"/>
          </a:solidFill>
          <a:ln w="6350">
            <a:solidFill>
              <a:srgbClr val="DCE6EE"/>
            </a:solidFill>
            <a:prstDash val="solid"/>
          </a:ln>
        </p:spPr>
        <p:txBody>
          <a:bodyPr/>
          <a:p/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71616" y="1673352"/>
            <a:ext cx="365760" cy="36576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5468112" y="2075688"/>
            <a:ext cx="1572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2400" dirty="0"/>
          </a:p>
        </p:txBody>
      </p:sp>
      <p:sp>
        <p:nvSpPr>
          <p:cNvPr id="20" name="Text 13"/>
          <p:cNvSpPr/>
          <p:nvPr/>
        </p:nvSpPr>
        <p:spPr>
          <a:xfrm>
            <a:off x="5559552" y="2468880"/>
            <a:ext cx="13898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5BA9D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OUTCOMES</a:t>
            </a:r>
            <a:endParaRPr lang="en-US" sz="1100" dirty="0"/>
          </a:p>
        </p:txBody>
      </p:sp>
      <p:sp>
        <p:nvSpPr>
          <p:cNvPr id="21" name="Shape 14"/>
          <p:cNvSpPr/>
          <p:nvPr/>
        </p:nvSpPr>
        <p:spPr>
          <a:xfrm>
            <a:off x="7150608" y="1508760"/>
            <a:ext cx="1572768" cy="1417320"/>
          </a:xfrm>
          <a:prstGeom prst="roundRect">
            <a:avLst>
              <a:gd name="adj" fmla="val 5161"/>
            </a:avLst>
          </a:prstGeom>
          <a:solidFill>
            <a:srgbClr val="F8FBFD"/>
          </a:solidFill>
          <a:ln w="6350">
            <a:solidFill>
              <a:srgbClr val="DCE6EE"/>
            </a:solidFill>
            <a:prstDash val="solid"/>
          </a:ln>
        </p:spPr>
        <p:txBody>
          <a:bodyPr/>
          <a:p/>
        </p:txBody>
      </p:sp>
      <p:pic>
        <p:nvPicPr>
          <p:cNvPr id="2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54112" y="1673352"/>
            <a:ext cx="365760" cy="365760"/>
          </a:xfrm>
          <a:prstGeom prst="rect">
            <a:avLst/>
          </a:prstGeom>
        </p:spPr>
      </p:pic>
      <p:sp>
        <p:nvSpPr>
          <p:cNvPr id="23" name="Text 15"/>
          <p:cNvSpPr/>
          <p:nvPr/>
        </p:nvSpPr>
        <p:spPr>
          <a:xfrm>
            <a:off x="7150608" y="2075688"/>
            <a:ext cx="1572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</a:t>
            </a:r>
            <a:endParaRPr lang="en-US" sz="2400" dirty="0"/>
          </a:p>
        </p:txBody>
      </p:sp>
      <p:sp>
        <p:nvSpPr>
          <p:cNvPr id="24" name="Text 16"/>
          <p:cNvSpPr/>
          <p:nvPr/>
        </p:nvSpPr>
        <p:spPr>
          <a:xfrm>
            <a:off x="7242048" y="2468880"/>
            <a:ext cx="13898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5BA9D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IMPACT</a:t>
            </a:r>
            <a:endParaRPr lang="en-US" sz="1100" dirty="0"/>
          </a:p>
        </p:txBody>
      </p:sp>
      <p:sp>
        <p:nvSpPr>
          <p:cNvPr id="25" name="Shape 17"/>
          <p:cNvSpPr/>
          <p:nvPr/>
        </p:nvSpPr>
        <p:spPr>
          <a:xfrm>
            <a:off x="502920" y="3108960"/>
            <a:ext cx="8138160" cy="1234440"/>
          </a:xfrm>
          <a:prstGeom prst="roundRect">
            <a:avLst>
              <a:gd name="adj" fmla="val 5926"/>
            </a:avLst>
          </a:prstGeom>
          <a:solidFill>
            <a:srgbClr val="E5F2FA"/>
          </a:solidFill>
          <a:ln w="6350">
            <a:solidFill>
              <a:srgbClr val="DCE6EE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5000"/>
              </a:srgbClr>
            </a:outerShdw>
          </a:effectLst>
        </p:spPr>
        <p:txBody>
          <a:bodyPr/>
          <a:p/>
        </p:txBody>
      </p:sp>
      <p:pic>
        <p:nvPicPr>
          <p:cNvPr id="26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3337560"/>
            <a:ext cx="502920" cy="502920"/>
          </a:xfrm>
          <a:prstGeom prst="rect">
            <a:avLst/>
          </a:prstGeom>
        </p:spPr>
      </p:pic>
      <p:sp>
        <p:nvSpPr>
          <p:cNvPr id="27" name="Text 18"/>
          <p:cNvSpPr/>
          <p:nvPr/>
        </p:nvSpPr>
        <p:spPr>
          <a:xfrm>
            <a:off x="1417320" y="324612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5BA9D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VOLUNTEER  ·  IN THE CHAT</a:t>
            </a:r>
            <a:endParaRPr lang="en-US" sz="900" dirty="0"/>
          </a:p>
        </p:txBody>
      </p:sp>
      <p:sp>
        <p:nvSpPr>
          <p:cNvPr id="28" name="Text 19"/>
          <p:cNvSpPr/>
          <p:nvPr/>
        </p:nvSpPr>
        <p:spPr>
          <a:xfrm>
            <a:off x="1417320" y="3493008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Share your program's Q-Zero in the chat — then walk us through what your Outputs are.</a:t>
            </a:r>
            <a:endParaRPr lang="en-US" sz="1500" dirty="0"/>
          </a:p>
        </p:txBody>
      </p:sp>
      <p:sp>
        <p:nvSpPr>
          <p:cNvPr id="29" name="Text 20"/>
          <p:cNvSpPr/>
          <p:nvPr/>
        </p:nvSpPr>
        <p:spPr>
          <a:xfrm>
            <a:off x="1417320" y="3931920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5A6F8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We'll use your example on the next slide to work through Baseline, Metric, and Target together.</a:t>
            </a:r>
            <a:endParaRPr lang="en-US" sz="1050" dirty="0"/>
          </a:p>
        </p:txBody>
      </p:sp>
      <p:sp>
        <p:nvSpPr>
          <p:cNvPr id="30" name="Text 21"/>
          <p:cNvSpPr/>
          <p:nvPr/>
        </p:nvSpPr>
        <p:spPr>
          <a:xfrm>
            <a:off x="502920" y="4480560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You can't know if you hit a target unless you know where you started  —  your baseline.</a:t>
            </a:r>
            <a:endParaRPr lang="en-US" sz="1300" dirty="0"/>
          </a:p>
        </p:txBody>
      </p:sp>
      <p:sp>
        <p:nvSpPr>
          <p:cNvPr id="31" name="Shape 22"/>
          <p:cNvSpPr/>
          <p:nvPr/>
        </p:nvSpPr>
        <p:spPr>
          <a:xfrm>
            <a:off x="502920" y="4732020"/>
            <a:ext cx="8138160" cy="0"/>
          </a:xfrm>
          <a:prstGeom prst="line">
            <a:avLst/>
          </a:prstGeom>
          <a:noFill/>
          <a:ln w="9525">
            <a:solidFill>
              <a:srgbClr val="DCE6EE"/>
            </a:solidFill>
            <a:prstDash val="solid"/>
          </a:ln>
        </p:spPr>
        <p:txBody>
          <a:bodyPr/>
          <a:p/>
        </p:txBody>
      </p:sp>
      <p:sp>
        <p:nvSpPr>
          <p:cNvPr id="32" name="Text 23"/>
          <p:cNvSpPr/>
          <p:nvPr/>
        </p:nvSpPr>
        <p:spPr>
          <a:xfrm>
            <a:off x="502920" y="48234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F8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www.amalandcompany.com</a:t>
            </a:r>
            <a:endParaRPr lang="en-US" sz="900" dirty="0"/>
          </a:p>
        </p:txBody>
      </p:sp>
      <p:sp>
        <p:nvSpPr>
          <p:cNvPr id="33" name="Text 24"/>
          <p:cNvSpPr/>
          <p:nvPr/>
        </p:nvSpPr>
        <p:spPr>
          <a:xfrm>
            <a:off x="2743200" y="48234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AAEC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Module 3  ·  The Impact Pathway</a:t>
            </a:r>
            <a:endParaRPr lang="en-US" sz="850" dirty="0"/>
          </a:p>
        </p:txBody>
      </p:sp>
      <p:sp>
        <p:nvSpPr>
          <p:cNvPr id="34" name="Text 25"/>
          <p:cNvSpPr/>
          <p:nvPr/>
        </p:nvSpPr>
        <p:spPr>
          <a:xfrm>
            <a:off x="4983480" y="48234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F8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Page 10</a:t>
            </a:r>
            <a:endParaRPr lang="en-US" sz="9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-45720"/>
            <a:ext cx="1554480" cy="7772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482346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>
                <a:solidFill>
                  <a:srgbClr val="5A6F82"/>
                </a:solidFill>
                <a:latin typeface="Montserrat"/>
              </a:rPr>
              <a:t>www.amalandcompany.com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482346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50">
                <a:solidFill>
                  <a:srgbClr val="9AAEC0"/>
                </a:solidFill>
                <a:latin typeface="Montserrat"/>
              </a:rPr>
              <a:t>Module 3  ·  The Impact Pathway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83480" y="482346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>
                <a:solidFill>
                  <a:srgbClr val="5A6F82"/>
                </a:solidFill>
                <a:latin typeface="Montserrat"/>
              </a:rPr>
              <a:t>Page 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92608"/>
            <a:ext cx="8138160" cy="566928"/>
          </a:xfrm>
          <a:prstGeom prst="rect">
            <a:avLst/>
          </a:prstGeom>
          <a:noFill/>
        </p:spPr>
        <p:txBody>
          <a:bodyPr wrap="square" lIns="9144" rIns="9144" tIns="0" bIns="0" anchor="ctr">
            <a:spAutoFit/>
          </a:bodyPr>
          <a:lstStyle/>
          <a:p>
            <a:pPr algn="l"/>
            <a:r>
              <a:rPr sz="3000" b="1" i="0">
                <a:solidFill>
                  <a:srgbClr val="15314F"/>
                </a:solidFill>
                <a:latin typeface="Montserrat"/>
              </a:rPr>
              <a:t>Build a Measurement 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207" y="914400"/>
            <a:ext cx="8138160" cy="365760"/>
          </a:xfrm>
          <a:prstGeom prst="rect">
            <a:avLst/>
          </a:prstGeom>
          <a:noFill/>
        </p:spPr>
        <p:txBody>
          <a:bodyPr wrap="square" lIns="9144" rIns="9144" tIns="0" bIns="0" anchor="ctr">
            <a:spAutoFit/>
          </a:bodyPr>
          <a:lstStyle/>
          <a:p>
            <a:pPr algn="l"/>
            <a:r>
              <a:rPr sz="1300" b="0" i="0">
                <a:solidFill>
                  <a:srgbClr val="5A6F82"/>
                </a:solidFill>
                <a:latin typeface="Montserrat"/>
              </a:rPr>
              <a:t>The transition from delivery to measurement — choose what to measure.</a:t>
            </a:r>
          </a:p>
        </p:txBody>
      </p:sp>
      <p:sp>
        <p:nvSpPr>
          <p:cNvPr id="8" name="Oval 7"/>
          <p:cNvSpPr/>
          <p:nvPr/>
        </p:nvSpPr>
        <p:spPr>
          <a:xfrm>
            <a:off x="1325880" y="1371600"/>
            <a:ext cx="4892040" cy="2743200"/>
          </a:xfrm>
          <a:prstGeom prst="ellipse">
            <a:avLst/>
          </a:prstGeom>
          <a:solidFill>
            <a:srgbClr val="5BA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25880" y="2125980"/>
            <a:ext cx="1965960" cy="1234440"/>
          </a:xfrm>
          <a:prstGeom prst="ellipse">
            <a:avLst/>
          </a:prstGeom>
          <a:noFill/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325880" y="1805940"/>
            <a:ext cx="3063240" cy="1874519"/>
          </a:xfrm>
          <a:prstGeom prst="ellipse">
            <a:avLst/>
          </a:prstGeom>
          <a:noFill/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325880" y="1545336"/>
            <a:ext cx="4160520" cy="2395728"/>
          </a:xfrm>
          <a:prstGeom prst="ellipse">
            <a:avLst/>
          </a:prstGeom>
          <a:noFill/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1325880" y="2743200"/>
            <a:ext cx="4937760" cy="0"/>
          </a:xfrm>
          <a:prstGeom prst="line">
            <a:avLst/>
          </a:prstGeom>
          <a:ln w="254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1261872" y="2679192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531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-91440" y="2587752"/>
            <a:ext cx="1234440" cy="310896"/>
          </a:xfrm>
          <a:prstGeom prst="rect">
            <a:avLst/>
          </a:prstGeom>
          <a:noFill/>
        </p:spPr>
        <p:txBody>
          <a:bodyPr wrap="square" lIns="9144" rIns="9144" tIns="0" bIns="0" anchor="ctr">
            <a:spAutoFit/>
          </a:bodyPr>
          <a:lstStyle/>
          <a:p>
            <a:pPr algn="r"/>
            <a:r>
              <a:rPr sz="1100" b="1" i="0">
                <a:solidFill>
                  <a:srgbClr val="15314F"/>
                </a:solidFill>
                <a:latin typeface="Montserrat"/>
              </a:rPr>
              <a:t>INPUTS</a:t>
            </a:r>
          </a:p>
        </p:txBody>
      </p:sp>
      <p:sp>
        <p:nvSpPr>
          <p:cNvPr id="15" name="Oval 14"/>
          <p:cNvSpPr/>
          <p:nvPr/>
        </p:nvSpPr>
        <p:spPr>
          <a:xfrm>
            <a:off x="3227832" y="2679192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531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514599" y="2240280"/>
            <a:ext cx="1554480" cy="274320"/>
          </a:xfrm>
          <a:prstGeom prst="rect">
            <a:avLst/>
          </a:prstGeom>
          <a:noFill/>
        </p:spPr>
        <p:txBody>
          <a:bodyPr wrap="square" lIns="9144" rIns="9144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Montserrat"/>
              </a:rPr>
              <a:t>ACTIVITIES</a:t>
            </a:r>
          </a:p>
        </p:txBody>
      </p:sp>
      <p:sp>
        <p:nvSpPr>
          <p:cNvPr id="17" name="Oval 16"/>
          <p:cNvSpPr/>
          <p:nvPr/>
        </p:nvSpPr>
        <p:spPr>
          <a:xfrm>
            <a:off x="4325112" y="2679192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531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11879" y="2240280"/>
            <a:ext cx="1554480" cy="274320"/>
          </a:xfrm>
          <a:prstGeom prst="rect">
            <a:avLst/>
          </a:prstGeom>
          <a:noFill/>
        </p:spPr>
        <p:txBody>
          <a:bodyPr wrap="square" lIns="9144" rIns="9144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Montserrat"/>
              </a:rPr>
              <a:t>OUTPUTS</a:t>
            </a:r>
          </a:p>
        </p:txBody>
      </p:sp>
      <p:sp>
        <p:nvSpPr>
          <p:cNvPr id="19" name="Oval 18"/>
          <p:cNvSpPr/>
          <p:nvPr/>
        </p:nvSpPr>
        <p:spPr>
          <a:xfrm>
            <a:off x="5422392" y="2679192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531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09160" y="2240280"/>
            <a:ext cx="1554480" cy="274320"/>
          </a:xfrm>
          <a:prstGeom prst="rect">
            <a:avLst/>
          </a:prstGeom>
          <a:noFill/>
        </p:spPr>
        <p:txBody>
          <a:bodyPr wrap="square" lIns="9144" rIns="9144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Montserrat"/>
              </a:rPr>
              <a:t>OUTCOMES</a:t>
            </a:r>
          </a:p>
        </p:txBody>
      </p:sp>
      <p:sp>
        <p:nvSpPr>
          <p:cNvPr id="21" name="Isosceles Triangle 20"/>
          <p:cNvSpPr/>
          <p:nvPr/>
        </p:nvSpPr>
        <p:spPr>
          <a:xfrm rot="5400000">
            <a:off x="6291072" y="2542032"/>
            <a:ext cx="310896" cy="402336"/>
          </a:xfrm>
          <a:prstGeom prst="triangle">
            <a:avLst/>
          </a:prstGeom>
          <a:solidFill>
            <a:srgbClr val="5BA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75120" y="2542032"/>
            <a:ext cx="1828800" cy="402336"/>
          </a:xfrm>
          <a:prstGeom prst="rect">
            <a:avLst/>
          </a:prstGeom>
          <a:noFill/>
        </p:spPr>
        <p:txBody>
          <a:bodyPr wrap="square" lIns="9144" rIns="9144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5314F"/>
                </a:solidFill>
                <a:latin typeface="Montserrat"/>
              </a:rPr>
              <a:t>IMPACT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4343400"/>
            <a:ext cx="7680960" cy="457200"/>
          </a:xfrm>
          <a:prstGeom prst="rect">
            <a:avLst/>
          </a:prstGeom>
          <a:noFill/>
        </p:spPr>
        <p:txBody>
          <a:bodyPr wrap="square" lIns="9144" rIns="9144" tIns="0" bIns="0" anchor="ctr">
            <a:spAutoFit/>
          </a:bodyPr>
          <a:lstStyle/>
          <a:p>
            <a:pPr algn="l"/>
            <a:r>
              <a:rPr sz="1250" b="0" i="0">
                <a:solidFill>
                  <a:srgbClr val="15314F"/>
                </a:solidFill>
                <a:latin typeface="Montserrat"/>
              </a:rPr>
              <a:t>•  Make a careful choice of what you should — and should not — measure.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9520" y="-45720"/>
            <a:ext cx="1554480" cy="7772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384048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F8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Output measurement</a:t>
            </a:r>
            <a:endParaRPr lang="en-US" sz="1050" dirty="0"/>
          </a:p>
        </p:txBody>
      </p:sp>
      <p:sp>
        <p:nvSpPr>
          <p:cNvPr id="4" name="Text 1"/>
          <p:cNvSpPr/>
          <p:nvPr/>
        </p:nvSpPr>
        <p:spPr>
          <a:xfrm>
            <a:off x="502920" y="640080"/>
            <a:ext cx="7315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Baseline  ·  Metric  ·  Target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502920" y="1554480"/>
            <a:ext cx="2651760" cy="2011680"/>
          </a:xfrm>
          <a:prstGeom prst="roundRect">
            <a:avLst>
              <a:gd name="adj" fmla="val 3636"/>
            </a:avLst>
          </a:prstGeom>
          <a:solidFill>
            <a:srgbClr val="E5F2FA"/>
          </a:solidFill>
          <a:ln w="6350">
            <a:solidFill>
              <a:srgbClr val="DCE6EE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502920" y="169164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5BA9D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BASELINE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685800" y="205740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Where you start. The current state before the program runs.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502920" y="278892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200" kern="0" dirty="0">
                <a:solidFill>
                  <a:srgbClr val="5BA9D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YOUTH CAMP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640080" y="30175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40% of participants report consistent salah at pre-camp intake.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3246120" y="1554480"/>
            <a:ext cx="2651760" cy="2011680"/>
          </a:xfrm>
          <a:prstGeom prst="roundRect">
            <a:avLst>
              <a:gd name="adj" fmla="val 3636"/>
            </a:avLst>
          </a:prstGeom>
          <a:solidFill>
            <a:srgbClr val="E5F2FA"/>
          </a:solidFill>
          <a:ln w="6350">
            <a:solidFill>
              <a:srgbClr val="DCE6EE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3246120" y="169164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5BA9D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METRIC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3429000" y="205740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unit you'll count or measure to track delivery.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3246120" y="278892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200" kern="0" dirty="0">
                <a:solidFill>
                  <a:srgbClr val="5BA9D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YOUTH CAMP</a:t>
            </a:r>
            <a:endParaRPr lang="en-US" sz="850" dirty="0"/>
          </a:p>
        </p:txBody>
      </p:sp>
      <p:sp>
        <p:nvSpPr>
          <p:cNvPr id="14" name="Text 11"/>
          <p:cNvSpPr/>
          <p:nvPr/>
        </p:nvSpPr>
        <p:spPr>
          <a:xfrm>
            <a:off x="3383280" y="30175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# completing full camp; % reporting consistent salah at 3-month follow-up.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5989320" y="1554480"/>
            <a:ext cx="2651760" cy="2011680"/>
          </a:xfrm>
          <a:prstGeom prst="roundRect">
            <a:avLst>
              <a:gd name="adj" fmla="val 3636"/>
            </a:avLst>
          </a:prstGeom>
          <a:solidFill>
            <a:srgbClr val="E5F2FA"/>
          </a:solidFill>
          <a:ln w="6350">
            <a:solidFill>
              <a:srgbClr val="DCE6EE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989320" y="169164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5BA9D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TARGET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6172200" y="205740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specific, time-bound value you're aiming to reach.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5989320" y="278892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200" kern="0" dirty="0">
                <a:solidFill>
                  <a:srgbClr val="5BA9D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YOUTH CAMP</a:t>
            </a:r>
            <a:endParaRPr lang="en-US" sz="850" dirty="0"/>
          </a:p>
        </p:txBody>
      </p:sp>
      <p:sp>
        <p:nvSpPr>
          <p:cNvPr id="19" name="Text 16"/>
          <p:cNvSpPr/>
          <p:nvPr/>
        </p:nvSpPr>
        <p:spPr>
          <a:xfrm>
            <a:off x="6126480" y="30175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100 completions by camp end; 65% salah at 3-month follow-up.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502920" y="3703320"/>
            <a:ext cx="8138160" cy="822960"/>
          </a:xfrm>
          <a:prstGeom prst="roundRect">
            <a:avLst>
              <a:gd name="adj" fmla="val 8889"/>
            </a:avLst>
          </a:prstGeom>
          <a:solidFill>
            <a:srgbClr val="F8FBFD"/>
          </a:solidFill>
          <a:ln w="6350">
            <a:solidFill>
              <a:srgbClr val="DCE6EE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21" name="Text 18"/>
          <p:cNvSpPr/>
          <p:nvPr/>
        </p:nvSpPr>
        <p:spPr>
          <a:xfrm>
            <a:off x="685800" y="3794760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5A6F8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YOUR VOLUNTEER'S PROGRAM</a:t>
            </a:r>
            <a:endParaRPr lang="en-US" sz="850" dirty="0"/>
          </a:p>
        </p:txBody>
      </p:sp>
      <p:sp>
        <p:nvSpPr>
          <p:cNvPr id="22" name="Text 19"/>
          <p:cNvSpPr/>
          <p:nvPr/>
        </p:nvSpPr>
        <p:spPr>
          <a:xfrm>
            <a:off x="685800" y="402336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AAEC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Baseline  ·  ______________________________     Metric  ·  ______________________________     Target  ·  ______________________________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502920" y="43662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F8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Baseline and Target work together. You can't know if you hit your Target unless you set the Baseline first.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502920" y="4732020"/>
            <a:ext cx="8138160" cy="0"/>
          </a:xfrm>
          <a:prstGeom prst="line">
            <a:avLst/>
          </a:prstGeom>
          <a:noFill/>
          <a:ln w="9525">
            <a:solidFill>
              <a:srgbClr val="DCE6EE"/>
            </a:solidFill>
            <a:prstDash val="solid"/>
          </a:ln>
        </p:spPr>
        <p:txBody>
          <a:bodyPr/>
          <a:p/>
        </p:txBody>
      </p:sp>
      <p:sp>
        <p:nvSpPr>
          <p:cNvPr id="25" name="Text 22"/>
          <p:cNvSpPr/>
          <p:nvPr/>
        </p:nvSpPr>
        <p:spPr>
          <a:xfrm>
            <a:off x="502920" y="48234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F8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www.amalandcompany.com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2743200" y="48234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AAEC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Module 3  ·  The Impact Pathway</a:t>
            </a:r>
            <a:endParaRPr lang="en-US" sz="850" dirty="0"/>
          </a:p>
        </p:txBody>
      </p:sp>
      <p:sp>
        <p:nvSpPr>
          <p:cNvPr id="27" name="Text 24"/>
          <p:cNvSpPr/>
          <p:nvPr/>
        </p:nvSpPr>
        <p:spPr>
          <a:xfrm>
            <a:off x="4983480" y="48234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F8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Page 12</a:t>
            </a:r>
            <a:endParaRPr lang="en-US" sz="9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9520" y="-45720"/>
            <a:ext cx="1554480" cy="7772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384048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F8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Before you can measure</a:t>
            </a:r>
            <a:endParaRPr lang="en-US" sz="1050" dirty="0"/>
          </a:p>
        </p:txBody>
      </p:sp>
      <p:sp>
        <p:nvSpPr>
          <p:cNvPr id="4" name="Text 1"/>
          <p:cNvSpPr/>
          <p:nvPr/>
        </p:nvSpPr>
        <p:spPr>
          <a:xfrm>
            <a:off x="502920" y="640080"/>
            <a:ext cx="7315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How to actually obtain your baseline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502920" y="141732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6F8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baseline isn't magic — it's data you collect BEFORE the program runs. This takes planning time. Rushed events skip it, and then can't prove impact later.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61772" y="2103120"/>
            <a:ext cx="1965960" cy="2194560"/>
          </a:xfrm>
          <a:prstGeom prst="roundRect">
            <a:avLst>
              <a:gd name="adj" fmla="val 3721"/>
            </a:avLst>
          </a:prstGeom>
          <a:solidFill>
            <a:srgbClr val="F8FBFD"/>
          </a:solidFill>
          <a:ln w="6350">
            <a:solidFill>
              <a:srgbClr val="DCE6EE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7" name="Text 4"/>
          <p:cNvSpPr/>
          <p:nvPr/>
        </p:nvSpPr>
        <p:spPr>
          <a:xfrm>
            <a:off x="553212" y="224028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5BA9D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REGISTRATION FORM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827532" y="2606040"/>
            <a:ext cx="1234440" cy="0"/>
          </a:xfrm>
          <a:prstGeom prst="line">
            <a:avLst/>
          </a:prstGeom>
          <a:noFill/>
          <a:ln w="9525">
            <a:solidFill>
              <a:srgbClr val="5BA9D8"/>
            </a:solidFill>
            <a:prstDash val="solid"/>
          </a:ln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598932" y="2697480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Add 2–3 baseline questions to your sign-up form. Cheapest, easiest, works for most programs.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598932" y="365760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BA9D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Youth Camp: “How often do you pray daily?” on the registration form.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2546604" y="2103120"/>
            <a:ext cx="1965960" cy="2194560"/>
          </a:xfrm>
          <a:prstGeom prst="roundRect">
            <a:avLst>
              <a:gd name="adj" fmla="val 3721"/>
            </a:avLst>
          </a:prstGeom>
          <a:solidFill>
            <a:srgbClr val="F8FBFD"/>
          </a:solidFill>
          <a:ln w="6350">
            <a:solidFill>
              <a:srgbClr val="DCE6EE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2638044" y="224028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5BA9D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PRE-EVENT SURVEY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2912364" y="2606040"/>
            <a:ext cx="1234440" cy="0"/>
          </a:xfrm>
          <a:prstGeom prst="line">
            <a:avLst/>
          </a:prstGeom>
          <a:noFill/>
          <a:ln w="9525">
            <a:solidFill>
              <a:srgbClr val="5BA9D8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2683764" y="2697480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Send a short survey 1–2 weeks before the program starts. Better response rate than day-of.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2683764" y="365760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BA9D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Usrah: 10-question survey emailed a week before circles begin.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4631436" y="2103120"/>
            <a:ext cx="1965960" cy="2194560"/>
          </a:xfrm>
          <a:prstGeom prst="roundRect">
            <a:avLst>
              <a:gd name="adj" fmla="val 3721"/>
            </a:avLst>
          </a:prstGeom>
          <a:solidFill>
            <a:srgbClr val="F8FBFD"/>
          </a:solidFill>
          <a:ln w="6350">
            <a:solidFill>
              <a:srgbClr val="DCE6EE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17" name="Text 14"/>
          <p:cNvSpPr/>
          <p:nvPr/>
        </p:nvSpPr>
        <p:spPr>
          <a:xfrm>
            <a:off x="4722876" y="224028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5BA9D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EXISTING MASGLA DATA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4997196" y="2606040"/>
            <a:ext cx="1234440" cy="0"/>
          </a:xfrm>
          <a:prstGeom prst="line">
            <a:avLst/>
          </a:prstGeom>
          <a:noFill/>
          <a:ln w="9525">
            <a:solidFill>
              <a:srgbClr val="5BA9D8"/>
            </a:solidFill>
            <a:prstDash val="solid"/>
          </a:ln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4768596" y="2697480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Pull from Program Dashboard, past attendance, or Salesforce. Zero collection cost.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4768596" y="365760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BA9D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Any program: use prior-year attendance as the baseline for growth targets.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6716268" y="2103120"/>
            <a:ext cx="1965960" cy="2194560"/>
          </a:xfrm>
          <a:prstGeom prst="roundRect">
            <a:avLst>
              <a:gd name="adj" fmla="val 3721"/>
            </a:avLst>
          </a:prstGeom>
          <a:solidFill>
            <a:srgbClr val="F8FBFD"/>
          </a:solidFill>
          <a:ln w="6350">
            <a:solidFill>
              <a:srgbClr val="DCE6EE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6807708" y="224028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5BA9D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INTERVIEWS / FOCUS GROUP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7082028" y="2606040"/>
            <a:ext cx="1234440" cy="0"/>
          </a:xfrm>
          <a:prstGeom prst="line">
            <a:avLst/>
          </a:prstGeom>
          <a:noFill/>
          <a:ln w="9525">
            <a:solidFill>
              <a:srgbClr val="5BA9D8"/>
            </a:solidFill>
            <a:prstDash val="solid"/>
          </a:ln>
        </p:spPr>
        <p:txBody>
          <a:bodyPr/>
          <a:p/>
        </p:txBody>
      </p:sp>
      <p:sp>
        <p:nvSpPr>
          <p:cNvPr id="24" name="Text 21"/>
          <p:cNvSpPr/>
          <p:nvPr/>
        </p:nvSpPr>
        <p:spPr>
          <a:xfrm>
            <a:off x="6853428" y="2697480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Best for behavior baselines that surveys miss. Time-intensive; use for small cohorts.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6853428" y="365760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BA9D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Leadership program: 15-min intake interview with each of the 12 participants.</a:t>
            </a:r>
            <a:endParaRPr lang="en-US" sz="900" dirty="0"/>
          </a:p>
        </p:txBody>
      </p:sp>
      <p:sp>
        <p:nvSpPr>
          <p:cNvPr id="26" name="Shape 23"/>
          <p:cNvSpPr/>
          <p:nvPr/>
        </p:nvSpPr>
        <p:spPr>
          <a:xfrm>
            <a:off x="502920" y="4434840"/>
            <a:ext cx="8138160" cy="320040"/>
          </a:xfrm>
          <a:prstGeom prst="roundRect">
            <a:avLst>
              <a:gd name="adj" fmla="val 14286"/>
            </a:avLst>
          </a:prstGeom>
          <a:solidFill>
            <a:srgbClr val="15314F"/>
          </a:solidFill>
          <a:ln w="12700">
            <a:solidFill>
              <a:srgbClr val="15314F"/>
            </a:solidFill>
            <a:prstDash val="solid"/>
          </a:ln>
        </p:spPr>
        <p:txBody>
          <a:bodyPr/>
          <a:p/>
        </p:txBody>
      </p:sp>
      <p:sp>
        <p:nvSpPr>
          <p:cNvPr id="27" name="Text 24"/>
          <p:cNvSpPr/>
          <p:nvPr/>
        </p:nvSpPr>
        <p:spPr>
          <a:xfrm>
            <a:off x="685800" y="443484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BA9D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Plan the baseline into the program timeline. Last-minute event planning sacrifices this step first.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502920" y="4732020"/>
            <a:ext cx="8138160" cy="0"/>
          </a:xfrm>
          <a:prstGeom prst="line">
            <a:avLst/>
          </a:prstGeom>
          <a:noFill/>
          <a:ln w="9525">
            <a:solidFill>
              <a:srgbClr val="DCE6EE"/>
            </a:solidFill>
            <a:prstDash val="solid"/>
          </a:ln>
        </p:spPr>
        <p:txBody>
          <a:bodyPr/>
          <a:p/>
        </p:txBody>
      </p:sp>
      <p:sp>
        <p:nvSpPr>
          <p:cNvPr id="29" name="Text 26"/>
          <p:cNvSpPr/>
          <p:nvPr/>
        </p:nvSpPr>
        <p:spPr>
          <a:xfrm>
            <a:off x="502920" y="48234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F8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www.amalandcompany.com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2743200" y="48234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AAEC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Module 3  ·  The Impact Pathway</a:t>
            </a:r>
            <a:endParaRPr lang="en-US" sz="850" dirty="0"/>
          </a:p>
        </p:txBody>
      </p:sp>
      <p:sp>
        <p:nvSpPr>
          <p:cNvPr id="31" name="Text 28"/>
          <p:cNvSpPr/>
          <p:nvPr/>
        </p:nvSpPr>
        <p:spPr>
          <a:xfrm>
            <a:off x="4983480" y="48234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F8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Page 13</a:t>
            </a:r>
            <a:endParaRPr lang="en-US" sz="9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9520" y="-45720"/>
            <a:ext cx="1554480" cy="7772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384048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F8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Pause</a:t>
            </a:r>
            <a:endParaRPr lang="en-US" sz="1050" dirty="0"/>
          </a:p>
        </p:txBody>
      </p:sp>
      <p:sp>
        <p:nvSpPr>
          <p:cNvPr id="4" name="Text 1"/>
          <p:cNvSpPr/>
          <p:nvPr/>
        </p:nvSpPr>
        <p:spPr>
          <a:xfrm>
            <a:off x="502920" y="640080"/>
            <a:ext cx="7315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Pulse check before assumptions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502920" y="141732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6F8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We just covered a complex topic — outputs, baselines, metrics, targets. Before we move on to assumptions, let's take a breath.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02920" y="1965960"/>
            <a:ext cx="8138160" cy="1280160"/>
          </a:xfrm>
          <a:prstGeom prst="roundRect">
            <a:avLst>
              <a:gd name="adj" fmla="val 5714"/>
            </a:avLst>
          </a:prstGeom>
          <a:solidFill>
            <a:srgbClr val="E5F2FA"/>
          </a:solidFill>
          <a:ln w="6350">
            <a:solidFill>
              <a:srgbClr val="DCE6EE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5000"/>
              </a:srgbClr>
            </a:outerShdw>
          </a:effectLst>
        </p:spPr>
        <p:txBody>
          <a:bodyPr/>
          <a:p/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286000"/>
            <a:ext cx="640080" cy="64008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783080" y="2148840"/>
            <a:ext cx="7223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What's still fuzzy?</a:t>
            </a:r>
            <a:endParaRPr lang="en-US" sz="2600" dirty="0"/>
          </a:p>
        </p:txBody>
      </p:sp>
      <p:sp>
        <p:nvSpPr>
          <p:cNvPr id="9" name="Text 5"/>
          <p:cNvSpPr/>
          <p:nvPr/>
        </p:nvSpPr>
        <p:spPr>
          <a:xfrm>
            <a:off x="1783080" y="2697480"/>
            <a:ext cx="7223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Ask anything about Inputs, Activities, Outputs, or Baseline / Metric / Target. No question too small.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434340" y="3474720"/>
            <a:ext cx="2697480" cy="868680"/>
          </a:xfrm>
          <a:prstGeom prst="roundRect">
            <a:avLst>
              <a:gd name="adj" fmla="val 8421"/>
            </a:avLst>
          </a:prstGeom>
          <a:solidFill>
            <a:srgbClr val="F8FBFD"/>
          </a:solidFill>
          <a:ln w="6350">
            <a:solidFill>
              <a:srgbClr val="DCE6EE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11" name="Text 7"/>
          <p:cNvSpPr/>
          <p:nvPr/>
        </p:nvSpPr>
        <p:spPr>
          <a:xfrm>
            <a:off x="434340" y="3584448"/>
            <a:ext cx="2697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300" kern="0" dirty="0">
                <a:solidFill>
                  <a:srgbClr val="5BA9D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CHAT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571500" y="384048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Type your question anywhere in the chat.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3223260" y="3474720"/>
            <a:ext cx="2697480" cy="868680"/>
          </a:xfrm>
          <a:prstGeom prst="roundRect">
            <a:avLst>
              <a:gd name="adj" fmla="val 8421"/>
            </a:avLst>
          </a:prstGeom>
          <a:solidFill>
            <a:srgbClr val="F8FBFD"/>
          </a:solidFill>
          <a:ln w="6350">
            <a:solidFill>
              <a:srgbClr val="DCE6EE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14" name="Text 10"/>
          <p:cNvSpPr/>
          <p:nvPr/>
        </p:nvSpPr>
        <p:spPr>
          <a:xfrm>
            <a:off x="3223260" y="3584448"/>
            <a:ext cx="2697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300" kern="0" dirty="0">
                <a:solidFill>
                  <a:srgbClr val="5BA9D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POLL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3360420" y="384048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One-word confusion  →  I'll launch a menti poll.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6012180" y="3474720"/>
            <a:ext cx="2697480" cy="868680"/>
          </a:xfrm>
          <a:prstGeom prst="roundRect">
            <a:avLst>
              <a:gd name="adj" fmla="val 8421"/>
            </a:avLst>
          </a:prstGeom>
          <a:solidFill>
            <a:srgbClr val="F8FBFD"/>
          </a:solidFill>
          <a:ln w="6350">
            <a:solidFill>
              <a:srgbClr val="DCE6EE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17" name="Text 13"/>
          <p:cNvSpPr/>
          <p:nvPr/>
        </p:nvSpPr>
        <p:spPr>
          <a:xfrm>
            <a:off x="6012180" y="3584448"/>
            <a:ext cx="2697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300" kern="0" dirty="0">
                <a:solidFill>
                  <a:srgbClr val="5BA9D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VERBAL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6149340" y="384048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Unmute and ask. First 2–3 questions get answered live.</a:t>
            </a:r>
            <a:endParaRPr lang="en-US" sz="1000" dirty="0"/>
          </a:p>
        </p:txBody>
      </p:sp>
      <p:sp>
        <p:nvSpPr>
          <p:cNvPr id="19" name="Shape 15"/>
          <p:cNvSpPr/>
          <p:nvPr/>
        </p:nvSpPr>
        <p:spPr>
          <a:xfrm>
            <a:off x="502920" y="4732020"/>
            <a:ext cx="8138160" cy="0"/>
          </a:xfrm>
          <a:prstGeom prst="line">
            <a:avLst/>
          </a:prstGeom>
          <a:noFill/>
          <a:ln w="9525">
            <a:solidFill>
              <a:srgbClr val="DCE6EE"/>
            </a:solidFill>
            <a:prstDash val="solid"/>
          </a:ln>
        </p:spPr>
        <p:txBody>
          <a:bodyPr/>
          <a:p/>
        </p:txBody>
      </p:sp>
      <p:sp>
        <p:nvSpPr>
          <p:cNvPr id="20" name="Text 16"/>
          <p:cNvSpPr/>
          <p:nvPr/>
        </p:nvSpPr>
        <p:spPr>
          <a:xfrm>
            <a:off x="502920" y="48234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F8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www.amalandcompany.com</a:t>
            </a:r>
            <a:endParaRPr lang="en-US" sz="900" dirty="0"/>
          </a:p>
        </p:txBody>
      </p:sp>
      <p:sp>
        <p:nvSpPr>
          <p:cNvPr id="21" name="Text 17"/>
          <p:cNvSpPr/>
          <p:nvPr/>
        </p:nvSpPr>
        <p:spPr>
          <a:xfrm>
            <a:off x="2743200" y="48234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AAEC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Module 3  ·  The Impact Pathway</a:t>
            </a:r>
            <a:endParaRPr lang="en-US" sz="850" dirty="0"/>
          </a:p>
        </p:txBody>
      </p:sp>
      <p:sp>
        <p:nvSpPr>
          <p:cNvPr id="22" name="Text 18"/>
          <p:cNvSpPr/>
          <p:nvPr/>
        </p:nvSpPr>
        <p:spPr>
          <a:xfrm>
            <a:off x="4983480" y="48234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F8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Page 14</a:t>
            </a:r>
            <a:endParaRPr lang="en-US" sz="900" dirty="0"/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9520" y="-45720"/>
            <a:ext cx="1554480" cy="7772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384048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F8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Assumptions</a:t>
            </a:r>
            <a:endParaRPr lang="en-US" sz="1050" dirty="0"/>
          </a:p>
        </p:txBody>
      </p:sp>
      <p:sp>
        <p:nvSpPr>
          <p:cNvPr id="4" name="Text 1"/>
          <p:cNvSpPr/>
          <p:nvPr/>
        </p:nvSpPr>
        <p:spPr>
          <a:xfrm>
            <a:off x="502920" y="640080"/>
            <a:ext cx="7315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Every arrow rests on something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1417320" y="1691640"/>
            <a:ext cx="6309360" cy="914400"/>
          </a:xfrm>
          <a:prstGeom prst="roundRect">
            <a:avLst>
              <a:gd name="adj" fmla="val 8000"/>
            </a:avLst>
          </a:prstGeom>
          <a:solidFill>
            <a:srgbClr val="E5F2FA"/>
          </a:solidFill>
          <a:ln w="6350">
            <a:solidFill>
              <a:srgbClr val="DCE6EE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600200" y="1737360"/>
            <a:ext cx="5943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An assumption is a condition that must be true for one level to produce the next.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502920" y="288036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If your assumption is wrong, the arrow doesn't pull. The chain stops. Your outcomes don't happen.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845820" y="3566160"/>
            <a:ext cx="1234440" cy="502920"/>
          </a:xfrm>
          <a:prstGeom prst="roundRect">
            <a:avLst>
              <a:gd name="adj" fmla="val 14545"/>
            </a:avLst>
          </a:prstGeom>
          <a:solidFill>
            <a:srgbClr val="F8FBFD"/>
          </a:solidFill>
          <a:ln w="6350">
            <a:solidFill>
              <a:srgbClr val="DCE6EE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845820" y="3566160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Inputs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2098548" y="3566160"/>
            <a:ext cx="2834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BA9D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2400300" y="3566160"/>
            <a:ext cx="1234440" cy="502920"/>
          </a:xfrm>
          <a:prstGeom prst="roundRect">
            <a:avLst>
              <a:gd name="adj" fmla="val 14545"/>
            </a:avLst>
          </a:prstGeom>
          <a:solidFill>
            <a:srgbClr val="F8FBFD"/>
          </a:solidFill>
          <a:ln w="6350">
            <a:solidFill>
              <a:srgbClr val="DCE6EE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2400300" y="3566160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Activities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3653028" y="3566160"/>
            <a:ext cx="2834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BA9D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3954780" y="3566160"/>
            <a:ext cx="1234440" cy="502920"/>
          </a:xfrm>
          <a:prstGeom prst="roundRect">
            <a:avLst>
              <a:gd name="adj" fmla="val 14545"/>
            </a:avLst>
          </a:prstGeom>
          <a:solidFill>
            <a:srgbClr val="F8FBFD"/>
          </a:solidFill>
          <a:ln w="6350">
            <a:solidFill>
              <a:srgbClr val="DCE6EE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15" name="Text 12"/>
          <p:cNvSpPr/>
          <p:nvPr/>
        </p:nvSpPr>
        <p:spPr>
          <a:xfrm>
            <a:off x="3954780" y="3566160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Outputs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5207508" y="3566160"/>
            <a:ext cx="2834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953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⚡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5509260" y="3566160"/>
            <a:ext cx="1234440" cy="502920"/>
          </a:xfrm>
          <a:prstGeom prst="roundRect">
            <a:avLst>
              <a:gd name="adj" fmla="val 14545"/>
            </a:avLst>
          </a:prstGeom>
          <a:solidFill>
            <a:srgbClr val="F5F5F5"/>
          </a:solidFill>
          <a:ln w="6350">
            <a:solidFill>
              <a:srgbClr val="DCE6EE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18" name="Text 15"/>
          <p:cNvSpPr/>
          <p:nvPr/>
        </p:nvSpPr>
        <p:spPr>
          <a:xfrm>
            <a:off x="5509260" y="3566160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AAEC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Outcomes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6761988" y="3566160"/>
            <a:ext cx="2834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BA9D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</a:t>
            </a:r>
            <a:endParaRPr lang="en-US" sz="2000" dirty="0"/>
          </a:p>
        </p:txBody>
      </p:sp>
      <p:sp>
        <p:nvSpPr>
          <p:cNvPr id="20" name="Shape 17"/>
          <p:cNvSpPr/>
          <p:nvPr/>
        </p:nvSpPr>
        <p:spPr>
          <a:xfrm>
            <a:off x="7063740" y="3566160"/>
            <a:ext cx="1234440" cy="502920"/>
          </a:xfrm>
          <a:prstGeom prst="roundRect">
            <a:avLst>
              <a:gd name="adj" fmla="val 14545"/>
            </a:avLst>
          </a:prstGeom>
          <a:solidFill>
            <a:srgbClr val="F5F5F5"/>
          </a:solidFill>
          <a:ln w="6350">
            <a:solidFill>
              <a:srgbClr val="DCE6EE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21" name="Text 18"/>
          <p:cNvSpPr/>
          <p:nvPr/>
        </p:nvSpPr>
        <p:spPr>
          <a:xfrm>
            <a:off x="7063740" y="3566160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AAEC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Impact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502920" y="420624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A6F8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When an assumption breaks, the chain stops right there.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502920" y="4732020"/>
            <a:ext cx="8138160" cy="0"/>
          </a:xfrm>
          <a:prstGeom prst="line">
            <a:avLst/>
          </a:prstGeom>
          <a:noFill/>
          <a:ln w="9525">
            <a:solidFill>
              <a:srgbClr val="DCE6EE"/>
            </a:solidFill>
            <a:prstDash val="solid"/>
          </a:ln>
        </p:spPr>
        <p:txBody>
          <a:bodyPr/>
          <a:p/>
        </p:txBody>
      </p:sp>
      <p:sp>
        <p:nvSpPr>
          <p:cNvPr id="24" name="Text 21"/>
          <p:cNvSpPr/>
          <p:nvPr/>
        </p:nvSpPr>
        <p:spPr>
          <a:xfrm>
            <a:off x="502920" y="48234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F8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www.amalandcompany.com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2743200" y="48234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AAEC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Module 3  ·  The Impact Pathway</a:t>
            </a:r>
            <a:endParaRPr lang="en-US" sz="850" dirty="0"/>
          </a:p>
        </p:txBody>
      </p:sp>
      <p:sp>
        <p:nvSpPr>
          <p:cNvPr id="26" name="Text 23"/>
          <p:cNvSpPr/>
          <p:nvPr/>
        </p:nvSpPr>
        <p:spPr>
          <a:xfrm>
            <a:off x="4983480" y="48234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F8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Page 15</a:t>
            </a:r>
            <a:endParaRPr lang="en-US" sz="900" dirty="0"/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9520" y="-45720"/>
            <a:ext cx="1554480" cy="7772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384048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F8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Four types of assumptions</a:t>
            </a:r>
            <a:endParaRPr lang="en-US" sz="1050" dirty="0"/>
          </a:p>
        </p:txBody>
      </p:sp>
      <p:sp>
        <p:nvSpPr>
          <p:cNvPr id="4" name="Text 1"/>
          <p:cNvSpPr/>
          <p:nvPr/>
        </p:nvSpPr>
        <p:spPr>
          <a:xfrm>
            <a:off x="502920" y="640080"/>
            <a:ext cx="7315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Name them — they're your biggest strategic risk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80060" y="1554480"/>
            <a:ext cx="4023360" cy="1298448"/>
          </a:xfrm>
          <a:prstGeom prst="roundRect">
            <a:avLst>
              <a:gd name="adj" fmla="val 5634"/>
            </a:avLst>
          </a:prstGeom>
          <a:solidFill>
            <a:srgbClr val="F8FBFD"/>
          </a:solidFill>
          <a:ln w="6350">
            <a:solidFill>
              <a:srgbClr val="DCE6EE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5000"/>
              </a:srgbClr>
            </a:outerShdw>
          </a:effectLst>
        </p:spPr>
        <p:txBody>
          <a:bodyPr/>
          <a:p/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" y="1691640"/>
            <a:ext cx="365760" cy="36576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165860" y="1664208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Participant</a:t>
            </a:r>
            <a:endParaRPr lang="en-US" sz="1500" dirty="0"/>
          </a:p>
        </p:txBody>
      </p:sp>
      <p:sp>
        <p:nvSpPr>
          <p:cNvPr id="8" name="Text 4"/>
          <p:cNvSpPr/>
          <p:nvPr/>
        </p:nvSpPr>
        <p:spPr>
          <a:xfrm>
            <a:off x="662940" y="20574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Readiness, motivation, circumstances of the people you serve.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662940" y="242316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5BA9D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Youth Camp: families allow overnight attendance and send youth for the full 5 days.</a:t>
            </a:r>
            <a:endParaRPr lang="en-US" sz="950" dirty="0"/>
          </a:p>
        </p:txBody>
      </p:sp>
      <p:sp>
        <p:nvSpPr>
          <p:cNvPr id="10" name="Shape 6"/>
          <p:cNvSpPr/>
          <p:nvPr/>
        </p:nvSpPr>
        <p:spPr>
          <a:xfrm>
            <a:off x="4640580" y="1554480"/>
            <a:ext cx="4023360" cy="1298448"/>
          </a:xfrm>
          <a:prstGeom prst="roundRect">
            <a:avLst>
              <a:gd name="adj" fmla="val 5634"/>
            </a:avLst>
          </a:prstGeom>
          <a:solidFill>
            <a:srgbClr val="F8FBFD"/>
          </a:solidFill>
          <a:ln w="6350">
            <a:solidFill>
              <a:srgbClr val="DCE6EE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5000"/>
              </a:srgbClr>
            </a:outerShdw>
          </a:effectLst>
        </p:spPr>
        <p:txBody>
          <a:bodyPr/>
          <a:p/>
        </p:txBody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23460" y="1691640"/>
            <a:ext cx="365760" cy="36576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5326380" y="1664208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Environmental</a:t>
            </a:r>
            <a:endParaRPr lang="en-US" sz="1500" dirty="0"/>
          </a:p>
        </p:txBody>
      </p:sp>
      <p:sp>
        <p:nvSpPr>
          <p:cNvPr id="13" name="Text 8"/>
          <p:cNvSpPr/>
          <p:nvPr/>
        </p:nvSpPr>
        <p:spPr>
          <a:xfrm>
            <a:off x="4823460" y="20574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External conditions — partners, facilities, climate, regional context.</a:t>
            </a:r>
            <a:endParaRPr lang="en-US" sz="1000" dirty="0"/>
          </a:p>
        </p:txBody>
      </p:sp>
      <p:sp>
        <p:nvSpPr>
          <p:cNvPr id="14" name="Text 9"/>
          <p:cNvSpPr/>
          <p:nvPr/>
        </p:nvSpPr>
        <p:spPr>
          <a:xfrm>
            <a:off x="4823460" y="242316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5BA9D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Youth Camp: Angelus Oaks retreat facility remains bookable and weather-safe for 5 days.</a:t>
            </a:r>
            <a:endParaRPr lang="en-US" sz="950" dirty="0"/>
          </a:p>
        </p:txBody>
      </p:sp>
      <p:sp>
        <p:nvSpPr>
          <p:cNvPr id="15" name="Shape 10"/>
          <p:cNvSpPr/>
          <p:nvPr/>
        </p:nvSpPr>
        <p:spPr>
          <a:xfrm>
            <a:off x="480060" y="2962656"/>
            <a:ext cx="4023360" cy="1298448"/>
          </a:xfrm>
          <a:prstGeom prst="roundRect">
            <a:avLst>
              <a:gd name="adj" fmla="val 5634"/>
            </a:avLst>
          </a:prstGeom>
          <a:solidFill>
            <a:srgbClr val="F8FBFD"/>
          </a:solidFill>
          <a:ln w="6350">
            <a:solidFill>
              <a:srgbClr val="DCE6EE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5000"/>
              </a:srgbClr>
            </a:outerShdw>
          </a:effectLst>
        </p:spPr>
        <p:txBody>
          <a:bodyPr/>
          <a:p/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940" y="3099816"/>
            <a:ext cx="365760" cy="36576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1165860" y="3072384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Organizational</a:t>
            </a:r>
            <a:endParaRPr lang="en-US" sz="1500" dirty="0"/>
          </a:p>
        </p:txBody>
      </p:sp>
      <p:sp>
        <p:nvSpPr>
          <p:cNvPr id="18" name="Text 12"/>
          <p:cNvSpPr/>
          <p:nvPr/>
        </p:nvSpPr>
        <p:spPr>
          <a:xfrm>
            <a:off x="662940" y="3465576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MASGLA's own capacity — staff, volunteers, coordination, training.</a:t>
            </a:r>
            <a:endParaRPr lang="en-US" sz="1000" dirty="0"/>
          </a:p>
        </p:txBody>
      </p:sp>
      <p:sp>
        <p:nvSpPr>
          <p:cNvPr id="19" name="Text 13"/>
          <p:cNvSpPr/>
          <p:nvPr/>
        </p:nvSpPr>
        <p:spPr>
          <a:xfrm>
            <a:off x="662940" y="3831336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5BA9D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Youth Camp: trained naqeebs are available for the 5-day retreat AND the 3-month follow-up.</a:t>
            </a:r>
            <a:endParaRPr lang="en-US" sz="950" dirty="0"/>
          </a:p>
        </p:txBody>
      </p:sp>
      <p:sp>
        <p:nvSpPr>
          <p:cNvPr id="20" name="Shape 14"/>
          <p:cNvSpPr/>
          <p:nvPr/>
        </p:nvSpPr>
        <p:spPr>
          <a:xfrm>
            <a:off x="4640580" y="2962656"/>
            <a:ext cx="4023360" cy="1298448"/>
          </a:xfrm>
          <a:prstGeom prst="roundRect">
            <a:avLst>
              <a:gd name="adj" fmla="val 5634"/>
            </a:avLst>
          </a:prstGeom>
          <a:solidFill>
            <a:srgbClr val="F8FBFD"/>
          </a:solidFill>
          <a:ln w="6350">
            <a:solidFill>
              <a:srgbClr val="DCE6EE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5000"/>
              </a:srgbClr>
            </a:outerShdw>
          </a:effectLst>
        </p:spPr>
        <p:txBody>
          <a:bodyPr/>
          <a:p/>
        </p:txBody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23460" y="3099816"/>
            <a:ext cx="365760" cy="365760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5326380" y="3072384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Causal</a:t>
            </a:r>
            <a:endParaRPr lang="en-US" sz="1500" dirty="0"/>
          </a:p>
        </p:txBody>
      </p:sp>
      <p:sp>
        <p:nvSpPr>
          <p:cNvPr id="23" name="Text 16"/>
          <p:cNvSpPr/>
          <p:nvPr/>
        </p:nvSpPr>
        <p:spPr>
          <a:xfrm>
            <a:off x="4823460" y="3465576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Whether the causal claim itself is actually valid — does the activity really produce the outcome?</a:t>
            </a:r>
            <a:endParaRPr lang="en-US" sz="1000" dirty="0"/>
          </a:p>
        </p:txBody>
      </p:sp>
      <p:sp>
        <p:nvSpPr>
          <p:cNvPr id="24" name="Text 17"/>
          <p:cNvSpPr/>
          <p:nvPr/>
        </p:nvSpPr>
        <p:spPr>
          <a:xfrm>
            <a:off x="4823460" y="3831336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5BA9D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Youth Camp: a 5-day immersive experience actually produces lasting habits — not just a temporary high.</a:t>
            </a:r>
            <a:endParaRPr lang="en-US" sz="950" dirty="0"/>
          </a:p>
        </p:txBody>
      </p:sp>
      <p:sp>
        <p:nvSpPr>
          <p:cNvPr id="25" name="Text 18"/>
          <p:cNvSpPr/>
          <p:nvPr/>
        </p:nvSpPr>
        <p:spPr>
          <a:xfrm>
            <a:off x="502920" y="4370832"/>
            <a:ext cx="8138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F8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Starting points  —  not limits.  Practice naming assumptions across any type or none of these boxes.</a:t>
            </a:r>
            <a:endParaRPr lang="en-US" sz="1100" dirty="0"/>
          </a:p>
        </p:txBody>
      </p:sp>
      <p:sp>
        <p:nvSpPr>
          <p:cNvPr id="26" name="Shape 19"/>
          <p:cNvSpPr/>
          <p:nvPr/>
        </p:nvSpPr>
        <p:spPr>
          <a:xfrm>
            <a:off x="502920" y="4732020"/>
            <a:ext cx="8138160" cy="0"/>
          </a:xfrm>
          <a:prstGeom prst="line">
            <a:avLst/>
          </a:prstGeom>
          <a:noFill/>
          <a:ln w="9525">
            <a:solidFill>
              <a:srgbClr val="DCE6EE"/>
            </a:solidFill>
            <a:prstDash val="solid"/>
          </a:ln>
        </p:spPr>
        <p:txBody>
          <a:bodyPr/>
          <a:p/>
        </p:txBody>
      </p:sp>
      <p:sp>
        <p:nvSpPr>
          <p:cNvPr id="27" name="Text 20"/>
          <p:cNvSpPr/>
          <p:nvPr/>
        </p:nvSpPr>
        <p:spPr>
          <a:xfrm>
            <a:off x="502920" y="48234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F8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www.amalandcompany.com</a:t>
            </a:r>
            <a:endParaRPr lang="en-US" sz="900" dirty="0"/>
          </a:p>
        </p:txBody>
      </p:sp>
      <p:sp>
        <p:nvSpPr>
          <p:cNvPr id="28" name="Text 21"/>
          <p:cNvSpPr/>
          <p:nvPr/>
        </p:nvSpPr>
        <p:spPr>
          <a:xfrm>
            <a:off x="2743200" y="48234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AAEC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Module 3  ·  The Impact Pathway</a:t>
            </a:r>
            <a:endParaRPr lang="en-US" sz="850" dirty="0"/>
          </a:p>
        </p:txBody>
      </p:sp>
      <p:sp>
        <p:nvSpPr>
          <p:cNvPr id="29" name="Text 22"/>
          <p:cNvSpPr/>
          <p:nvPr/>
        </p:nvSpPr>
        <p:spPr>
          <a:xfrm>
            <a:off x="4983480" y="48234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F8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Page 16</a:t>
            </a:r>
            <a:endParaRPr lang="en-US" sz="9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9520" y="-45720"/>
            <a:ext cx="1554480" cy="7772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384048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F8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Worked example  ·  Youth Camp</a:t>
            </a:r>
            <a:endParaRPr lang="en-US" sz="1050" dirty="0"/>
          </a:p>
        </p:txBody>
      </p:sp>
      <p:sp>
        <p:nvSpPr>
          <p:cNvPr id="4" name="Text 1"/>
          <p:cNvSpPr/>
          <p:nvPr/>
        </p:nvSpPr>
        <p:spPr>
          <a:xfrm>
            <a:off x="502920" y="640080"/>
            <a:ext cx="7315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full pathway — from Q-Zero to Impact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502920" y="1417320"/>
            <a:ext cx="8138160" cy="640080"/>
          </a:xfrm>
          <a:prstGeom prst="roundRect">
            <a:avLst>
              <a:gd name="adj" fmla="val 11429"/>
            </a:avLst>
          </a:prstGeom>
          <a:solidFill>
            <a:srgbClr val="15314F"/>
          </a:solidFill>
          <a:ln w="6350">
            <a:solidFill>
              <a:srgbClr val="DCE6EE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731520" y="146304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300" kern="0" dirty="0">
                <a:solidFill>
                  <a:srgbClr val="5BA9D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Q-ZERO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1737360" y="146304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i="1" dirty="0">
                <a:solidFill>
                  <a:srgbClr val="5BA9D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IF </a:t>
            </a:r>
            <a:pPr indent="0" marL="0">
              <a:buNone/>
            </a:pPr>
            <a:r>
              <a:rPr lang="en-US" sz="1000" i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we immerse vetted high schoolers in a spiritually structured, nature-based retreat with Islamic mentorship, </a:t>
            </a:r>
            <a:pPr indent="0" marL="0">
              <a:buNone/>
            </a:pPr>
            <a:r>
              <a:rPr lang="en-US" sz="1000" b="1" i="1" dirty="0">
                <a:solidFill>
                  <a:srgbClr val="5BA9D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THEN </a:t>
            </a:r>
            <a:pPr indent="0" marL="0">
              <a:buNone/>
            </a:pPr>
            <a:r>
              <a:rPr lang="en-US" sz="1000" i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they will form lasting Islamic bonds and adopt trackable spiritual habits they continue independently.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640080" y="2240280"/>
            <a:ext cx="365760" cy="365760"/>
          </a:xfrm>
          <a:prstGeom prst="ellipse">
            <a:avLst/>
          </a:prstGeom>
          <a:solidFill>
            <a:srgbClr val="15314F"/>
          </a:solidFill>
          <a:ln w="12700">
            <a:solidFill>
              <a:srgbClr val="15314F"/>
            </a:solidFill>
            <a:prstDash val="solid"/>
          </a:ln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640080" y="22402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40" b="1" dirty="0">
                <a:solidFill>
                  <a:srgbClr val="5BA9D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144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286000"/>
            <a:ext cx="274320" cy="27432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600200" y="2221992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5BA9D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INPUTS</a:t>
            </a:r>
            <a:endParaRPr lang="en-US" sz="900" dirty="0"/>
          </a:p>
        </p:txBody>
      </p:sp>
      <p:sp>
        <p:nvSpPr>
          <p:cNvPr id="12" name="Text 8"/>
          <p:cNvSpPr/>
          <p:nvPr/>
        </p:nvSpPr>
        <p:spPr>
          <a:xfrm>
            <a:off x="1600200" y="2414016"/>
            <a:ext cx="7452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120 high school juniors/seniors, MASGLA community, vetted by interview.</a:t>
            </a:r>
            <a:endParaRPr lang="en-US" sz="950" dirty="0"/>
          </a:p>
        </p:txBody>
      </p:sp>
      <p:sp>
        <p:nvSpPr>
          <p:cNvPr id="13" name="Shape 9"/>
          <p:cNvSpPr/>
          <p:nvPr/>
        </p:nvSpPr>
        <p:spPr>
          <a:xfrm>
            <a:off x="640080" y="2724912"/>
            <a:ext cx="365760" cy="365760"/>
          </a:xfrm>
          <a:prstGeom prst="ellipse">
            <a:avLst/>
          </a:prstGeom>
          <a:solidFill>
            <a:srgbClr val="15314F"/>
          </a:solidFill>
          <a:ln w="12700">
            <a:solidFill>
              <a:srgbClr val="15314F"/>
            </a:solidFill>
            <a:prstDash val="solid"/>
          </a:ln>
        </p:spPr>
        <p:txBody>
          <a:bodyPr/>
          <a:p/>
        </p:txBody>
      </p:sp>
      <p:sp>
        <p:nvSpPr>
          <p:cNvPr id="14" name="Text 10"/>
          <p:cNvSpPr/>
          <p:nvPr/>
        </p:nvSpPr>
        <p:spPr>
          <a:xfrm>
            <a:off x="640080" y="27249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40" b="1" dirty="0">
                <a:solidFill>
                  <a:srgbClr val="5BA9D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1440" dirty="0"/>
          </a:p>
        </p:txBody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8720" y="2770632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600200" y="2706624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5BA9D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ACTIVITIES</a:t>
            </a:r>
            <a:endParaRPr lang="en-US" sz="900" dirty="0"/>
          </a:p>
        </p:txBody>
      </p:sp>
      <p:sp>
        <p:nvSpPr>
          <p:cNvPr id="17" name="Text 12"/>
          <p:cNvSpPr/>
          <p:nvPr/>
        </p:nvSpPr>
        <p:spPr>
          <a:xfrm>
            <a:off x="1600200" y="2898648"/>
            <a:ext cx="7452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5-day spiritually structured retreat at Angelus Oaks with Islamic mentorship, worship, group bonding.</a:t>
            </a:r>
            <a:endParaRPr lang="en-US" sz="950" dirty="0"/>
          </a:p>
        </p:txBody>
      </p:sp>
      <p:sp>
        <p:nvSpPr>
          <p:cNvPr id="18" name="Shape 13"/>
          <p:cNvSpPr/>
          <p:nvPr/>
        </p:nvSpPr>
        <p:spPr>
          <a:xfrm>
            <a:off x="640080" y="3209544"/>
            <a:ext cx="365760" cy="365760"/>
          </a:xfrm>
          <a:prstGeom prst="ellipse">
            <a:avLst/>
          </a:prstGeom>
          <a:solidFill>
            <a:srgbClr val="15314F"/>
          </a:solidFill>
          <a:ln w="12700">
            <a:solidFill>
              <a:srgbClr val="15314F"/>
            </a:solidFill>
            <a:prstDash val="solid"/>
          </a:ln>
        </p:spPr>
        <p:txBody>
          <a:bodyPr/>
          <a:p/>
        </p:txBody>
      </p:sp>
      <p:sp>
        <p:nvSpPr>
          <p:cNvPr id="19" name="Text 14"/>
          <p:cNvSpPr/>
          <p:nvPr/>
        </p:nvSpPr>
        <p:spPr>
          <a:xfrm>
            <a:off x="640080" y="32095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40" b="1" dirty="0">
                <a:solidFill>
                  <a:srgbClr val="5BA9D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1440" dirty="0"/>
          </a:p>
        </p:txBody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88720" y="3255264"/>
            <a:ext cx="274320" cy="27432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600200" y="3191256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5BA9D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OUTPUTS</a:t>
            </a:r>
            <a:endParaRPr lang="en-US" sz="900" dirty="0"/>
          </a:p>
        </p:txBody>
      </p:sp>
      <p:sp>
        <p:nvSpPr>
          <p:cNvPr id="22" name="Text 16"/>
          <p:cNvSpPr/>
          <p:nvPr/>
        </p:nvSpPr>
        <p:spPr>
          <a:xfrm>
            <a:off x="1600200" y="3383280"/>
            <a:ext cx="7452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Baseline 40% salah  ·  Metric: completions + 3-mo salah %  ·  Target 100 completions, 65% salah.</a:t>
            </a:r>
            <a:endParaRPr lang="en-US" sz="950" dirty="0"/>
          </a:p>
        </p:txBody>
      </p:sp>
      <p:sp>
        <p:nvSpPr>
          <p:cNvPr id="23" name="Shape 17"/>
          <p:cNvSpPr/>
          <p:nvPr/>
        </p:nvSpPr>
        <p:spPr>
          <a:xfrm>
            <a:off x="640080" y="3694176"/>
            <a:ext cx="365760" cy="365760"/>
          </a:xfrm>
          <a:prstGeom prst="ellipse">
            <a:avLst/>
          </a:prstGeom>
          <a:solidFill>
            <a:srgbClr val="15314F"/>
          </a:solidFill>
          <a:ln w="12700">
            <a:solidFill>
              <a:srgbClr val="15314F"/>
            </a:solidFill>
            <a:prstDash val="solid"/>
          </a:ln>
        </p:spPr>
        <p:txBody>
          <a:bodyPr/>
          <a:p/>
        </p:txBody>
      </p:sp>
      <p:sp>
        <p:nvSpPr>
          <p:cNvPr id="24" name="Text 18"/>
          <p:cNvSpPr/>
          <p:nvPr/>
        </p:nvSpPr>
        <p:spPr>
          <a:xfrm>
            <a:off x="640080" y="36941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40" b="1" dirty="0">
                <a:solidFill>
                  <a:srgbClr val="5BA9D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1440" dirty="0"/>
          </a:p>
        </p:txBody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88720" y="3739896"/>
            <a:ext cx="274320" cy="274320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1600200" y="3675888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5BA9D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OUTCOMES</a:t>
            </a:r>
            <a:endParaRPr lang="en-US" sz="900" dirty="0"/>
          </a:p>
        </p:txBody>
      </p:sp>
      <p:sp>
        <p:nvSpPr>
          <p:cNvPr id="27" name="Text 20"/>
          <p:cNvSpPr/>
          <p:nvPr/>
        </p:nvSpPr>
        <p:spPr>
          <a:xfrm>
            <a:off x="1600200" y="3867912"/>
            <a:ext cx="7452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Youth form lasting Islamic bonds and adopt trackable spiritual habits they continue independently.</a:t>
            </a:r>
            <a:endParaRPr lang="en-US" sz="950" dirty="0"/>
          </a:p>
        </p:txBody>
      </p:sp>
      <p:sp>
        <p:nvSpPr>
          <p:cNvPr id="28" name="Shape 21"/>
          <p:cNvSpPr/>
          <p:nvPr/>
        </p:nvSpPr>
        <p:spPr>
          <a:xfrm>
            <a:off x="640080" y="4178808"/>
            <a:ext cx="365760" cy="365760"/>
          </a:xfrm>
          <a:prstGeom prst="ellipse">
            <a:avLst/>
          </a:prstGeom>
          <a:solidFill>
            <a:srgbClr val="15314F"/>
          </a:solidFill>
          <a:ln w="12700">
            <a:solidFill>
              <a:srgbClr val="15314F"/>
            </a:solidFill>
            <a:prstDash val="solid"/>
          </a:ln>
        </p:spPr>
        <p:txBody>
          <a:bodyPr/>
          <a:p/>
        </p:txBody>
      </p:sp>
      <p:sp>
        <p:nvSpPr>
          <p:cNvPr id="29" name="Text 22"/>
          <p:cNvSpPr/>
          <p:nvPr/>
        </p:nvSpPr>
        <p:spPr>
          <a:xfrm>
            <a:off x="640080" y="41788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40" b="1" dirty="0">
                <a:solidFill>
                  <a:srgbClr val="5BA9D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</a:t>
            </a:r>
            <a:endParaRPr lang="en-US" sz="1440" dirty="0"/>
          </a:p>
        </p:txBody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88720" y="4224528"/>
            <a:ext cx="274320" cy="274320"/>
          </a:xfrm>
          <a:prstGeom prst="rect">
            <a:avLst/>
          </a:prstGeom>
        </p:spPr>
      </p:pic>
      <p:sp>
        <p:nvSpPr>
          <p:cNvPr id="31" name="Text 23"/>
          <p:cNvSpPr/>
          <p:nvPr/>
        </p:nvSpPr>
        <p:spPr>
          <a:xfrm>
            <a:off x="1600200" y="416052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5BA9D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IMPACT</a:t>
            </a:r>
            <a:endParaRPr lang="en-US" sz="900" dirty="0"/>
          </a:p>
        </p:txBody>
      </p:sp>
      <p:sp>
        <p:nvSpPr>
          <p:cNvPr id="32" name="Text 24"/>
          <p:cNvSpPr/>
          <p:nvPr/>
        </p:nvSpPr>
        <p:spPr>
          <a:xfrm>
            <a:off x="1600200" y="4352544"/>
            <a:ext cx="7452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generation of high schoolers carrying Islamic identity into adult Muslim leadership and community life.</a:t>
            </a:r>
            <a:endParaRPr lang="en-US" sz="950" dirty="0"/>
          </a:p>
        </p:txBody>
      </p:sp>
      <p:sp>
        <p:nvSpPr>
          <p:cNvPr id="33" name="Text 25"/>
          <p:cNvSpPr/>
          <p:nvPr/>
        </p:nvSpPr>
        <p:spPr>
          <a:xfrm>
            <a:off x="502920" y="43662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A6F8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Your worksheet today walks this same structure for your own program.</a:t>
            </a:r>
            <a:endParaRPr lang="en-US" sz="1200" dirty="0"/>
          </a:p>
        </p:txBody>
      </p:sp>
      <p:sp>
        <p:nvSpPr>
          <p:cNvPr id="34" name="Shape 26"/>
          <p:cNvSpPr/>
          <p:nvPr/>
        </p:nvSpPr>
        <p:spPr>
          <a:xfrm>
            <a:off x="502920" y="4732020"/>
            <a:ext cx="8138160" cy="0"/>
          </a:xfrm>
          <a:prstGeom prst="line">
            <a:avLst/>
          </a:prstGeom>
          <a:noFill/>
          <a:ln w="9525">
            <a:solidFill>
              <a:srgbClr val="DCE6EE"/>
            </a:solidFill>
            <a:prstDash val="solid"/>
          </a:ln>
        </p:spPr>
        <p:txBody>
          <a:bodyPr/>
          <a:p/>
        </p:txBody>
      </p:sp>
      <p:sp>
        <p:nvSpPr>
          <p:cNvPr id="35" name="Text 27"/>
          <p:cNvSpPr/>
          <p:nvPr/>
        </p:nvSpPr>
        <p:spPr>
          <a:xfrm>
            <a:off x="502920" y="48234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F8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www.amalandcompany.com</a:t>
            </a:r>
            <a:endParaRPr lang="en-US" sz="900" dirty="0"/>
          </a:p>
        </p:txBody>
      </p:sp>
      <p:sp>
        <p:nvSpPr>
          <p:cNvPr id="36" name="Text 28"/>
          <p:cNvSpPr/>
          <p:nvPr/>
        </p:nvSpPr>
        <p:spPr>
          <a:xfrm>
            <a:off x="2743200" y="48234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AAEC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Module 3  ·  The Impact Pathway</a:t>
            </a:r>
            <a:endParaRPr lang="en-US" sz="850" dirty="0"/>
          </a:p>
        </p:txBody>
      </p:sp>
      <p:sp>
        <p:nvSpPr>
          <p:cNvPr id="37" name="Text 29"/>
          <p:cNvSpPr/>
          <p:nvPr/>
        </p:nvSpPr>
        <p:spPr>
          <a:xfrm>
            <a:off x="4983480" y="48234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F8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Page 17</a:t>
            </a:r>
            <a:endParaRPr lang="en-US" sz="9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9520" y="-45720"/>
            <a:ext cx="1554480" cy="7772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384048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F8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Worked example  ·  Youth Camp</a:t>
            </a:r>
            <a:endParaRPr lang="en-US" sz="1050" dirty="0"/>
          </a:p>
        </p:txBody>
      </p:sp>
      <p:sp>
        <p:nvSpPr>
          <p:cNvPr id="4" name="Text 1"/>
          <p:cNvSpPr/>
          <p:nvPr/>
        </p:nvSpPr>
        <p:spPr>
          <a:xfrm>
            <a:off x="502920" y="640080"/>
            <a:ext cx="7315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Naming the assumption at each link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502920" y="1600200"/>
            <a:ext cx="2103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Inputs → Activities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2788920" y="1709928"/>
            <a:ext cx="1371600" cy="438912"/>
          </a:xfrm>
          <a:prstGeom prst="roundRect">
            <a:avLst>
              <a:gd name="adj" fmla="val 10417"/>
            </a:avLst>
          </a:prstGeom>
          <a:solidFill>
            <a:srgbClr val="E5F2FA"/>
          </a:solidFill>
          <a:ln w="6350">
            <a:solidFill>
              <a:srgbClr val="5BA9D8"/>
            </a:solidFill>
            <a:prstDash val="solid"/>
          </a:ln>
        </p:spPr>
        <p:txBody>
          <a:bodyPr/>
          <a:p/>
        </p:txBody>
      </p:sp>
      <p:sp>
        <p:nvSpPr>
          <p:cNvPr id="7" name="Text 4"/>
          <p:cNvSpPr/>
          <p:nvPr/>
        </p:nvSpPr>
        <p:spPr>
          <a:xfrm>
            <a:off x="2788920" y="1709928"/>
            <a:ext cx="1371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5BA9D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Participant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4297680" y="1600200"/>
            <a:ext cx="4709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Families allow overnight attendance and support camp values.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502920" y="2350008"/>
            <a:ext cx="2103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Activities → Outputs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2788920" y="2459736"/>
            <a:ext cx="1371600" cy="438912"/>
          </a:xfrm>
          <a:prstGeom prst="roundRect">
            <a:avLst>
              <a:gd name="adj" fmla="val 10417"/>
            </a:avLst>
          </a:prstGeom>
          <a:solidFill>
            <a:srgbClr val="E5F2FA"/>
          </a:solidFill>
          <a:ln w="6350">
            <a:solidFill>
              <a:srgbClr val="5BA9D8"/>
            </a:solidFill>
            <a:prstDash val="solid"/>
          </a:ln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2788920" y="2459736"/>
            <a:ext cx="1371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5BA9D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Organizational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4297680" y="2350008"/>
            <a:ext cx="4709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Mentors are trained and present; sessions run as designed.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502920" y="3099816"/>
            <a:ext cx="2103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Outputs → Outcomes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2788920" y="3209544"/>
            <a:ext cx="1371600" cy="438912"/>
          </a:xfrm>
          <a:prstGeom prst="roundRect">
            <a:avLst>
              <a:gd name="adj" fmla="val 10417"/>
            </a:avLst>
          </a:prstGeom>
          <a:solidFill>
            <a:srgbClr val="E5F2FA"/>
          </a:solidFill>
          <a:ln w="6350">
            <a:solidFill>
              <a:srgbClr val="5BA9D8"/>
            </a:solidFill>
            <a:prstDash val="solid"/>
          </a:ln>
        </p:spPr>
        <p:txBody>
          <a:bodyPr/>
          <a:p/>
        </p:txBody>
      </p:sp>
      <p:sp>
        <p:nvSpPr>
          <p:cNvPr id="15" name="Text 12"/>
          <p:cNvSpPr/>
          <p:nvPr/>
        </p:nvSpPr>
        <p:spPr>
          <a:xfrm>
            <a:off x="2788920" y="3209544"/>
            <a:ext cx="1371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5BA9D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Causal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4297680" y="3099816"/>
            <a:ext cx="4709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retreat experience translates into sustained habit change at home.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502920" y="3849624"/>
            <a:ext cx="2103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Outcomes → Impact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2788920" y="3959352"/>
            <a:ext cx="1371600" cy="438912"/>
          </a:xfrm>
          <a:prstGeom prst="roundRect">
            <a:avLst>
              <a:gd name="adj" fmla="val 10417"/>
            </a:avLst>
          </a:prstGeom>
          <a:solidFill>
            <a:srgbClr val="E5F2FA"/>
          </a:solidFill>
          <a:ln w="6350">
            <a:solidFill>
              <a:srgbClr val="5BA9D8"/>
            </a:solidFill>
            <a:prstDash val="solid"/>
          </a:ln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2788920" y="3959352"/>
            <a:ext cx="1371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5BA9D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Environmental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4297680" y="3849624"/>
            <a:ext cx="4709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Local masajid and families reinforce camp values after participants return.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502920" y="43662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A6F8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 your worksheet you'll name at least one assumption per link — and label each one by type.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02920" y="4732020"/>
            <a:ext cx="8138160" cy="0"/>
          </a:xfrm>
          <a:prstGeom prst="line">
            <a:avLst/>
          </a:prstGeom>
          <a:noFill/>
          <a:ln w="9525">
            <a:solidFill>
              <a:srgbClr val="DCE6EE"/>
            </a:solidFill>
            <a:prstDash val="solid"/>
          </a:ln>
        </p:spPr>
        <p:txBody>
          <a:bodyPr/>
          <a:p/>
        </p:txBody>
      </p:sp>
      <p:sp>
        <p:nvSpPr>
          <p:cNvPr id="23" name="Text 20"/>
          <p:cNvSpPr/>
          <p:nvPr/>
        </p:nvSpPr>
        <p:spPr>
          <a:xfrm>
            <a:off x="502920" y="48234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F8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www.amalandcompany.com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2743200" y="48234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AAEC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Module 3  ·  The Impact Pathway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4983480" y="48234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F8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Page 18</a:t>
            </a:r>
            <a:endParaRPr lang="en-US" sz="9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9520" y="-45720"/>
            <a:ext cx="1554480" cy="7772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384048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F8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different framework</a:t>
            </a:r>
            <a:endParaRPr lang="en-US" sz="1050" dirty="0"/>
          </a:p>
        </p:txBody>
      </p:sp>
      <p:sp>
        <p:nvSpPr>
          <p:cNvPr id="4" name="Text 1"/>
          <p:cNvSpPr/>
          <p:nvPr/>
        </p:nvSpPr>
        <p:spPr>
          <a:xfrm>
            <a:off x="502920" y="640080"/>
            <a:ext cx="7315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Four reframes that sharpen your first draft</a:t>
            </a:r>
            <a:endParaRPr lang="en-US" sz="3000" dirty="0"/>
          </a:p>
        </p:txBody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73352"/>
            <a:ext cx="292608" cy="292608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960120" y="160020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Inputs are people — not resources</a:t>
            </a:r>
            <a:endParaRPr lang="en-US" sz="1400" dirty="0"/>
          </a:p>
        </p:txBody>
      </p:sp>
      <p:sp>
        <p:nvSpPr>
          <p:cNvPr id="7" name="Text 3"/>
          <p:cNvSpPr/>
          <p:nvPr/>
        </p:nvSpPr>
        <p:spPr>
          <a:xfrm>
            <a:off x="960120" y="18928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F8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Budget, staff, and venue are the resources you use. The Inputs of your TOC are the people you serve.</a:t>
            </a:r>
            <a:endParaRPr lang="en-US" sz="1050" dirty="0"/>
          </a:p>
        </p:txBody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2359152"/>
            <a:ext cx="292608" cy="292608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960120" y="228600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Outputs count.  Outcomes change.</a:t>
            </a:r>
            <a:endParaRPr lang="en-US" sz="1400" dirty="0"/>
          </a:p>
        </p:txBody>
      </p:sp>
      <p:sp>
        <p:nvSpPr>
          <p:cNvPr id="10" name="Text 5"/>
          <p:cNvSpPr/>
          <p:nvPr/>
        </p:nvSpPr>
        <p:spPr>
          <a:xfrm>
            <a:off x="960120" y="25786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F8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'300 youth attended' is what happened — that's an Output. Outcomes describe what shifted inside those 300 six months later.</a:t>
            </a:r>
            <a:endParaRPr lang="en-US" sz="1050" dirty="0"/>
          </a:p>
        </p:txBody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3044952"/>
            <a:ext cx="292608" cy="292608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960120" y="297180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Baseline anchors the target</a:t>
            </a:r>
            <a:endParaRPr lang="en-US" sz="1400" dirty="0"/>
          </a:p>
        </p:txBody>
      </p:sp>
      <p:sp>
        <p:nvSpPr>
          <p:cNvPr id="13" name="Text 7"/>
          <p:cNvSpPr/>
          <p:nvPr/>
        </p:nvSpPr>
        <p:spPr>
          <a:xfrm>
            <a:off x="960120" y="32644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F8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target without a baseline is a hope. A target with a baseline is a claim you can measure and defend.</a:t>
            </a:r>
            <a:endParaRPr lang="en-US" sz="1050" dirty="0"/>
          </a:p>
        </p:txBody>
      </p:sp>
      <p:pic>
        <p:nvPicPr>
          <p:cNvPr id="1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920" y="3730752"/>
            <a:ext cx="292608" cy="292608"/>
          </a:xfrm>
          <a:prstGeom prst="rect">
            <a:avLst/>
          </a:prstGeom>
        </p:spPr>
      </p:pic>
      <p:sp>
        <p:nvSpPr>
          <p:cNvPr id="15" name="Text 8"/>
          <p:cNvSpPr/>
          <p:nvPr/>
        </p:nvSpPr>
        <p:spPr>
          <a:xfrm>
            <a:off x="960120" y="365760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Assumptions named, not silent</a:t>
            </a:r>
            <a:endParaRPr lang="en-US" sz="1400" dirty="0"/>
          </a:p>
        </p:txBody>
      </p:sp>
      <p:sp>
        <p:nvSpPr>
          <p:cNvPr id="16" name="Text 9"/>
          <p:cNvSpPr/>
          <p:nvPr/>
        </p:nvSpPr>
        <p:spPr>
          <a:xfrm>
            <a:off x="960120" y="3950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F8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Every arrow rests on an assumption. Named ones can be tested and monitored; silent ones can't be defended.</a:t>
            </a:r>
            <a:endParaRPr lang="en-US" sz="1050" dirty="0"/>
          </a:p>
        </p:txBody>
      </p:sp>
      <p:sp>
        <p:nvSpPr>
          <p:cNvPr id="17" name="Shape 10"/>
          <p:cNvSpPr/>
          <p:nvPr/>
        </p:nvSpPr>
        <p:spPr>
          <a:xfrm>
            <a:off x="502920" y="4732020"/>
            <a:ext cx="8138160" cy="0"/>
          </a:xfrm>
          <a:prstGeom prst="line">
            <a:avLst/>
          </a:prstGeom>
          <a:noFill/>
          <a:ln w="9525">
            <a:solidFill>
              <a:srgbClr val="DCE6EE"/>
            </a:solidFill>
            <a:prstDash val="solid"/>
          </a:ln>
        </p:spPr>
        <p:txBody>
          <a:bodyPr/>
          <a:p/>
        </p:txBody>
      </p:sp>
      <p:sp>
        <p:nvSpPr>
          <p:cNvPr id="18" name="Text 11"/>
          <p:cNvSpPr/>
          <p:nvPr/>
        </p:nvSpPr>
        <p:spPr>
          <a:xfrm>
            <a:off x="502920" y="48234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F8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www.amalandcompany.com</a:t>
            </a:r>
            <a:endParaRPr lang="en-US" sz="900" dirty="0"/>
          </a:p>
        </p:txBody>
      </p:sp>
      <p:sp>
        <p:nvSpPr>
          <p:cNvPr id="19" name="Text 12"/>
          <p:cNvSpPr/>
          <p:nvPr/>
        </p:nvSpPr>
        <p:spPr>
          <a:xfrm>
            <a:off x="2743200" y="48234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AAEC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Module 3  ·  The Impact Pathway</a:t>
            </a:r>
            <a:endParaRPr lang="en-US" sz="850" dirty="0"/>
          </a:p>
        </p:txBody>
      </p:sp>
      <p:sp>
        <p:nvSpPr>
          <p:cNvPr id="20" name="Text 13"/>
          <p:cNvSpPr/>
          <p:nvPr/>
        </p:nvSpPr>
        <p:spPr>
          <a:xfrm>
            <a:off x="4983480" y="48234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F8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Page 19</a:t>
            </a:r>
            <a:endParaRPr lang="en-US" sz="900" dirty="0"/>
          </a:p>
        </p:txBody>
      </p:sp>
    </p:spTree>
  </p:cSld>
  <p:clrMapOvr>
    <a:masterClrMapping/>
  </p:clrMapOvr>
  <p:transition spd="med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9520" y="-45720"/>
            <a:ext cx="1554480" cy="7772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384048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F8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Worksheet  ·  25 minutes</a:t>
            </a:r>
            <a:endParaRPr lang="en-US" sz="1050" dirty="0"/>
          </a:p>
        </p:txBody>
      </p:sp>
      <p:sp>
        <p:nvSpPr>
          <p:cNvPr id="4" name="Text 1"/>
          <p:cNvSpPr/>
          <p:nvPr/>
        </p:nvSpPr>
        <p:spPr>
          <a:xfrm>
            <a:off x="502920" y="640080"/>
            <a:ext cx="7315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Build your impact pathway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502920" y="1417320"/>
            <a:ext cx="8138160" cy="594360"/>
          </a:xfrm>
          <a:prstGeom prst="roundRect">
            <a:avLst>
              <a:gd name="adj" fmla="val 12308"/>
            </a:avLst>
          </a:prstGeom>
          <a:solidFill>
            <a:srgbClr val="E5F2FA"/>
          </a:solidFill>
          <a:ln w="6350">
            <a:solidFill>
              <a:srgbClr val="DCE6EE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5000"/>
              </a:srgbClr>
            </a:outerShdw>
          </a:effectLst>
        </p:spPr>
        <p:txBody>
          <a:bodyPr/>
          <a:p/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54480"/>
            <a:ext cx="320040" cy="32004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188720" y="1481328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Download the pathway template </a:t>
            </a:r>
            <a:pPr indent="0" marL="0">
              <a:buNone/>
            </a:pPr>
            <a:r>
              <a:rPr lang="en-US" sz="1050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from the portal now. You'll fill it in during this block, and 1–2 volunteers will share out at the end.</a:t>
            </a:r>
            <a:endParaRPr lang="en-US" sz="1050" dirty="0"/>
          </a:p>
        </p:txBody>
      </p:sp>
      <p:sp>
        <p:nvSpPr>
          <p:cNvPr id="8" name="Shape 4"/>
          <p:cNvSpPr/>
          <p:nvPr/>
        </p:nvSpPr>
        <p:spPr>
          <a:xfrm>
            <a:off x="457200" y="2194560"/>
            <a:ext cx="2651760" cy="1051560"/>
          </a:xfrm>
          <a:prstGeom prst="roundRect">
            <a:avLst>
              <a:gd name="adj" fmla="val 6957"/>
            </a:avLst>
          </a:prstGeom>
          <a:solidFill>
            <a:srgbClr val="F8FBFD"/>
          </a:solidFill>
          <a:ln w="6350">
            <a:solidFill>
              <a:srgbClr val="DCE6EE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9" name="Text 5"/>
          <p:cNvSpPr/>
          <p:nvPr/>
        </p:nvSpPr>
        <p:spPr>
          <a:xfrm>
            <a:off x="594360" y="2304288"/>
            <a:ext cx="320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BA9D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94360" y="2487168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INPUTS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594360" y="2798064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F8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Audience: who, how many, what is their starting circumstance?</a:t>
            </a:r>
            <a:endParaRPr lang="en-US" sz="950" dirty="0"/>
          </a:p>
        </p:txBody>
      </p:sp>
      <p:sp>
        <p:nvSpPr>
          <p:cNvPr id="12" name="Shape 8"/>
          <p:cNvSpPr/>
          <p:nvPr/>
        </p:nvSpPr>
        <p:spPr>
          <a:xfrm>
            <a:off x="3246120" y="2194560"/>
            <a:ext cx="2651760" cy="1051560"/>
          </a:xfrm>
          <a:prstGeom prst="roundRect">
            <a:avLst>
              <a:gd name="adj" fmla="val 6957"/>
            </a:avLst>
          </a:prstGeom>
          <a:solidFill>
            <a:srgbClr val="F8FBFD"/>
          </a:solidFill>
          <a:ln w="6350">
            <a:solidFill>
              <a:srgbClr val="DCE6EE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13" name="Text 9"/>
          <p:cNvSpPr/>
          <p:nvPr/>
        </p:nvSpPr>
        <p:spPr>
          <a:xfrm>
            <a:off x="3383280" y="2304288"/>
            <a:ext cx="320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BA9D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1000" dirty="0"/>
          </a:p>
        </p:txBody>
      </p:sp>
      <p:sp>
        <p:nvSpPr>
          <p:cNvPr id="14" name="Text 10"/>
          <p:cNvSpPr/>
          <p:nvPr/>
        </p:nvSpPr>
        <p:spPr>
          <a:xfrm>
            <a:off x="3383280" y="2487168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ACTIVITIES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3383280" y="2798064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F8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What does your team actually deliver, and in what format?</a:t>
            </a:r>
            <a:endParaRPr lang="en-US" sz="950" dirty="0"/>
          </a:p>
        </p:txBody>
      </p:sp>
      <p:sp>
        <p:nvSpPr>
          <p:cNvPr id="16" name="Shape 12"/>
          <p:cNvSpPr/>
          <p:nvPr/>
        </p:nvSpPr>
        <p:spPr>
          <a:xfrm>
            <a:off x="6035040" y="2194560"/>
            <a:ext cx="2651760" cy="1051560"/>
          </a:xfrm>
          <a:prstGeom prst="roundRect">
            <a:avLst>
              <a:gd name="adj" fmla="val 6957"/>
            </a:avLst>
          </a:prstGeom>
          <a:solidFill>
            <a:srgbClr val="F8FBFD"/>
          </a:solidFill>
          <a:ln w="6350">
            <a:solidFill>
              <a:srgbClr val="DCE6EE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17" name="Text 13"/>
          <p:cNvSpPr/>
          <p:nvPr/>
        </p:nvSpPr>
        <p:spPr>
          <a:xfrm>
            <a:off x="6172200" y="2304288"/>
            <a:ext cx="320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BA9D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6172200" y="2487168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OUTPUTS</a:t>
            </a:r>
            <a:endParaRPr lang="en-US" sz="1400" dirty="0"/>
          </a:p>
        </p:txBody>
      </p:sp>
      <p:sp>
        <p:nvSpPr>
          <p:cNvPr id="19" name="Text 15"/>
          <p:cNvSpPr/>
          <p:nvPr/>
        </p:nvSpPr>
        <p:spPr>
          <a:xfrm>
            <a:off x="6172200" y="2798064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F8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Baseline  ·  Metric  ·  Target. All three. Be specific.</a:t>
            </a:r>
            <a:endParaRPr lang="en-US" sz="950" dirty="0"/>
          </a:p>
        </p:txBody>
      </p:sp>
      <p:sp>
        <p:nvSpPr>
          <p:cNvPr id="20" name="Shape 16"/>
          <p:cNvSpPr/>
          <p:nvPr/>
        </p:nvSpPr>
        <p:spPr>
          <a:xfrm>
            <a:off x="457200" y="3383280"/>
            <a:ext cx="2651760" cy="1051560"/>
          </a:xfrm>
          <a:prstGeom prst="roundRect">
            <a:avLst>
              <a:gd name="adj" fmla="val 6957"/>
            </a:avLst>
          </a:prstGeom>
          <a:solidFill>
            <a:srgbClr val="F8FBFD"/>
          </a:solidFill>
          <a:ln w="6350">
            <a:solidFill>
              <a:srgbClr val="DCE6EE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21" name="Text 17"/>
          <p:cNvSpPr/>
          <p:nvPr/>
        </p:nvSpPr>
        <p:spPr>
          <a:xfrm>
            <a:off x="594360" y="3493008"/>
            <a:ext cx="320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BA9D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1000" dirty="0"/>
          </a:p>
        </p:txBody>
      </p:sp>
      <p:sp>
        <p:nvSpPr>
          <p:cNvPr id="22" name="Text 18"/>
          <p:cNvSpPr/>
          <p:nvPr/>
        </p:nvSpPr>
        <p:spPr>
          <a:xfrm>
            <a:off x="594360" y="3675888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OUTCOMES</a:t>
            </a:r>
            <a:endParaRPr lang="en-US" sz="1400" dirty="0"/>
          </a:p>
        </p:txBody>
      </p:sp>
      <p:sp>
        <p:nvSpPr>
          <p:cNvPr id="23" name="Text 19"/>
          <p:cNvSpPr/>
          <p:nvPr/>
        </p:nvSpPr>
        <p:spPr>
          <a:xfrm>
            <a:off x="594360" y="3986784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F8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What changes in a person within 6–18 months? Tie to your Q-Zero THEN.</a:t>
            </a:r>
            <a:endParaRPr lang="en-US" sz="950" dirty="0"/>
          </a:p>
        </p:txBody>
      </p:sp>
      <p:sp>
        <p:nvSpPr>
          <p:cNvPr id="24" name="Shape 20"/>
          <p:cNvSpPr/>
          <p:nvPr/>
        </p:nvSpPr>
        <p:spPr>
          <a:xfrm>
            <a:off x="3246120" y="3383280"/>
            <a:ext cx="2651760" cy="1051560"/>
          </a:xfrm>
          <a:prstGeom prst="roundRect">
            <a:avLst>
              <a:gd name="adj" fmla="val 6957"/>
            </a:avLst>
          </a:prstGeom>
          <a:solidFill>
            <a:srgbClr val="F8FBFD"/>
          </a:solidFill>
          <a:ln w="6350">
            <a:solidFill>
              <a:srgbClr val="DCE6EE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25" name="Text 21"/>
          <p:cNvSpPr/>
          <p:nvPr/>
        </p:nvSpPr>
        <p:spPr>
          <a:xfrm>
            <a:off x="3383280" y="3493008"/>
            <a:ext cx="320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BA9D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</a:t>
            </a:r>
            <a:endParaRPr lang="en-US" sz="1000" dirty="0"/>
          </a:p>
        </p:txBody>
      </p:sp>
      <p:sp>
        <p:nvSpPr>
          <p:cNvPr id="26" name="Text 22"/>
          <p:cNvSpPr/>
          <p:nvPr/>
        </p:nvSpPr>
        <p:spPr>
          <a:xfrm>
            <a:off x="3383280" y="3675888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IMPACT</a:t>
            </a:r>
            <a:endParaRPr lang="en-US" sz="1400" dirty="0"/>
          </a:p>
        </p:txBody>
      </p:sp>
      <p:sp>
        <p:nvSpPr>
          <p:cNvPr id="27" name="Text 23"/>
          <p:cNvSpPr/>
          <p:nvPr/>
        </p:nvSpPr>
        <p:spPr>
          <a:xfrm>
            <a:off x="3383280" y="3986784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F8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What does the community look like in 3–5 years if outcomes hold?</a:t>
            </a:r>
            <a:endParaRPr lang="en-US" sz="950" dirty="0"/>
          </a:p>
        </p:txBody>
      </p:sp>
      <p:sp>
        <p:nvSpPr>
          <p:cNvPr id="28" name="Shape 24"/>
          <p:cNvSpPr/>
          <p:nvPr/>
        </p:nvSpPr>
        <p:spPr>
          <a:xfrm>
            <a:off x="6035040" y="3383280"/>
            <a:ext cx="2651760" cy="1051560"/>
          </a:xfrm>
          <a:prstGeom prst="roundRect">
            <a:avLst>
              <a:gd name="adj" fmla="val 6957"/>
            </a:avLst>
          </a:prstGeom>
          <a:solidFill>
            <a:srgbClr val="F8FBFD"/>
          </a:solidFill>
          <a:ln w="6350">
            <a:solidFill>
              <a:srgbClr val="DCE6EE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29" name="Text 25"/>
          <p:cNvSpPr/>
          <p:nvPr/>
        </p:nvSpPr>
        <p:spPr>
          <a:xfrm>
            <a:off x="6172200" y="3493008"/>
            <a:ext cx="320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BA9D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</a:t>
            </a:r>
            <a:endParaRPr lang="en-US" sz="1000" dirty="0"/>
          </a:p>
        </p:txBody>
      </p:sp>
      <p:sp>
        <p:nvSpPr>
          <p:cNvPr id="30" name="Text 26"/>
          <p:cNvSpPr/>
          <p:nvPr/>
        </p:nvSpPr>
        <p:spPr>
          <a:xfrm>
            <a:off x="6172200" y="3675888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ASSUMPTIONS</a:t>
            </a:r>
            <a:endParaRPr lang="en-US" sz="1400" dirty="0"/>
          </a:p>
        </p:txBody>
      </p:sp>
      <p:sp>
        <p:nvSpPr>
          <p:cNvPr id="31" name="Text 27"/>
          <p:cNvSpPr/>
          <p:nvPr/>
        </p:nvSpPr>
        <p:spPr>
          <a:xfrm>
            <a:off x="6172200" y="3986784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F8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At least one per link. Label each by type.</a:t>
            </a:r>
            <a:endParaRPr lang="en-US" sz="950" dirty="0"/>
          </a:p>
        </p:txBody>
      </p:sp>
      <p:sp>
        <p:nvSpPr>
          <p:cNvPr id="32" name="Shape 28"/>
          <p:cNvSpPr/>
          <p:nvPr/>
        </p:nvSpPr>
        <p:spPr>
          <a:xfrm>
            <a:off x="502920" y="4732020"/>
            <a:ext cx="8138160" cy="0"/>
          </a:xfrm>
          <a:prstGeom prst="line">
            <a:avLst/>
          </a:prstGeom>
          <a:noFill/>
          <a:ln w="9525">
            <a:solidFill>
              <a:srgbClr val="DCE6EE"/>
            </a:solidFill>
            <a:prstDash val="solid"/>
          </a:ln>
        </p:spPr>
        <p:txBody>
          <a:bodyPr/>
          <a:p/>
        </p:txBody>
      </p:sp>
      <p:sp>
        <p:nvSpPr>
          <p:cNvPr id="33" name="Text 29"/>
          <p:cNvSpPr/>
          <p:nvPr/>
        </p:nvSpPr>
        <p:spPr>
          <a:xfrm>
            <a:off x="502920" y="48234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F8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www.amalandcompany.com</a:t>
            </a:r>
            <a:endParaRPr lang="en-US" sz="900" dirty="0"/>
          </a:p>
        </p:txBody>
      </p:sp>
      <p:sp>
        <p:nvSpPr>
          <p:cNvPr id="34" name="Text 30"/>
          <p:cNvSpPr/>
          <p:nvPr/>
        </p:nvSpPr>
        <p:spPr>
          <a:xfrm>
            <a:off x="2743200" y="48234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AAEC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Module 3  ·  The Impact Pathway</a:t>
            </a:r>
            <a:endParaRPr lang="en-US" sz="850" dirty="0"/>
          </a:p>
        </p:txBody>
      </p:sp>
      <p:sp>
        <p:nvSpPr>
          <p:cNvPr id="35" name="Text 31"/>
          <p:cNvSpPr/>
          <p:nvPr/>
        </p:nvSpPr>
        <p:spPr>
          <a:xfrm>
            <a:off x="4983480" y="48234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F8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Page 20</a:t>
            </a:r>
            <a:endParaRPr lang="en-US" sz="900" dirty="0"/>
          </a:p>
        </p:txBody>
      </p:sp>
    </p:spTree>
  </p:cSld>
  <p:clrMapOvr>
    <a:masterClrMapping/>
  </p:clrMapOvr>
  <p:transition spd="med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9520" y="-45720"/>
            <a:ext cx="1554480" cy="7772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384048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F8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Reflection  ·  5 minutes</a:t>
            </a:r>
            <a:endParaRPr lang="en-US" sz="1050" dirty="0"/>
          </a:p>
        </p:txBody>
      </p:sp>
      <p:sp>
        <p:nvSpPr>
          <p:cNvPr id="4" name="Text 1"/>
          <p:cNvSpPr/>
          <p:nvPr/>
        </p:nvSpPr>
        <p:spPr>
          <a:xfrm>
            <a:off x="502920" y="640080"/>
            <a:ext cx="7315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Three questions about your pathway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502920" y="164592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dirty="0">
                <a:solidFill>
                  <a:srgbClr val="5BA9D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“</a:t>
            </a:r>
            <a:endParaRPr lang="en-US" sz="4800" dirty="0"/>
          </a:p>
        </p:txBody>
      </p:sp>
      <p:sp>
        <p:nvSpPr>
          <p:cNvPr id="6" name="Text 3"/>
          <p:cNvSpPr/>
          <p:nvPr/>
        </p:nvSpPr>
        <p:spPr>
          <a:xfrm>
            <a:off x="1005840" y="1691640"/>
            <a:ext cx="7680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Which of my assumptions is most likely to break — and which level of my chain would collapse if it did?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502920" y="251460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dirty="0">
                <a:solidFill>
                  <a:srgbClr val="5BA9D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“</a:t>
            </a:r>
            <a:endParaRPr lang="en-US" sz="4800" dirty="0"/>
          </a:p>
        </p:txBody>
      </p:sp>
      <p:sp>
        <p:nvSpPr>
          <p:cNvPr id="8" name="Text 5"/>
          <p:cNvSpPr/>
          <p:nvPr/>
        </p:nvSpPr>
        <p:spPr>
          <a:xfrm>
            <a:off x="1005840" y="2560320"/>
            <a:ext cx="7680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Where am I claiming outputs but hoping for outcomes? What would I need to add to actually see the outcome?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02920" y="338328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dirty="0">
                <a:solidFill>
                  <a:srgbClr val="5BA9D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“</a:t>
            </a:r>
            <a:endParaRPr lang="en-US" sz="4800" dirty="0"/>
          </a:p>
        </p:txBody>
      </p:sp>
      <p:sp>
        <p:nvSpPr>
          <p:cNvPr id="10" name="Text 7"/>
          <p:cNvSpPr/>
          <p:nvPr/>
        </p:nvSpPr>
        <p:spPr>
          <a:xfrm>
            <a:off x="1005840" y="3429000"/>
            <a:ext cx="7680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What's the one measurement I can start collecting THIS WEEK to build my baseline for the next cohort?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502920" y="4732020"/>
            <a:ext cx="8138160" cy="0"/>
          </a:xfrm>
          <a:prstGeom prst="line">
            <a:avLst/>
          </a:prstGeom>
          <a:noFill/>
          <a:ln w="9525">
            <a:solidFill>
              <a:srgbClr val="DCE6EE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502920" y="48234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F8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www.amalandcompany.com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2743200" y="48234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AAEC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Module 3  ·  The Impact Pathway</a:t>
            </a:r>
            <a:endParaRPr lang="en-US" sz="850" dirty="0"/>
          </a:p>
        </p:txBody>
      </p:sp>
      <p:sp>
        <p:nvSpPr>
          <p:cNvPr id="14" name="Text 11"/>
          <p:cNvSpPr/>
          <p:nvPr/>
        </p:nvSpPr>
        <p:spPr>
          <a:xfrm>
            <a:off x="4983480" y="48234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F8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Page 21</a:t>
            </a:r>
            <a:endParaRPr lang="en-US" sz="900" dirty="0"/>
          </a:p>
        </p:txBody>
      </p:sp>
    </p:spTree>
  </p:cSld>
  <p:clrMapOvr>
    <a:masterClrMapping/>
  </p:clrMapOvr>
  <p:transition spd="med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9520" y="-45720"/>
            <a:ext cx="1554480" cy="7772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384048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F8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Key takeaways</a:t>
            </a:r>
            <a:endParaRPr lang="en-US" sz="1050" dirty="0"/>
          </a:p>
        </p:txBody>
      </p:sp>
      <p:sp>
        <p:nvSpPr>
          <p:cNvPr id="4" name="Text 1"/>
          <p:cNvSpPr/>
          <p:nvPr/>
        </p:nvSpPr>
        <p:spPr>
          <a:xfrm>
            <a:off x="502920" y="640080"/>
            <a:ext cx="7315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What to carry into Module 4</a:t>
            </a:r>
            <a:endParaRPr lang="en-US" sz="3000" dirty="0"/>
          </a:p>
        </p:txBody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73352"/>
            <a:ext cx="292608" cy="292608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960120" y="160020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pathway is a chain of causal claims.</a:t>
            </a:r>
            <a:endParaRPr lang="en-US" sz="1400" dirty="0"/>
          </a:p>
        </p:txBody>
      </p:sp>
      <p:sp>
        <p:nvSpPr>
          <p:cNvPr id="7" name="Text 3"/>
          <p:cNvSpPr/>
          <p:nvPr/>
        </p:nvSpPr>
        <p:spPr>
          <a:xfrm>
            <a:off x="960120" y="1892808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F8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Five levels, four arrows. Each arrow asserts that one level produces the next.</a:t>
            </a:r>
            <a:endParaRPr lang="en-US" sz="1100" dirty="0"/>
          </a:p>
        </p:txBody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2331720"/>
            <a:ext cx="292608" cy="292608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960120" y="2258568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Every arrow rests on an assumption.</a:t>
            </a:r>
            <a:endParaRPr lang="en-US" sz="1400" dirty="0"/>
          </a:p>
        </p:txBody>
      </p:sp>
      <p:sp>
        <p:nvSpPr>
          <p:cNvPr id="10" name="Text 5"/>
          <p:cNvSpPr/>
          <p:nvPr/>
        </p:nvSpPr>
        <p:spPr>
          <a:xfrm>
            <a:off x="960120" y="2551176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F8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Name them. If you don't, you can't monitor them — and silent assumptions kill programs.</a:t>
            </a:r>
            <a:endParaRPr lang="en-US" sz="1100" dirty="0"/>
          </a:p>
        </p:txBody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2990088"/>
            <a:ext cx="292608" cy="292608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960120" y="2916936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Baseline before target, always.</a:t>
            </a:r>
            <a:endParaRPr lang="en-US" sz="1400" dirty="0"/>
          </a:p>
        </p:txBody>
      </p:sp>
      <p:sp>
        <p:nvSpPr>
          <p:cNvPr id="13" name="Text 7"/>
          <p:cNvSpPr/>
          <p:nvPr/>
        </p:nvSpPr>
        <p:spPr>
          <a:xfrm>
            <a:off x="960120" y="3209544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F8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You can't prove a change without a starting measurement. Plan collection into the program timeline.</a:t>
            </a:r>
            <a:endParaRPr lang="en-US" sz="1100" dirty="0"/>
          </a:p>
        </p:txBody>
      </p:sp>
      <p:pic>
        <p:nvPicPr>
          <p:cNvPr id="1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920" y="3648456"/>
            <a:ext cx="292608" cy="292608"/>
          </a:xfrm>
          <a:prstGeom prst="rect">
            <a:avLst/>
          </a:prstGeom>
        </p:spPr>
      </p:pic>
      <p:sp>
        <p:nvSpPr>
          <p:cNvPr id="15" name="Text 8"/>
          <p:cNvSpPr/>
          <p:nvPr/>
        </p:nvSpPr>
        <p:spPr>
          <a:xfrm>
            <a:off x="960120" y="3575304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Outputs and outcomes are different things.</a:t>
            </a:r>
            <a:endParaRPr lang="en-US" sz="1400" dirty="0"/>
          </a:p>
        </p:txBody>
      </p:sp>
      <p:sp>
        <p:nvSpPr>
          <p:cNvPr id="16" name="Text 9"/>
          <p:cNvSpPr/>
          <p:nvPr/>
        </p:nvSpPr>
        <p:spPr>
          <a:xfrm>
            <a:off x="960120" y="3867912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F8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Outputs are what you count. Outcomes are what changes in people. Don't confuse them.</a:t>
            </a:r>
            <a:endParaRPr lang="en-US" sz="1100" dirty="0"/>
          </a:p>
        </p:txBody>
      </p:sp>
      <p:sp>
        <p:nvSpPr>
          <p:cNvPr id="17" name="Shape 10"/>
          <p:cNvSpPr/>
          <p:nvPr/>
        </p:nvSpPr>
        <p:spPr>
          <a:xfrm>
            <a:off x="502920" y="4732020"/>
            <a:ext cx="8138160" cy="0"/>
          </a:xfrm>
          <a:prstGeom prst="line">
            <a:avLst/>
          </a:prstGeom>
          <a:noFill/>
          <a:ln w="9525">
            <a:solidFill>
              <a:srgbClr val="DCE6EE"/>
            </a:solidFill>
            <a:prstDash val="solid"/>
          </a:ln>
        </p:spPr>
        <p:txBody>
          <a:bodyPr/>
          <a:p/>
        </p:txBody>
      </p:sp>
      <p:sp>
        <p:nvSpPr>
          <p:cNvPr id="18" name="Text 11"/>
          <p:cNvSpPr/>
          <p:nvPr/>
        </p:nvSpPr>
        <p:spPr>
          <a:xfrm>
            <a:off x="502920" y="48234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F8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www.amalandcompany.com</a:t>
            </a:r>
            <a:endParaRPr lang="en-US" sz="900" dirty="0"/>
          </a:p>
        </p:txBody>
      </p:sp>
      <p:sp>
        <p:nvSpPr>
          <p:cNvPr id="19" name="Text 12"/>
          <p:cNvSpPr/>
          <p:nvPr/>
        </p:nvSpPr>
        <p:spPr>
          <a:xfrm>
            <a:off x="2743200" y="48234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AAEC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Module 3  ·  The Impact Pathway</a:t>
            </a:r>
            <a:endParaRPr lang="en-US" sz="850" dirty="0"/>
          </a:p>
        </p:txBody>
      </p:sp>
      <p:sp>
        <p:nvSpPr>
          <p:cNvPr id="20" name="Text 13"/>
          <p:cNvSpPr/>
          <p:nvPr/>
        </p:nvSpPr>
        <p:spPr>
          <a:xfrm>
            <a:off x="4983480" y="48234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F8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Page 22</a:t>
            </a:r>
            <a:endParaRPr lang="en-US" sz="9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9520" y="-45720"/>
            <a:ext cx="1554480" cy="7772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384048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F8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Before you go</a:t>
            </a:r>
            <a:endParaRPr lang="en-US" sz="1050" dirty="0"/>
          </a:p>
        </p:txBody>
      </p:sp>
      <p:sp>
        <p:nvSpPr>
          <p:cNvPr id="4" name="Text 1"/>
          <p:cNvSpPr/>
          <p:nvPr/>
        </p:nvSpPr>
        <p:spPr>
          <a:xfrm>
            <a:off x="502920" y="640080"/>
            <a:ext cx="7315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Three reminders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502920" y="1554480"/>
            <a:ext cx="5029200" cy="1188720"/>
          </a:xfrm>
          <a:prstGeom prst="roundRect">
            <a:avLst>
              <a:gd name="adj" fmla="val 6154"/>
            </a:avLst>
          </a:prstGeom>
          <a:solidFill>
            <a:srgbClr val="F8FBFD"/>
          </a:solidFill>
          <a:ln w="6350">
            <a:solidFill>
              <a:srgbClr val="DCE6EE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6" name="Shape 3"/>
          <p:cNvSpPr/>
          <p:nvPr/>
        </p:nvSpPr>
        <p:spPr>
          <a:xfrm>
            <a:off x="685800" y="1783080"/>
            <a:ext cx="502920" cy="502920"/>
          </a:xfrm>
          <a:prstGeom prst="ellipse">
            <a:avLst/>
          </a:prstGeom>
          <a:solidFill>
            <a:srgbClr val="15314F"/>
          </a:solidFill>
          <a:ln w="12700">
            <a:solidFill>
              <a:srgbClr val="15314F"/>
            </a:solidFill>
            <a:prstDash val="solid"/>
          </a:ln>
        </p:spPr>
        <p:txBody>
          <a:bodyPr/>
          <a:p/>
        </p:txBody>
      </p:sp>
      <p:sp>
        <p:nvSpPr>
          <p:cNvPr id="7" name="Text 4"/>
          <p:cNvSpPr/>
          <p:nvPr/>
        </p:nvSpPr>
        <p:spPr>
          <a:xfrm>
            <a:off x="685800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80" b="1" dirty="0">
                <a:solidFill>
                  <a:srgbClr val="5BA9D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1980" dirty="0"/>
          </a:p>
        </p:txBody>
      </p:sp>
      <p:sp>
        <p:nvSpPr>
          <p:cNvPr id="8" name="Text 5"/>
          <p:cNvSpPr/>
          <p:nvPr/>
        </p:nvSpPr>
        <p:spPr>
          <a:xfrm>
            <a:off x="1371600" y="1719072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Earn your certificate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371600" y="205740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Attend all 5 sessions and complete every assignment in the LMS. Both are required for the certificate.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502920" y="2880360"/>
            <a:ext cx="5029200" cy="1463040"/>
          </a:xfrm>
          <a:prstGeom prst="roundRect">
            <a:avLst>
              <a:gd name="adj" fmla="val 5000"/>
            </a:avLst>
          </a:prstGeom>
          <a:solidFill>
            <a:srgbClr val="F8FBFD"/>
          </a:solidFill>
          <a:ln w="6350">
            <a:solidFill>
              <a:srgbClr val="DCE6EE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685800" y="3108960"/>
            <a:ext cx="502920" cy="502920"/>
          </a:xfrm>
          <a:prstGeom prst="ellipse">
            <a:avLst/>
          </a:prstGeom>
          <a:solidFill>
            <a:srgbClr val="15314F"/>
          </a:solidFill>
          <a:ln w="12700">
            <a:solidFill>
              <a:srgbClr val="15314F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685800" y="31089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80" b="1" dirty="0">
                <a:solidFill>
                  <a:srgbClr val="5BA9D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1980" dirty="0"/>
          </a:p>
        </p:txBody>
      </p:sp>
      <p:sp>
        <p:nvSpPr>
          <p:cNvPr id="13" name="Text 10"/>
          <p:cNvSpPr/>
          <p:nvPr/>
        </p:nvSpPr>
        <p:spPr>
          <a:xfrm>
            <a:off x="1371600" y="3044952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Save the dates</a:t>
            </a:r>
            <a:endParaRPr lang="en-US" sz="1500" dirty="0"/>
          </a:p>
        </p:txBody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3447288"/>
            <a:ext cx="201168" cy="201168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1645920" y="341071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A9D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August 6  </a:t>
            </a:r>
            <a:pPr indent="0" marL="0">
              <a:buNone/>
            </a:pPr>
            <a:r>
              <a:rPr lang="en-US" sz="1100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·  Townhall</a:t>
            </a:r>
            <a:endParaRPr lang="en-US" sz="1100" dirty="0"/>
          </a:p>
        </p:txBody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0" y="3794760"/>
            <a:ext cx="201168" cy="20116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645920" y="375818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A9D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August 22  </a:t>
            </a:r>
            <a:pPr indent="0" marL="0">
              <a:buNone/>
            </a:pPr>
            <a:r>
              <a:rPr lang="en-US" sz="1100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·  In-person meeting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5760720" y="1554480"/>
            <a:ext cx="2880360" cy="3063240"/>
          </a:xfrm>
          <a:prstGeom prst="roundRect">
            <a:avLst>
              <a:gd name="adj" fmla="val 2540"/>
            </a:avLst>
          </a:prstGeom>
          <a:solidFill>
            <a:srgbClr val="E5F2FA"/>
          </a:solidFill>
          <a:ln w="6350">
            <a:solidFill>
              <a:srgbClr val="DCE6EE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19" name="Shape 14"/>
          <p:cNvSpPr/>
          <p:nvPr/>
        </p:nvSpPr>
        <p:spPr>
          <a:xfrm>
            <a:off x="5943600" y="1737360"/>
            <a:ext cx="502920" cy="502920"/>
          </a:xfrm>
          <a:prstGeom prst="ellipse">
            <a:avLst/>
          </a:prstGeom>
          <a:solidFill>
            <a:srgbClr val="15314F"/>
          </a:solidFill>
          <a:ln w="12700">
            <a:solidFill>
              <a:srgbClr val="15314F"/>
            </a:solidFill>
            <a:prstDash val="solid"/>
          </a:ln>
        </p:spPr>
        <p:txBody>
          <a:bodyPr/>
          <a:p/>
        </p:txBody>
      </p:sp>
      <p:sp>
        <p:nvSpPr>
          <p:cNvPr id="20" name="Text 15"/>
          <p:cNvSpPr/>
          <p:nvPr/>
        </p:nvSpPr>
        <p:spPr>
          <a:xfrm>
            <a:off x="5943600" y="1737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80" b="1" dirty="0">
                <a:solidFill>
                  <a:srgbClr val="5BA9D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1980" dirty="0"/>
          </a:p>
        </p:txBody>
      </p:sp>
      <p:sp>
        <p:nvSpPr>
          <p:cNvPr id="21" name="Text 16"/>
          <p:cNvSpPr/>
          <p:nvPr/>
        </p:nvSpPr>
        <p:spPr>
          <a:xfrm>
            <a:off x="6629400" y="1673352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31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Tell us how it went</a:t>
            </a:r>
            <a:endParaRPr lang="en-US" sz="1500" dirty="0"/>
          </a:p>
        </p:txBody>
      </p:sp>
      <p:sp>
        <p:nvSpPr>
          <p:cNvPr id="22" name="Text 17"/>
          <p:cNvSpPr/>
          <p:nvPr/>
        </p:nvSpPr>
        <p:spPr>
          <a:xfrm>
            <a:off x="5943600" y="233172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A6F8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Scan to open the evaluation survey. 90 seconds — while it's fresh.</a:t>
            </a:r>
            <a:endParaRPr lang="en-US" sz="1000" dirty="0"/>
          </a:p>
        </p:txBody>
      </p:sp>
      <p:pic>
        <p:nvPicPr>
          <p:cNvPr id="23" name="Image 3" descr="/home/claude/masgla_decks/qr_surve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69380" y="2788920"/>
            <a:ext cx="1463040" cy="1463040"/>
          </a:xfrm>
          <a:prstGeom prst="rect">
            <a:avLst/>
          </a:prstGeom>
        </p:spPr>
      </p:pic>
      <p:sp>
        <p:nvSpPr>
          <p:cNvPr id="24" name="Shape 18"/>
          <p:cNvSpPr/>
          <p:nvPr/>
        </p:nvSpPr>
        <p:spPr>
          <a:xfrm>
            <a:off x="502920" y="4732020"/>
            <a:ext cx="8138160" cy="0"/>
          </a:xfrm>
          <a:prstGeom prst="line">
            <a:avLst/>
          </a:prstGeom>
          <a:noFill/>
          <a:ln w="9525">
            <a:solidFill>
              <a:srgbClr val="DCE6EE"/>
            </a:solidFill>
            <a:prstDash val="solid"/>
          </a:ln>
        </p:spPr>
        <p:txBody>
          <a:bodyPr/>
          <a:p/>
        </p:txBody>
      </p:sp>
      <p:sp>
        <p:nvSpPr>
          <p:cNvPr id="25" name="Text 19"/>
          <p:cNvSpPr/>
          <p:nvPr/>
        </p:nvSpPr>
        <p:spPr>
          <a:xfrm>
            <a:off x="502920" y="48234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F8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www.amalandcompany.com</a:t>
            </a:r>
            <a:endParaRPr lang="en-US" sz="900" dirty="0"/>
          </a:p>
        </p:txBody>
      </p:sp>
      <p:sp>
        <p:nvSpPr>
          <p:cNvPr id="26" name="Text 20"/>
          <p:cNvSpPr/>
          <p:nvPr/>
        </p:nvSpPr>
        <p:spPr>
          <a:xfrm>
            <a:off x="2743200" y="48234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AAEC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Module 3  ·  The Impact Pathway</a:t>
            </a:r>
            <a:endParaRPr lang="en-US" sz="850" dirty="0"/>
          </a:p>
        </p:txBody>
      </p:sp>
      <p:sp>
        <p:nvSpPr>
          <p:cNvPr id="27" name="Text 21"/>
          <p:cNvSpPr/>
          <p:nvPr/>
        </p:nvSpPr>
        <p:spPr>
          <a:xfrm>
            <a:off x="4983480" y="48234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F8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Page 23</a:t>
            </a:r>
            <a:endParaRPr lang="en-US" sz="9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531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051560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500" kern="0" dirty="0">
                <a:solidFill>
                  <a:srgbClr val="5BA9D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Coming next  ·  Module 4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1417320"/>
            <a:ext cx="8138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Building the Logframe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914400" y="2971800"/>
            <a:ext cx="7315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B8DDF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We convert your pathway into a formal 4×4 Logical Framework Matrix — narrative, indicators, baselines, targets, and verification.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737360" y="4091940"/>
            <a:ext cx="566928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65960" y="4195737"/>
            <a:ext cx="1920240" cy="432486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572000" y="4219956"/>
            <a:ext cx="0" cy="384048"/>
          </a:xfrm>
          <a:prstGeom prst="line">
            <a:avLst/>
          </a:prstGeom>
          <a:noFill/>
          <a:ln w="9525">
            <a:solidFill>
              <a:srgbClr val="DCE6EE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3886200" y="4137660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spc="200" kern="0" dirty="0">
                <a:solidFill>
                  <a:srgbClr val="9AAEC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FACILITATED BY</a:t>
            </a:r>
            <a:endParaRPr lang="en-US" sz="65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4195737"/>
            <a:ext cx="1920240" cy="432486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3 — The Impact Pathway</dc:title>
  <dc:subject>PptxGenJS Presentation</dc:subject>
  <dc:creator>MASGLA · Amal &amp; Company</dc:creator>
  <cp:lastModifiedBy>MASGLA · Amal &amp; Company</cp:lastModifiedBy>
  <cp:revision>1</cp:revision>
  <dcterms:created xsi:type="dcterms:W3CDTF">2026-07-28T12:13:47Z</dcterms:created>
  <dcterms:modified xsi:type="dcterms:W3CDTF">2026-07-28T12:13:47Z</dcterms:modified>
</cp:coreProperties>
</file>
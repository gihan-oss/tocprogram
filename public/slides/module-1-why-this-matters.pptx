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orienting participants. We're in Module 1 of 5. Today is purely about shared language — no worksheets yet beyond the placement worksheet at the end. Reassure participants that every later session adds detail to the map they're forming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hook. Pause after the donor question. Ask the room: 'How would you answer?' Let 2–3 voices respond — most will list activities. That's the point. Then read the second box. The gap between 'what we do' and 'what changes' is the gap a TOC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chain top to bottom. The point isn't fear — it's structural. Each link is invisible until you trace it. A TOC interrupts at link 1 by making impact legible. Stress: it does not replace the work. It makes the work visible to people who weren't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sentence slowly, twice. This is the spine of the next four sessions. Every worksheet, every framework laddered up to this sentence. Tell participants: by end of Module 2, you'll have written this sentence for your own program. By Module 5, you'll know how to prove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2 minutes per reason if time permits. Invite participants to share which of the four resonates most with their region or department. The point is these are connected — weak story → weak funding → fewer programs → weaker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objectives are non-negotiable. They will be revisited in every session. Tell participants we will hold them accountable to these three by the closing of Module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a few minutes here. Have participants say the five levels out loud, in order. We'll spend the next two slides walking each level with a concrete Youth Camp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Youth Camp example slowly. Note that Inputs is NOT budget or staff — it is the audience. Activities is what the team does. Outputs has a structure: baseline, metric, target. We'll dig into this in Module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Outcomes are where the work shows up in a person's life. Impact is the cumulative community story over years. Outcomes are what your program can claim; Impact is what your program contributes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each participant to identify their Area of Focus aloud. If anyone says 'two' or 'I'm not sure,' that's fine for today — we'll sharpen in Module 2. The point is to begin pinning your program to one primary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categories will become the headers in your eventual logframe. Don't worry about choosing perfectly today — the right category often becomes obvious only after writing your Q-Zero in Module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outcomes sit underneath every program. When you write your outcomes row in Module 3, you'll ask: which of these four does my program most directly serve? Your SMART indicators in Module 5 should detect exactly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Distribute the printed worksheet. Set a 15-minute timer. Walk the room. Common stumbles: people will list staff/budget under Inputs (redirect to AUDIENCE), and people will list attendance under Outcomes (redirect to OUTPUTS). Note these on the whiteboard for Module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confusions trip up nearly every first-pass TOC. Calling them out now saves an hour of correction in Module 3. After this slide, ask the room: 'Which one are you more likely to fall into?'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Quiet reflection. No discussion yet. Hand out a half-sheet of paper or ask participants to journal in their training notebook. We'll open Module 2 with whatever surfaced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deliberately. Read each takeaway aloud. Pause after takeaway 4 — this is the bridge to Module 2, where we will sharpen exactly what 'naming change' 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21945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502920" cy="502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" y="39319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 &amp;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1097280" y="60350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097280" y="8138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4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SOCIAL IMPACT</a:t>
            </a:r>
            <a:endParaRPr lang="en-US" sz="650" dirty="0"/>
          </a:p>
        </p:txBody>
      </p:sp>
      <p:sp>
        <p:nvSpPr>
          <p:cNvPr id="7" name="Text 3"/>
          <p:cNvSpPr/>
          <p:nvPr/>
        </p:nvSpPr>
        <p:spPr>
          <a:xfrm>
            <a:off x="50292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02920" y="21031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Matters</a:t>
            </a:r>
            <a:endParaRPr lang="en-US" sz="5000" dirty="0"/>
          </a:p>
          <a:p>
            <a:pPr indent="0" marL="0">
              <a:buNone/>
            </a:pPr>
            <a:r>
              <a:rPr lang="en-US" sz="5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Intro to TOC</a:t>
            </a:r>
            <a:endParaRPr lang="en-US" sz="5000" dirty="0"/>
          </a:p>
        </p:txBody>
      </p:sp>
      <p:sp>
        <p:nvSpPr>
          <p:cNvPr id="9" name="Text 5"/>
          <p:cNvSpPr/>
          <p:nvPr/>
        </p:nvSpPr>
        <p:spPr>
          <a:xfrm>
            <a:off x="50292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shared language for measurable impact across MASGLA's programs.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02920" y="464058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98348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Facilitated by Amal &amp; Company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five-week journey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this module sits in your TOC training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70916" y="1828800"/>
            <a:ext cx="1508760" cy="1920240"/>
          </a:xfrm>
          <a:prstGeom prst="roundRect">
            <a:avLst>
              <a:gd name="adj" fmla="val 6061"/>
            </a:avLst>
          </a:prstGeom>
          <a:solidFill>
            <a:srgbClr val="15314F"/>
          </a:solidFill>
          <a:ln w="9525">
            <a:solidFill>
              <a:srgbClr val="1531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0916" y="20574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62356" y="278892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Intro to TOC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44268" y="1828800"/>
            <a:ext cx="1508760" cy="1920240"/>
          </a:xfrm>
          <a:prstGeom prst="roundRect">
            <a:avLst>
              <a:gd name="adj" fmla="val 6061"/>
            </a:avLst>
          </a:prstGeom>
          <a:solidFill>
            <a:srgbClr val="F8FBFD"/>
          </a:solidFill>
          <a:ln w="9525">
            <a:solidFill>
              <a:srgbClr val="DCE6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44268" y="20574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5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2235708" y="278892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Q-Zero 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17620" y="1828800"/>
            <a:ext cx="1508760" cy="1920240"/>
          </a:xfrm>
          <a:prstGeom prst="roundRect">
            <a:avLst>
              <a:gd name="adj" fmla="val 6061"/>
            </a:avLst>
          </a:prstGeom>
          <a:solidFill>
            <a:srgbClr val="F8FBFD"/>
          </a:solidFill>
          <a:ln w="9525">
            <a:solidFill>
              <a:srgbClr val="DC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17620" y="20574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5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3909060" y="278892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90972" y="1828800"/>
            <a:ext cx="1508760" cy="1920240"/>
          </a:xfrm>
          <a:prstGeom prst="roundRect">
            <a:avLst>
              <a:gd name="adj" fmla="val 6061"/>
            </a:avLst>
          </a:prstGeom>
          <a:solidFill>
            <a:srgbClr val="F8FBFD"/>
          </a:solidFill>
          <a:ln w="9525">
            <a:solidFill>
              <a:srgbClr val="DCE6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90972" y="20574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5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5582412" y="278892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Logframe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164324" y="1828800"/>
            <a:ext cx="1508760" cy="1920240"/>
          </a:xfrm>
          <a:prstGeom prst="roundRect">
            <a:avLst>
              <a:gd name="adj" fmla="val 6061"/>
            </a:avLst>
          </a:prstGeom>
          <a:solidFill>
            <a:srgbClr val="F8FBFD"/>
          </a:solidFill>
          <a:ln w="9525">
            <a:solidFill>
              <a:srgbClr val="DCE6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64324" y="20574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5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7255764" y="278892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Impact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A6F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 are here. Each session adds detail to a map you'll already have in your head.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Why This Matters &amp; Intro to TOC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question that started this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691640"/>
            <a:ext cx="54864" cy="1463040"/>
          </a:xfrm>
          <a:prstGeom prst="rect">
            <a:avLst/>
          </a:prstGeom>
          <a:solidFill>
            <a:srgbClr val="5BA9D8"/>
          </a:solidFill>
          <a:ln w="12700">
            <a:solidFill>
              <a:srgbClr val="5BA9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155448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“Your program — does it actually work?”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051560" y="26517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donor, stopping you in the hallway.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33832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us would answer by describing what we do. “We run Youth Camp.” “We host Qiyam nights.” That's a natural answer — but it doesn't answer the question.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40690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5C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they're really asking: what changes in someone's life because of what you do — and can you prove it?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Why This Matters &amp; Intro to TOC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not measuring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happens when we can't tell our impact story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5448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1531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STARTS HERE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606040" y="15544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do not center or capture our impact.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2304288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1F45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30428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MEANS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606040" y="230428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cannot tell the story of the change we create.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1F45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05409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LEADS TO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06040" y="305409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Weaker affiliation with the organization.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2920" y="3803904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5BA9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380390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ENDS IN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06040" y="380390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Less support — funding and volunteers fall away.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2920" y="4572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Theory of Change interrupts this chain at the first link.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Why This Matters &amp; Intro to TOC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a Theory of Change?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55448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complicated strategy document. It is a clear, logical map of how your program produces real change — starting from the specific people you serve, through the activities you run, all the way to the lasting impact you are working toward.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2926080"/>
            <a:ext cx="8138160" cy="1554480"/>
          </a:xfrm>
          <a:prstGeom prst="roundRect">
            <a:avLst>
              <a:gd name="adj" fmla="val 5882"/>
            </a:avLst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30632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SENTENCE THAT DEFINES A THEORY OF CHANGE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338328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do the right things, for the right people, in the right way…  </a:t>
            </a:r>
            <a:pPr indent="0" marL="0">
              <a:buNone/>
            </a:pPr>
            <a:r>
              <a:rPr lang="en-US" sz="18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THEN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specific, measurable change will happen in their lives — and we can prove it.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Why This Matters &amp; Intro to TOC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MASGLA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reasons this matters now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16152" y="1709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 limits our funding.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731520" y="22219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Funders increasingly ask for evidence of impact, not just a list of events. Without a TOC, we submit activity reports — not impact stories.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754880" y="15087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73736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68112" y="1709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 makes decisions instinct-based.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4983480" y="22219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prove which programs work and which don't. Keep / Modify / Cancel calls should be evidence-based, not gut-based.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02920" y="3090672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1927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16152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 blocks cross-region learning.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731520" y="380390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 and OC both run Qiyam — but with no shared way to measure what changes in participants, we can't compare or share what works.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754880" y="3090672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319272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68112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 weakens our story.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4983480" y="380390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fail to center impact, we lose the storytelling that builds affiliation — and the funding and volunteers that follow it.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Why This Matters &amp; Intro to TOC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five weeks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you'll leave able to do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548640" cy="548640"/>
          </a:xfrm>
          <a:prstGeom prst="ellipse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2160" dirty="0"/>
          </a:p>
        </p:txBody>
      </p:sp>
      <p:sp>
        <p:nvSpPr>
          <p:cNvPr id="7" name="Text 4"/>
          <p:cNvSpPr/>
          <p:nvPr/>
        </p:nvSpPr>
        <p:spPr>
          <a:xfrm>
            <a:off x="1280160" y="15544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Articulate the philosophy behind your program and the specific change it produces — in a single mission-tied If–Then sentence.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2560320"/>
            <a:ext cx="548640" cy="548640"/>
          </a:xfrm>
          <a:prstGeom prst="ellipse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160" dirty="0"/>
          </a:p>
        </p:txBody>
      </p:sp>
      <p:sp>
        <p:nvSpPr>
          <p:cNvPr id="10" name="Text 7"/>
          <p:cNvSpPr/>
          <p:nvPr/>
        </p:nvSpPr>
        <p:spPr>
          <a:xfrm>
            <a:off x="1280160" y="25146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a complete Theory of Change for your own MASGLA program — impact pathway, logframe, and measurement plan, with SMART indicators.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520440"/>
            <a:ext cx="548640" cy="548640"/>
          </a:xfrm>
          <a:prstGeom prst="ellipse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160" dirty="0"/>
          </a:p>
        </p:txBody>
      </p:sp>
      <p:sp>
        <p:nvSpPr>
          <p:cNvPr id="13" name="Text 10"/>
          <p:cNvSpPr/>
          <p:nvPr/>
        </p:nvSpPr>
        <p:spPr>
          <a:xfrm>
            <a:off x="1280160" y="34747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Analyze your program's assumptions, identify the weakest links in the causal chain, and use indicator data to make evidence-based Keep / Modify / Cancel decisions.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" y="4572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F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Adult learning, not a classroom — you bring your real program. Every worksheet is filled in for your own assigned program.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Why This Matters &amp; Intro to TOC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five levels of a Theory of Change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25780" y="169164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6596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780" y="2606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525780" y="3108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17220" y="34290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F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WHO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171700" y="169164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96596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171700" y="2606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8"/>
          <p:cNvSpPr/>
          <p:nvPr/>
        </p:nvSpPr>
        <p:spPr>
          <a:xfrm>
            <a:off x="2171700" y="3108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2263140" y="34290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F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deliver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817620" y="169164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96596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817620" y="2606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2"/>
          <p:cNvSpPr/>
          <p:nvPr/>
        </p:nvSpPr>
        <p:spPr>
          <a:xfrm>
            <a:off x="3817620" y="3108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3909060" y="34290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F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count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63540" y="169164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96596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63540" y="2606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16"/>
          <p:cNvSpPr/>
          <p:nvPr/>
        </p:nvSpPr>
        <p:spPr>
          <a:xfrm>
            <a:off x="5463540" y="3108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554980" y="34290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F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7109460" y="169164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965960"/>
            <a:ext cx="548640" cy="5486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09460" y="2606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2800" dirty="0"/>
          </a:p>
        </p:txBody>
      </p:sp>
      <p:sp>
        <p:nvSpPr>
          <p:cNvPr id="28" name="Text 20"/>
          <p:cNvSpPr/>
          <p:nvPr/>
        </p:nvSpPr>
        <p:spPr>
          <a:xfrm>
            <a:off x="7109460" y="3108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7200900" y="34290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F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Long-term shift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F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level builds on the one before. Every arrow between them is a causal claim — and rests on an assumption.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Why This Matters &amp; Intro to TOC</a:t>
            </a:r>
            <a:endParaRPr lang="en-US" sz="850" dirty="0"/>
          </a:p>
        </p:txBody>
      </p:sp>
      <p:sp>
        <p:nvSpPr>
          <p:cNvPr id="34" name="Text 26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levels (1 of 2)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Walking Youth Camp through Inputs → Outputs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45920"/>
            <a:ext cx="594360" cy="594360"/>
          </a:xfrm>
          <a:prstGeom prst="ellipse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2340" dirty="0"/>
          </a:p>
        </p:txBody>
      </p:sp>
      <p:sp>
        <p:nvSpPr>
          <p:cNvPr id="7" name="Text 4"/>
          <p:cNvSpPr/>
          <p:nvPr/>
        </p:nvSpPr>
        <p:spPr>
          <a:xfrm>
            <a:off x="128016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8016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WHO. The specific people your program is designed to serve.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8016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Camp:  </a:t>
            </a:r>
            <a:pPr indent="0" marL="0">
              <a:buNone/>
            </a:pPr>
            <a:r>
              <a:rPr lang="en-US" sz="1050" i="1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juniors and seniors from the MASGLA community — spiritually active, vetted; 120 participants.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2697480"/>
            <a:ext cx="594360" cy="594360"/>
          </a:xfrm>
          <a:prstGeom prst="ellipse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34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8016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your team actually delivers — programs, sessions, retreats, events.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8016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Camp:  </a:t>
            </a:r>
            <a:pPr indent="0" marL="0">
              <a:buNone/>
            </a:pPr>
            <a:r>
              <a:rPr lang="en-US" sz="1050" i="1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spiritually structured overnight retreat at Angelus Oaks with Islamic mentorship and worship programming.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3749040"/>
            <a:ext cx="594360" cy="594360"/>
          </a:xfrm>
          <a:prstGeom prst="ellipse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3749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340" dirty="0"/>
          </a:p>
        </p:txBody>
      </p:sp>
      <p:sp>
        <p:nvSpPr>
          <p:cNvPr id="17" name="Text 14"/>
          <p:cNvSpPr/>
          <p:nvPr/>
        </p:nvSpPr>
        <p:spPr>
          <a:xfrm>
            <a:off x="128016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28016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Countable, measurable results: Baseline · Metric · Target.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8016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Camp:  </a:t>
            </a:r>
            <a:pPr indent="0" marL="0">
              <a:buNone/>
            </a:pPr>
            <a:r>
              <a:rPr lang="en-US" sz="1050" i="1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40% salah consistency pre-camp. Target: 100 completions; 65% salah at 3-month follow-up.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Why This Matters &amp; Intro to TOC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levels (2 of 2)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change actually shows up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640080" cy="640080"/>
          </a:xfrm>
          <a:prstGeom prst="ellipse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2520" dirty="0"/>
          </a:p>
        </p:txBody>
      </p:sp>
      <p:sp>
        <p:nvSpPr>
          <p:cNvPr id="7" name="Text 4"/>
          <p:cNvSpPr/>
          <p:nvPr/>
        </p:nvSpPr>
        <p:spPr>
          <a:xfrm>
            <a:off x="132588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2588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changes in a person within 6–18 months — behavior, knowledge, capacity, or condition. The heart of impact.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2588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Camp:  </a:t>
            </a:r>
            <a:pPr indent="0" marL="0">
              <a:buNone/>
            </a:pPr>
            <a:r>
              <a:rPr lang="en-US" sz="1100" i="1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form lasting Islamic bonds and adopt trackable spiritual habits they continue independently after camp.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3246120"/>
            <a:ext cx="640080" cy="640080"/>
          </a:xfrm>
          <a:prstGeom prst="ellipse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2520" dirty="0"/>
          </a:p>
        </p:txBody>
      </p:sp>
      <p:sp>
        <p:nvSpPr>
          <p:cNvPr id="12" name="Text 9"/>
          <p:cNvSpPr/>
          <p:nvPr/>
        </p:nvSpPr>
        <p:spPr>
          <a:xfrm>
            <a:off x="132588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2588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Long-term community transformation your program contributes to over 3–5 years.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2588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Camp:  </a:t>
            </a:r>
            <a:pPr indent="0" marL="0">
              <a:buNone/>
            </a:pPr>
            <a:r>
              <a:rPr lang="en-US" sz="1100" i="1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generation of high schoolers who carry Islamic identity into adult Muslim leadership and community life.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Why This Matters &amp; Intro to TOC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your work lives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MASGLA's six Areas of Focus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09928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Islam to Muslims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8580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understanding + Tarbiya-driven methodology.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246120" y="15087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709928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8620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Leadership Development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342900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skills, and programs for relevant Islamic leadership.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989320" y="15087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709928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2940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Community Mobilization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17220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and mobilize toward shared community need.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502920" y="29718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172968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430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Social Justice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685800" y="3611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society toward justice and equity.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3246120" y="29718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172968"/>
            <a:ext cx="347472" cy="34747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8862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Islam for non-Muslims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3429000" y="3611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 Islam to the American public as a God-centered way of life.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5989320" y="29718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3172968"/>
            <a:ext cx="347472" cy="34747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6294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Operate with Excellence</a:t>
            </a:r>
            <a:endParaRPr lang="en-US" sz="1350" dirty="0"/>
          </a:p>
        </p:txBody>
      </p:sp>
      <p:sp>
        <p:nvSpPr>
          <p:cNvPr id="28" name="Text 19"/>
          <p:cNvSpPr/>
          <p:nvPr/>
        </p:nvSpPr>
        <p:spPr>
          <a:xfrm>
            <a:off x="6172200" y="3611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for an exceptional experience for everyone engaged.</a:t>
            </a:r>
            <a:endParaRPr lang="en-US" sz="1050" dirty="0"/>
          </a:p>
        </p:txBody>
      </p:sp>
      <p:sp>
        <p:nvSpPr>
          <p:cNvPr id="29" name="Text 20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F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program's TOC connects to one of these. Your outcomes should match its outcome category.</a:t>
            </a:r>
            <a:endParaRPr lang="en-US" sz="1250" dirty="0"/>
          </a:p>
        </p:txBody>
      </p:sp>
      <p:sp>
        <p:nvSpPr>
          <p:cNvPr id="30" name="Shape 21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Why This Matters &amp; Intro to TOC</a:t>
            </a:r>
            <a:endParaRPr lang="en-US" sz="850" dirty="0"/>
          </a:p>
        </p:txBody>
      </p:sp>
      <p:sp>
        <p:nvSpPr>
          <p:cNvPr id="33" name="Text 24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categories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each area is meant to produce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Islam to Muslims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19019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 ·  BEHAVIORAL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2423160"/>
            <a:ext cx="3840480" cy="0"/>
          </a:xfrm>
          <a:prstGeom prst="line">
            <a:avLst/>
          </a:prstGeom>
          <a:noFill/>
          <a:ln w="6350">
            <a:solidFill>
              <a:srgbClr val="DCE6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Leadership Development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8163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 ·  INFLUENCE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3337560"/>
            <a:ext cx="3840480" cy="0"/>
          </a:xfrm>
          <a:prstGeom prst="line">
            <a:avLst/>
          </a:prstGeom>
          <a:noFill/>
          <a:ln w="6350">
            <a:solidFill>
              <a:srgbClr val="DCE6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383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Community Mobilization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37307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 ·  SCALE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4251960"/>
            <a:ext cx="3840480" cy="0"/>
          </a:xfrm>
          <a:prstGeom prst="line">
            <a:avLst/>
          </a:prstGeom>
          <a:noFill/>
          <a:ln w="6350">
            <a:solidFill>
              <a:srgbClr val="DCE6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1772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Social Justice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17720" y="19019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 ·  STRATEGIC ALIGNMENT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17720" y="2423160"/>
            <a:ext cx="3840480" cy="0"/>
          </a:xfrm>
          <a:prstGeom prst="line">
            <a:avLst/>
          </a:prstGeom>
          <a:noFill/>
          <a:ln w="6350">
            <a:solidFill>
              <a:srgbClr val="DCE6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1772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Islam for non-Muslims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617720" y="28163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IMAGE  ·  ACCEPTING ISLAM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17720" y="3337560"/>
            <a:ext cx="3840480" cy="0"/>
          </a:xfrm>
          <a:prstGeom prst="line">
            <a:avLst/>
          </a:prstGeom>
          <a:noFill/>
          <a:ln w="6350">
            <a:solidFill>
              <a:srgbClr val="DCE6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17720" y="3383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Operate with Excellence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617720" y="37307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WELCOMING CULTURE  ·  STRATEGIC ALIGNMENT  ·  FINANCIAL SUSTAINABILITY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17720" y="4251960"/>
            <a:ext cx="3840480" cy="0"/>
          </a:xfrm>
          <a:prstGeom prst="line">
            <a:avLst/>
          </a:prstGeom>
          <a:noFill/>
          <a:ln w="6350">
            <a:solidFill>
              <a:srgbClr val="DCE6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F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outcomes in Session 3 should ladder up to one of these categories.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Why This Matters &amp; Intro to TOC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Underneath every program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MASGLA's four Tarbiyah outcomes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16152" y="1709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Lifelong Learner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731520" y="22219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to seek beneficial knowledge of Islam and the world, and treats learning itself as worship.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754880" y="15087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73736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68112" y="1709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Bearer of the Message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4983480" y="22219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and clearly conveys Islam through word, character, and consistent practice.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02920" y="3090672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1927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16152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of Change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731520" y="380390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 what they know — improving self, family, and community, and standing for justice.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754880" y="3090672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319272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68112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Exemplary Citizen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4983480" y="380390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Principled, productive, and engaged in broader society — modeling Islam in work, civic life, and neighborhood.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Why This Matters &amp; Intro to TOC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  ·  15 minutes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Place your program in the framework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5087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F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Take 15 minutes. Fill the worksheet for your own assigned program — no editing, first pass only.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20116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2148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580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 name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as it appears on the MASGLA Program Dashboard.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20116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9000" y="2148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42900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Area of Focus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2900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six areas is your primary?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89320" y="20116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72200" y="2148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7220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Outcome category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17220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/ BEHAVIORAL / CAPACITY / INFLUENCE / etc.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32918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85800" y="3429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8580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Tarbiyah outcome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580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Lifelong Learner / Bearer / Agent / Exemplary Citizen — circle one or more.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46120" y="32918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429000" y="3429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42900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Five-level map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42900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First-pass: INPUTS, ACTIVITIES, OUTPUTS, OUTCOMES, IMPACT.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989320" y="32918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172200" y="3429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17220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unknown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17220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single thing you're most unsure about going into Module 2.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Why This Matters &amp; Intro to TOC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confusions to expect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Catch these in your first pass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5448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737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Inputs are PEOPLE — not resources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2402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“Inputs: $50K budget, 3 staff, the Angelus Oaks campsite.”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28803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“Inputs: 120 high school juniors and seniors, spiritually active, vetted by interview.”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35661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Budget and staff are resources. Inputs is your audience — the people your program is designed to change.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55448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83480" y="1737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Outputs are COUNTS — Outcomes are CHANGES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83480" y="22402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“Outcome: 100 youth attended camp.”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83480" y="28803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“Outcome: youth report consistent salah and lasting Islamic friendships at 3-month follow-up.”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83480" y="35661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Attendance is countable, so it's an Output. What changed inside the participant — that's the Outcome.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Why This Matters &amp; Intro to TOC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 ·  5 minutes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questions to sit with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645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005840" y="16916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a donor stopped me in the hallway tomorrow, what story would I actually tell about my program — and could I prove it?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25146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005840" y="25603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Which of MASGLA's four Tarbiyah outcomes is my program most directly trying to shape — and how would I know if it happened?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33832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1005840" y="34290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the single biggest gap between what I currently track and what my program is actually trying to change?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Why This Matters &amp; Intro to TOC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to carry into Module 2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554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Activity is not impact.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1005840" y="1874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Dashboard tells us what we ran. A TOC tells us what changed.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3172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2240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levels, one chain.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1005840" y="2560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→ ACTIVITIES → OUTPUTS → OUTCOMES → IMPACT. Every arrow is a causal claim.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1752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926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MASGLA's frame is the floor.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1005840" y="3246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TOC lives inside an Area of Focus, targets an outcome category, and serves a Tarbiyah outcome.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03320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3611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hard work is naming change.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1005840" y="39319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easy to count. Outcomes are where the proof of impact lives — and where most programs stop too early.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Why This Matters &amp; Intro to TOC</a:t>
            </a:r>
            <a:endParaRPr lang="en-US" sz="850" dirty="0"/>
          </a:p>
        </p:txBody>
      </p:sp>
      <p:sp>
        <p:nvSpPr>
          <p:cNvPr id="20" name="Text 13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3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258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  ·  Module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69164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Q-Zero — The Hypothesis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32461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sharpen your program into a clean, testable If–Then statement — the philosophy behind what you do and the change it creates.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477774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 &amp; COMPANY  ·  SCALING SOCIAL IMPACT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— Why This Matters &amp; Intro to TOC</dc:title>
  <dc:subject>PptxGenJS Presentation</dc:subject>
  <dc:creator>MASGLA · Amal &amp; Company</dc:creator>
  <cp:lastModifiedBy>MASGLA · Amal &amp; Company</cp:lastModifiedBy>
  <cp:revision>1</cp:revision>
  <dcterms:created xsi:type="dcterms:W3CDTF">2026-06-29T09:35:39Z</dcterms:created>
  <dcterms:modified xsi:type="dcterms:W3CDTF">2026-06-29T09:35:39Z</dcterms:modified>
</cp:coreProperties>
</file>
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Briefly orient. Today's session ends with a polished If–Then sentence for each participant's own program. That sentence becomes the spine of every later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on the formula. No event names. No attendance. Just philosophy → change. Read both halves out loud and ask participants to repeat the structure: IF philosophy, THEN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laws are the gates every Q-Zero must pass. The next three slides walk each law with concrete MASGLA before-and-after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each row. Ask: 'Could YMCA or any other youth org write that same IF?' If yes, it's not your IF. Drive home: the IF names the design choice — what's distinctive about your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common error. Attendance, sessions delivered, hours of programming — all are outputs dressed as outcomes. The Behavioral THEN is about what a participant carries into their life after the program 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mission tie is what makes our TOCs distinctly MASGLA. Without it, our programs read as generic youth development or generic community work. With it, the change we produce is unmistakably Islamic.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writing the Q-Zero, every participant rates their own. Most first-pass Q-Zeros are Yellow. That's fine. The goal of the worksheet is to move from Yellow to Green by Module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before to after. Ask the room: what made the move? Make them point to which of the Three Laws is doing the work. For Youth Camp, it's a combination — but usually one law dominates.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before to after. Ask the room: what made the move? Make them point to which of the Three Laws is doing the work. For BJJ Classes, it's a combination — but usually one law dominates.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before to after. Ask the room: what made the move? Make them point to which of the Three Laws is doing the work. For MAS Breakroom, it's a combination — but usually one law dominates.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you walk the room during the worksheet, watch for these four. Most participants will hit two of them in their first draft. Use the second draft to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25 minutes total. First 10 minutes: silent drafting. Next 10 minutes: pair-share — partners apply the Three Laws to each other's drafts. Final 5 minutes: revise to Version 2. Then we share-back.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Silent reflection. If yes to question 1, your THEN needs Law 3 work. If yes to question 2, your THEN is still an output. If no to question 3, your IF is still logistics.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Read each takeaway. Pause on the last — the mission fingerprint is what separates MASGLA's TOCs from anyone else's.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0" y="0"/>
            <a:ext cx="4572000" cy="2194560"/>
          </a:xfrm>
          <a:prstGeom prst="rect">
            <a:avLst/>
          </a:prstGeom>
        </p:spPr>
      </p:pic>
      <p:pic>
        <p:nvPicPr>
          <p:cNvPr id="3" name="Image 1" descr="preencoded.png">    </p:cNvPr>
          <p:cNvPicPr>
            <a:picLocks noChangeAspect="1"/>
          </p:cNvPicPr>
          <p:nvPr/>
        </p:nvPicPr>
        <p:blipFill>
          <a:blip r:embed="rId2"/>
          <a:stretch>
            <a:fillRect/>
          </a:stretch>
        </p:blipFill>
        <p:spPr>
          <a:xfrm>
            <a:off x="502920" y="411480"/>
            <a:ext cx="502920" cy="502920"/>
          </a:xfrm>
          <a:prstGeom prst="rect">
            <a:avLst/>
          </a:prstGeom>
        </p:spPr>
      </p:pic>
      <p:sp>
        <p:nvSpPr>
          <p:cNvPr id="4" name="Text 0"/>
          <p:cNvSpPr/>
          <p:nvPr/>
        </p:nvSpPr>
        <p:spPr>
          <a:xfrm>
            <a:off x="1097280" y="393192"/>
            <a:ext cx="1463040" cy="246888"/>
          </a:xfrm>
          <a:prstGeom prst="rect">
            <a:avLst/>
          </a:prstGeom>
          <a:noFill/>
          <a:ln/>
        </p:spPr>
        <p:txBody>
          <a:bodyPr wrap="square" lIns="0" tIns="0" rIns="0" bIns="0" rtlCol="0" anchor="b"/>
          <a:lstStyle/>
          <a:p>
            <a:pPr indent="0" marL="0">
              <a:buNone/>
            </a:pPr>
            <a:r>
              <a:rPr lang="en-US" sz="1300" b="1" dirty="0">
                <a:solidFill>
                  <a:srgbClr val="15314F"/>
                </a:solidFill>
                <a:latin typeface="Calibri" pitchFamily="34" charset="0"/>
                <a:ea typeface="Calibri" pitchFamily="34" charset="-122"/>
                <a:cs typeface="Calibri" pitchFamily="34" charset="-120"/>
              </a:rPr>
              <a:t>AMAL &amp;</a:t>
            </a:r>
            <a:endParaRPr lang="en-US" sz="1300" dirty="0"/>
          </a:p>
        </p:txBody>
      </p:sp>
      <p:sp>
        <p:nvSpPr>
          <p:cNvPr id="5" name="Text 1"/>
          <p:cNvSpPr/>
          <p:nvPr/>
        </p:nvSpPr>
        <p:spPr>
          <a:xfrm>
            <a:off x="1097280" y="603504"/>
            <a:ext cx="1463040" cy="246888"/>
          </a:xfrm>
          <a:prstGeom prst="rect">
            <a:avLst/>
          </a:prstGeom>
          <a:noFill/>
          <a:ln/>
        </p:spPr>
        <p:txBody>
          <a:bodyPr wrap="square" lIns="0" tIns="0" rIns="0" bIns="0" rtlCol="0" anchor="t"/>
          <a:lstStyle/>
          <a:p>
            <a:pPr indent="0" marL="0">
              <a:buNone/>
            </a:pPr>
            <a:r>
              <a:rPr lang="en-US" sz="1300" b="1" dirty="0">
                <a:solidFill>
                  <a:srgbClr val="15314F"/>
                </a:solidFill>
                <a:latin typeface="Calibri" pitchFamily="34" charset="0"/>
                <a:ea typeface="Calibri" pitchFamily="34" charset="-122"/>
                <a:cs typeface="Calibri" pitchFamily="34" charset="-120"/>
              </a:rPr>
              <a:t>COMPANY</a:t>
            </a:r>
            <a:endParaRPr lang="en-US" sz="1300" dirty="0"/>
          </a:p>
        </p:txBody>
      </p:sp>
      <p:sp>
        <p:nvSpPr>
          <p:cNvPr id="6" name="Text 2"/>
          <p:cNvSpPr/>
          <p:nvPr/>
        </p:nvSpPr>
        <p:spPr>
          <a:xfrm>
            <a:off x="1097280" y="813816"/>
            <a:ext cx="1645920" cy="164592"/>
          </a:xfrm>
          <a:prstGeom prst="rect">
            <a:avLst/>
          </a:prstGeom>
          <a:noFill/>
          <a:ln/>
        </p:spPr>
        <p:txBody>
          <a:bodyPr wrap="square" lIns="0" tIns="0" rIns="0" bIns="0" rtlCol="0" anchor="t"/>
          <a:lstStyle/>
          <a:p>
            <a:pPr indent="0" marL="0">
              <a:buNone/>
            </a:pPr>
            <a:r>
              <a:rPr lang="en-US" sz="650" spc="140" kern="0" dirty="0">
                <a:solidFill>
                  <a:srgbClr val="15314F"/>
                </a:solidFill>
                <a:latin typeface="Calibri" pitchFamily="34" charset="0"/>
                <a:ea typeface="Calibri" pitchFamily="34" charset="-122"/>
                <a:cs typeface="Calibri" pitchFamily="34" charset="-120"/>
              </a:rPr>
              <a:t>SCALING SOCIAL IMPACT</a:t>
            </a:r>
            <a:endParaRPr lang="en-US" sz="650" dirty="0"/>
          </a:p>
        </p:txBody>
      </p:sp>
      <p:sp>
        <p:nvSpPr>
          <p:cNvPr id="7" name="Text 3"/>
          <p:cNvSpPr/>
          <p:nvPr/>
        </p:nvSpPr>
        <p:spPr>
          <a:xfrm>
            <a:off x="502920" y="1783080"/>
            <a:ext cx="3657600" cy="292608"/>
          </a:xfrm>
          <a:prstGeom prst="rect">
            <a:avLst/>
          </a:prstGeom>
          <a:noFill/>
          <a:ln/>
        </p:spPr>
        <p:txBody>
          <a:bodyPr wrap="square" lIns="0" tIns="0" rIns="0" bIns="0" rtlCol="0" anchor="ctr"/>
          <a:lstStyle/>
          <a:p>
            <a:pPr indent="0" marL="0">
              <a:buNone/>
            </a:pPr>
            <a:r>
              <a:rPr lang="en-US" sz="1200" b="1" spc="500" kern="0" dirty="0">
                <a:solidFill>
                  <a:srgbClr val="5BA9D8"/>
                </a:solidFill>
                <a:latin typeface="Calibri" pitchFamily="34" charset="0"/>
                <a:ea typeface="Calibri" pitchFamily="34" charset="-122"/>
                <a:cs typeface="Calibri" pitchFamily="34" charset="-120"/>
              </a:rPr>
              <a:t>MODULE 02</a:t>
            </a:r>
            <a:endParaRPr lang="en-US" sz="1200" dirty="0"/>
          </a:p>
        </p:txBody>
      </p:sp>
      <p:sp>
        <p:nvSpPr>
          <p:cNvPr id="8" name="Text 4"/>
          <p:cNvSpPr/>
          <p:nvPr/>
        </p:nvSpPr>
        <p:spPr>
          <a:xfrm>
            <a:off x="502920" y="2103120"/>
            <a:ext cx="8229600" cy="1554480"/>
          </a:xfrm>
          <a:prstGeom prst="rect">
            <a:avLst/>
          </a:prstGeom>
          <a:noFill/>
          <a:ln/>
        </p:spPr>
        <p:txBody>
          <a:bodyPr wrap="square" lIns="0" tIns="0" rIns="0" bIns="0" rtlCol="0" anchor="ctr"/>
          <a:lstStyle/>
          <a:p>
            <a:pPr indent="0" marL="0">
              <a:buNone/>
            </a:pPr>
            <a:r>
              <a:rPr lang="en-US" sz="5000" dirty="0">
                <a:solidFill>
                  <a:srgbClr val="15314F"/>
                </a:solidFill>
                <a:latin typeface="Calibri Light" pitchFamily="34" charset="0"/>
                <a:ea typeface="Calibri Light" pitchFamily="34" charset="-122"/>
                <a:cs typeface="Calibri Light" pitchFamily="34" charset="-120"/>
              </a:rPr>
              <a:t>Q-Zero —</a:t>
            </a:r>
            <a:endParaRPr lang="en-US" sz="5000" dirty="0"/>
          </a:p>
          <a:p>
            <a:pPr indent="0" marL="0">
              <a:buNone/>
            </a:pPr>
            <a:r>
              <a:rPr lang="en-US" sz="5000" dirty="0">
                <a:solidFill>
                  <a:srgbClr val="15314F"/>
                </a:solidFill>
                <a:latin typeface="Calibri Light" pitchFamily="34" charset="0"/>
                <a:ea typeface="Calibri Light" pitchFamily="34" charset="-122"/>
                <a:cs typeface="Calibri Light" pitchFamily="34" charset="-120"/>
              </a:rPr>
              <a:t>The Hypothesis</a:t>
            </a:r>
            <a:endParaRPr lang="en-US" sz="5000" dirty="0"/>
          </a:p>
        </p:txBody>
      </p:sp>
      <p:sp>
        <p:nvSpPr>
          <p:cNvPr id="9" name="Text 5"/>
          <p:cNvSpPr/>
          <p:nvPr/>
        </p:nvSpPr>
        <p:spPr>
          <a:xfrm>
            <a:off x="502920" y="3703320"/>
            <a:ext cx="7772400" cy="457200"/>
          </a:xfrm>
          <a:prstGeom prst="rect">
            <a:avLst/>
          </a:prstGeom>
          <a:noFill/>
          <a:ln/>
        </p:spPr>
        <p:txBody>
          <a:bodyPr wrap="square" lIns="0" tIns="0" rIns="0" bIns="0" rtlCol="0" anchor="ctr"/>
          <a:lstStyle/>
          <a:p>
            <a:pPr indent="0" marL="0">
              <a:buNone/>
            </a:pPr>
            <a:r>
              <a:rPr lang="en-US" sz="1400" dirty="0">
                <a:solidFill>
                  <a:srgbClr val="1F4570"/>
                </a:solidFill>
                <a:latin typeface="Calibri" pitchFamily="34" charset="0"/>
                <a:ea typeface="Calibri" pitchFamily="34" charset="-122"/>
                <a:cs typeface="Calibri" pitchFamily="34" charset="-120"/>
              </a:rPr>
              <a:t>Sharpen your program into a clean, testable If–Then statement.</a:t>
            </a:r>
            <a:endParaRPr lang="en-US" sz="1400" dirty="0"/>
          </a:p>
        </p:txBody>
      </p:sp>
      <p:sp>
        <p:nvSpPr>
          <p:cNvPr id="10" name="Shape 6"/>
          <p:cNvSpPr/>
          <p:nvPr/>
        </p:nvSpPr>
        <p:spPr>
          <a:xfrm>
            <a:off x="502920" y="4640580"/>
            <a:ext cx="8138160" cy="0"/>
          </a:xfrm>
          <a:prstGeom prst="line">
            <a:avLst/>
          </a:prstGeom>
          <a:noFill/>
          <a:ln w="9525">
            <a:solidFill>
              <a:srgbClr val="DCE6EE"/>
            </a:solidFill>
            <a:prstDash val="solid"/>
          </a:ln>
        </p:spPr>
      </p:sp>
      <p:sp>
        <p:nvSpPr>
          <p:cNvPr id="11" name="Text 7"/>
          <p:cNvSpPr/>
          <p:nvPr/>
        </p:nvSpPr>
        <p:spPr>
          <a:xfrm>
            <a:off x="502920" y="4777740"/>
            <a:ext cx="3657600" cy="228600"/>
          </a:xfrm>
          <a:prstGeom prst="rect">
            <a:avLst/>
          </a:prstGeom>
          <a:noFill/>
          <a:ln/>
        </p:spPr>
        <p:txBody>
          <a:bodyPr wrap="square" lIns="0" tIns="0" rIns="0" bIns="0" rtlCol="0" anchor="ctr"/>
          <a:lstStyle/>
          <a:p>
            <a:pPr indent="0" marL="0">
              <a:buNone/>
            </a:pPr>
            <a:r>
              <a:rPr lang="en-US" sz="950" dirty="0">
                <a:solidFill>
                  <a:srgbClr val="5A6F82"/>
                </a:solidFill>
                <a:latin typeface="Calibri" pitchFamily="34" charset="0"/>
                <a:ea typeface="Calibri" pitchFamily="34" charset="-122"/>
                <a:cs typeface="Calibri" pitchFamily="34" charset="-120"/>
              </a:rPr>
              <a:t>www.amalandcompany.com</a:t>
            </a:r>
            <a:endParaRPr lang="en-US" sz="950" dirty="0"/>
          </a:p>
        </p:txBody>
      </p:sp>
      <p:sp>
        <p:nvSpPr>
          <p:cNvPr id="12" name="Text 8"/>
          <p:cNvSpPr/>
          <p:nvPr/>
        </p:nvSpPr>
        <p:spPr>
          <a:xfrm>
            <a:off x="4983480" y="4777740"/>
            <a:ext cx="3657600" cy="228600"/>
          </a:xfrm>
          <a:prstGeom prst="rect">
            <a:avLst/>
          </a:prstGeom>
          <a:noFill/>
          <a:ln/>
        </p:spPr>
        <p:txBody>
          <a:bodyPr wrap="square" lIns="0" tIns="0" rIns="0" bIns="0" rtlCol="0" anchor="ctr"/>
          <a:lstStyle/>
          <a:p>
            <a:pPr algn="r" indent="0" marL="0">
              <a:buNone/>
            </a:pPr>
            <a:r>
              <a:rPr lang="en-US" sz="950" dirty="0">
                <a:solidFill>
                  <a:srgbClr val="5A6F82"/>
                </a:solidFill>
                <a:latin typeface="Calibri" pitchFamily="34" charset="0"/>
                <a:ea typeface="Calibri" pitchFamily="34" charset="-122"/>
                <a:cs typeface="Calibri" pitchFamily="34" charset="-120"/>
              </a:rPr>
              <a:t>Facilitated by Amal &amp; Company</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589520" y="-45720"/>
            <a:ext cx="1554480" cy="777240"/>
          </a:xfrm>
          <a:prstGeom prst="rect">
            <a:avLst/>
          </a:prstGeom>
        </p:spPr>
      </p:pic>
      <p:sp>
        <p:nvSpPr>
          <p:cNvPr id="3" name="Text 0"/>
          <p:cNvSpPr/>
          <p:nvPr/>
        </p:nvSpPr>
        <p:spPr>
          <a:xfrm>
            <a:off x="502920" y="384048"/>
            <a:ext cx="5943600" cy="274320"/>
          </a:xfrm>
          <a:prstGeom prst="rect">
            <a:avLst/>
          </a:prstGeom>
          <a:noFill/>
          <a:ln/>
        </p:spPr>
        <p:txBody>
          <a:bodyPr wrap="square" lIns="0" tIns="0" rIns="0" bIns="0" rtlCol="0" anchor="ctr"/>
          <a:lstStyle/>
          <a:p>
            <a:pPr indent="0" marL="0">
              <a:buNone/>
            </a:pPr>
            <a:r>
              <a:rPr lang="en-US" sz="1050" dirty="0">
                <a:solidFill>
                  <a:srgbClr val="5A6F82"/>
                </a:solidFill>
                <a:latin typeface="Calibri" pitchFamily="34" charset="0"/>
                <a:ea typeface="Calibri" pitchFamily="34" charset="-122"/>
                <a:cs typeface="Calibri" pitchFamily="34" charset="-120"/>
              </a:rPr>
              <a:t>Where we are</a:t>
            </a:r>
            <a:endParaRPr lang="en-US" sz="1050" dirty="0"/>
          </a:p>
        </p:txBody>
      </p:sp>
      <p:sp>
        <p:nvSpPr>
          <p:cNvPr id="4" name="Text 1"/>
          <p:cNvSpPr/>
          <p:nvPr/>
        </p:nvSpPr>
        <p:spPr>
          <a:xfrm>
            <a:off x="502920" y="640080"/>
            <a:ext cx="7315200" cy="868680"/>
          </a:xfrm>
          <a:prstGeom prst="rect">
            <a:avLst/>
          </a:prstGeom>
          <a:noFill/>
          <a:ln/>
        </p:spPr>
        <p:txBody>
          <a:bodyPr wrap="square" lIns="0" tIns="0" rIns="0" bIns="0" rtlCol="0" anchor="ctr"/>
          <a:lstStyle/>
          <a:p>
            <a:pPr indent="0" marL="0">
              <a:buNone/>
            </a:pPr>
            <a:r>
              <a:rPr lang="en-US" sz="3000" dirty="0">
                <a:solidFill>
                  <a:srgbClr val="15314F"/>
                </a:solidFill>
                <a:latin typeface="Calibri Light" pitchFamily="34" charset="0"/>
                <a:ea typeface="Calibri Light" pitchFamily="34" charset="-122"/>
                <a:cs typeface="Calibri Light" pitchFamily="34" charset="-120"/>
              </a:rPr>
              <a:t>Module 2 of 5  ·  Building the spine of your TOC</a:t>
            </a:r>
            <a:endParaRPr lang="en-US" sz="3000" dirty="0"/>
          </a:p>
        </p:txBody>
      </p:sp>
      <p:sp>
        <p:nvSpPr>
          <p:cNvPr id="5" name="Text 2"/>
          <p:cNvSpPr/>
          <p:nvPr/>
        </p:nvSpPr>
        <p:spPr>
          <a:xfrm>
            <a:off x="502920" y="1600200"/>
            <a:ext cx="8138160" cy="822960"/>
          </a:xfrm>
          <a:prstGeom prst="rect">
            <a:avLst/>
          </a:prstGeom>
          <a:noFill/>
          <a:ln/>
        </p:spPr>
        <p:txBody>
          <a:bodyPr wrap="square" lIns="0" tIns="0" rIns="0" bIns="0" rtlCol="0" anchor="ctr"/>
          <a:lstStyle/>
          <a:p>
            <a:pPr indent="0" marL="0">
              <a:buNone/>
            </a:pPr>
            <a:r>
              <a:rPr lang="en-US" sz="1400" dirty="0">
                <a:solidFill>
                  <a:srgbClr val="15314F"/>
                </a:solidFill>
                <a:latin typeface="Calibri" pitchFamily="34" charset="0"/>
                <a:ea typeface="Calibri" pitchFamily="34" charset="-122"/>
                <a:cs typeface="Calibri" pitchFamily="34" charset="-120"/>
              </a:rPr>
              <a:t>In Module 1 we built shared language. In this session we sharpen the single sentence that defines what your program actually does — and the change it produces in people.</a:t>
            </a:r>
            <a:endParaRPr lang="en-US" sz="1400" dirty="0"/>
          </a:p>
        </p:txBody>
      </p:sp>
      <p:sp>
        <p:nvSpPr>
          <p:cNvPr id="6" name="Shape 3"/>
          <p:cNvSpPr/>
          <p:nvPr/>
        </p:nvSpPr>
        <p:spPr>
          <a:xfrm>
            <a:off x="470916" y="2788920"/>
            <a:ext cx="1508760" cy="1417320"/>
          </a:xfrm>
          <a:prstGeom prst="roundRect">
            <a:avLst>
              <a:gd name="adj" fmla="val 6452"/>
            </a:avLst>
          </a:prstGeom>
          <a:solidFill>
            <a:srgbClr val="E5F2FA"/>
          </a:solidFill>
          <a:ln w="6350">
            <a:solidFill>
              <a:srgbClr val="DCE6EE"/>
            </a:solidFill>
            <a:prstDash val="solid"/>
          </a:ln>
        </p:spPr>
      </p:sp>
      <p:sp>
        <p:nvSpPr>
          <p:cNvPr id="7" name="Text 4"/>
          <p:cNvSpPr/>
          <p:nvPr/>
        </p:nvSpPr>
        <p:spPr>
          <a:xfrm>
            <a:off x="470916" y="2971800"/>
            <a:ext cx="1508760" cy="502920"/>
          </a:xfrm>
          <a:prstGeom prst="rect">
            <a:avLst/>
          </a:prstGeom>
          <a:noFill/>
          <a:ln/>
        </p:spPr>
        <p:txBody>
          <a:bodyPr wrap="square" lIns="0" tIns="0" rIns="0" bIns="0" rtlCol="0" anchor="ctr"/>
          <a:lstStyle/>
          <a:p>
            <a:pPr algn="ctr" indent="0" marL="0">
              <a:buNone/>
            </a:pPr>
            <a:r>
              <a:rPr lang="en-US" sz="3000" b="1" dirty="0">
                <a:solidFill>
                  <a:srgbClr val="5BA9D8"/>
                </a:solidFill>
                <a:latin typeface="Calibri Light" pitchFamily="34" charset="0"/>
                <a:ea typeface="Calibri Light" pitchFamily="34" charset="-122"/>
                <a:cs typeface="Calibri Light" pitchFamily="34" charset="-120"/>
              </a:rPr>
              <a:t>1</a:t>
            </a:r>
            <a:endParaRPr lang="en-US" sz="3000" dirty="0"/>
          </a:p>
        </p:txBody>
      </p:sp>
      <p:sp>
        <p:nvSpPr>
          <p:cNvPr id="8" name="Text 5"/>
          <p:cNvSpPr/>
          <p:nvPr/>
        </p:nvSpPr>
        <p:spPr>
          <a:xfrm>
            <a:off x="562356" y="3566160"/>
            <a:ext cx="1325880" cy="548640"/>
          </a:xfrm>
          <a:prstGeom prst="rect">
            <a:avLst/>
          </a:prstGeom>
          <a:noFill/>
          <a:ln/>
        </p:spPr>
        <p:txBody>
          <a:bodyPr wrap="square" lIns="0" tIns="0" rIns="0" bIns="0" rtlCol="0" anchor="t"/>
          <a:lstStyle/>
          <a:p>
            <a:pPr algn="ctr" indent="0" marL="0">
              <a:buNone/>
            </a:pPr>
            <a:r>
              <a:rPr lang="en-US" sz="1050" dirty="0">
                <a:solidFill>
                  <a:srgbClr val="15314F"/>
                </a:solidFill>
                <a:latin typeface="Calibri" pitchFamily="34" charset="0"/>
                <a:ea typeface="Calibri" pitchFamily="34" charset="-122"/>
                <a:cs typeface="Calibri" pitchFamily="34" charset="-120"/>
              </a:rPr>
              <a:t>Why This Matters</a:t>
            </a:r>
            <a:endParaRPr lang="en-US" sz="1050" dirty="0"/>
          </a:p>
        </p:txBody>
      </p:sp>
      <p:sp>
        <p:nvSpPr>
          <p:cNvPr id="9" name="Shape 6"/>
          <p:cNvSpPr/>
          <p:nvPr/>
        </p:nvSpPr>
        <p:spPr>
          <a:xfrm>
            <a:off x="2144268" y="2788920"/>
            <a:ext cx="1508760" cy="1417320"/>
          </a:xfrm>
          <a:prstGeom prst="roundRect">
            <a:avLst>
              <a:gd name="adj" fmla="val 6452"/>
            </a:avLst>
          </a:prstGeom>
          <a:solidFill>
            <a:srgbClr val="15314F"/>
          </a:solidFill>
          <a:ln w="6350">
            <a:solidFill>
              <a:srgbClr val="15314F"/>
            </a:solidFill>
            <a:prstDash val="solid"/>
          </a:ln>
        </p:spPr>
      </p:sp>
      <p:sp>
        <p:nvSpPr>
          <p:cNvPr id="10" name="Text 7"/>
          <p:cNvSpPr/>
          <p:nvPr/>
        </p:nvSpPr>
        <p:spPr>
          <a:xfrm>
            <a:off x="2144268" y="2971800"/>
            <a:ext cx="1508760" cy="502920"/>
          </a:xfrm>
          <a:prstGeom prst="rect">
            <a:avLst/>
          </a:prstGeom>
          <a:noFill/>
          <a:ln/>
        </p:spPr>
        <p:txBody>
          <a:bodyPr wrap="square" lIns="0" tIns="0" rIns="0" bIns="0" rtlCol="0" anchor="ctr"/>
          <a:lstStyle/>
          <a:p>
            <a:pPr algn="ctr" indent="0" marL="0">
              <a:buNone/>
            </a:pPr>
            <a:r>
              <a:rPr lang="en-US" sz="3000" b="1" dirty="0">
                <a:solidFill>
                  <a:srgbClr val="5BA9D8"/>
                </a:solidFill>
                <a:latin typeface="Calibri Light" pitchFamily="34" charset="0"/>
                <a:ea typeface="Calibri Light" pitchFamily="34" charset="-122"/>
                <a:cs typeface="Calibri Light" pitchFamily="34" charset="-120"/>
              </a:rPr>
              <a:t>2</a:t>
            </a:r>
            <a:endParaRPr lang="en-US" sz="3000" dirty="0"/>
          </a:p>
        </p:txBody>
      </p:sp>
      <p:sp>
        <p:nvSpPr>
          <p:cNvPr id="11" name="Text 8"/>
          <p:cNvSpPr/>
          <p:nvPr/>
        </p:nvSpPr>
        <p:spPr>
          <a:xfrm>
            <a:off x="2235708" y="3566160"/>
            <a:ext cx="1325880" cy="548640"/>
          </a:xfrm>
          <a:prstGeom prst="rect">
            <a:avLst/>
          </a:prstGeom>
          <a:noFill/>
          <a:ln/>
        </p:spPr>
        <p:txBody>
          <a:bodyPr wrap="square" lIns="0" tIns="0" rIns="0" bIns="0" rtlCol="0" anchor="t"/>
          <a:lstStyle/>
          <a:p>
            <a:pPr algn="ctr" indent="0" marL="0">
              <a:buNone/>
            </a:pPr>
            <a:r>
              <a:rPr lang="en-US" sz="1050" b="1" dirty="0">
                <a:solidFill>
                  <a:srgbClr val="FFFFFF"/>
                </a:solidFill>
                <a:latin typeface="Calibri" pitchFamily="34" charset="0"/>
                <a:ea typeface="Calibri" pitchFamily="34" charset="-122"/>
                <a:cs typeface="Calibri" pitchFamily="34" charset="-120"/>
              </a:rPr>
              <a:t>Q-Zero</a:t>
            </a:r>
            <a:endParaRPr lang="en-US" sz="1050" dirty="0"/>
          </a:p>
        </p:txBody>
      </p:sp>
      <p:sp>
        <p:nvSpPr>
          <p:cNvPr id="12" name="Shape 9"/>
          <p:cNvSpPr/>
          <p:nvPr/>
        </p:nvSpPr>
        <p:spPr>
          <a:xfrm>
            <a:off x="3817620" y="2788920"/>
            <a:ext cx="1508760" cy="1417320"/>
          </a:xfrm>
          <a:prstGeom prst="roundRect">
            <a:avLst>
              <a:gd name="adj" fmla="val 6452"/>
            </a:avLst>
          </a:prstGeom>
          <a:solidFill>
            <a:srgbClr val="F8FBFD"/>
          </a:solidFill>
          <a:ln w="6350">
            <a:solidFill>
              <a:srgbClr val="DCE6EE"/>
            </a:solidFill>
            <a:prstDash val="solid"/>
          </a:ln>
        </p:spPr>
      </p:sp>
      <p:sp>
        <p:nvSpPr>
          <p:cNvPr id="13" name="Text 10"/>
          <p:cNvSpPr/>
          <p:nvPr/>
        </p:nvSpPr>
        <p:spPr>
          <a:xfrm>
            <a:off x="3817620" y="2971800"/>
            <a:ext cx="1508760" cy="502920"/>
          </a:xfrm>
          <a:prstGeom prst="rect">
            <a:avLst/>
          </a:prstGeom>
          <a:noFill/>
          <a:ln/>
        </p:spPr>
        <p:txBody>
          <a:bodyPr wrap="square" lIns="0" tIns="0" rIns="0" bIns="0" rtlCol="0" anchor="ctr"/>
          <a:lstStyle/>
          <a:p>
            <a:pPr algn="ctr" indent="0" marL="0">
              <a:buNone/>
            </a:pPr>
            <a:r>
              <a:rPr lang="en-US" sz="3000" b="1" dirty="0">
                <a:solidFill>
                  <a:srgbClr val="1F4570"/>
                </a:solidFill>
                <a:latin typeface="Calibri Light" pitchFamily="34" charset="0"/>
                <a:ea typeface="Calibri Light" pitchFamily="34" charset="-122"/>
                <a:cs typeface="Calibri Light" pitchFamily="34" charset="-120"/>
              </a:rPr>
              <a:t>3</a:t>
            </a:r>
            <a:endParaRPr lang="en-US" sz="3000" dirty="0"/>
          </a:p>
        </p:txBody>
      </p:sp>
      <p:sp>
        <p:nvSpPr>
          <p:cNvPr id="14" name="Text 11"/>
          <p:cNvSpPr/>
          <p:nvPr/>
        </p:nvSpPr>
        <p:spPr>
          <a:xfrm>
            <a:off x="3909060" y="3566160"/>
            <a:ext cx="1325880" cy="548640"/>
          </a:xfrm>
          <a:prstGeom prst="rect">
            <a:avLst/>
          </a:prstGeom>
          <a:noFill/>
          <a:ln/>
        </p:spPr>
        <p:txBody>
          <a:bodyPr wrap="square" lIns="0" tIns="0" rIns="0" bIns="0" rtlCol="0" anchor="t"/>
          <a:lstStyle/>
          <a:p>
            <a:pPr algn="ctr" indent="0" marL="0">
              <a:buNone/>
            </a:pPr>
            <a:r>
              <a:rPr lang="en-US" sz="1050" dirty="0">
                <a:solidFill>
                  <a:srgbClr val="15314F"/>
                </a:solidFill>
                <a:latin typeface="Calibri" pitchFamily="34" charset="0"/>
                <a:ea typeface="Calibri" pitchFamily="34" charset="-122"/>
                <a:cs typeface="Calibri" pitchFamily="34" charset="-120"/>
              </a:rPr>
              <a:t>Impact Pathway</a:t>
            </a:r>
            <a:endParaRPr lang="en-US" sz="1050" dirty="0"/>
          </a:p>
        </p:txBody>
      </p:sp>
      <p:sp>
        <p:nvSpPr>
          <p:cNvPr id="15" name="Shape 12"/>
          <p:cNvSpPr/>
          <p:nvPr/>
        </p:nvSpPr>
        <p:spPr>
          <a:xfrm>
            <a:off x="5490972" y="2788920"/>
            <a:ext cx="1508760" cy="1417320"/>
          </a:xfrm>
          <a:prstGeom prst="roundRect">
            <a:avLst>
              <a:gd name="adj" fmla="val 6452"/>
            </a:avLst>
          </a:prstGeom>
          <a:solidFill>
            <a:srgbClr val="F8FBFD"/>
          </a:solidFill>
          <a:ln w="6350">
            <a:solidFill>
              <a:srgbClr val="DCE6EE"/>
            </a:solidFill>
            <a:prstDash val="solid"/>
          </a:ln>
        </p:spPr>
      </p:sp>
      <p:sp>
        <p:nvSpPr>
          <p:cNvPr id="16" name="Text 13"/>
          <p:cNvSpPr/>
          <p:nvPr/>
        </p:nvSpPr>
        <p:spPr>
          <a:xfrm>
            <a:off x="5490972" y="2971800"/>
            <a:ext cx="1508760" cy="502920"/>
          </a:xfrm>
          <a:prstGeom prst="rect">
            <a:avLst/>
          </a:prstGeom>
          <a:noFill/>
          <a:ln/>
        </p:spPr>
        <p:txBody>
          <a:bodyPr wrap="square" lIns="0" tIns="0" rIns="0" bIns="0" rtlCol="0" anchor="ctr"/>
          <a:lstStyle/>
          <a:p>
            <a:pPr algn="ctr" indent="0" marL="0">
              <a:buNone/>
            </a:pPr>
            <a:r>
              <a:rPr lang="en-US" sz="3000" b="1" dirty="0">
                <a:solidFill>
                  <a:srgbClr val="1F4570"/>
                </a:solidFill>
                <a:latin typeface="Calibri Light" pitchFamily="34" charset="0"/>
                <a:ea typeface="Calibri Light" pitchFamily="34" charset="-122"/>
                <a:cs typeface="Calibri Light" pitchFamily="34" charset="-120"/>
              </a:rPr>
              <a:t>4</a:t>
            </a:r>
            <a:endParaRPr lang="en-US" sz="3000" dirty="0"/>
          </a:p>
        </p:txBody>
      </p:sp>
      <p:sp>
        <p:nvSpPr>
          <p:cNvPr id="17" name="Text 14"/>
          <p:cNvSpPr/>
          <p:nvPr/>
        </p:nvSpPr>
        <p:spPr>
          <a:xfrm>
            <a:off x="5582412" y="3566160"/>
            <a:ext cx="1325880" cy="548640"/>
          </a:xfrm>
          <a:prstGeom prst="rect">
            <a:avLst/>
          </a:prstGeom>
          <a:noFill/>
          <a:ln/>
        </p:spPr>
        <p:txBody>
          <a:bodyPr wrap="square" lIns="0" tIns="0" rIns="0" bIns="0" rtlCol="0" anchor="t"/>
          <a:lstStyle/>
          <a:p>
            <a:pPr algn="ctr" indent="0" marL="0">
              <a:buNone/>
            </a:pPr>
            <a:r>
              <a:rPr lang="en-US" sz="1050" dirty="0">
                <a:solidFill>
                  <a:srgbClr val="15314F"/>
                </a:solidFill>
                <a:latin typeface="Calibri" pitchFamily="34" charset="0"/>
                <a:ea typeface="Calibri" pitchFamily="34" charset="-122"/>
                <a:cs typeface="Calibri" pitchFamily="34" charset="-120"/>
              </a:rPr>
              <a:t>Logframe</a:t>
            </a:r>
            <a:endParaRPr lang="en-US" sz="1050" dirty="0"/>
          </a:p>
        </p:txBody>
      </p:sp>
      <p:sp>
        <p:nvSpPr>
          <p:cNvPr id="18" name="Shape 15"/>
          <p:cNvSpPr/>
          <p:nvPr/>
        </p:nvSpPr>
        <p:spPr>
          <a:xfrm>
            <a:off x="7164324" y="2788920"/>
            <a:ext cx="1508760" cy="1417320"/>
          </a:xfrm>
          <a:prstGeom prst="roundRect">
            <a:avLst>
              <a:gd name="adj" fmla="val 6452"/>
            </a:avLst>
          </a:prstGeom>
          <a:solidFill>
            <a:srgbClr val="F8FBFD"/>
          </a:solidFill>
          <a:ln w="6350">
            <a:solidFill>
              <a:srgbClr val="DCE6EE"/>
            </a:solidFill>
            <a:prstDash val="solid"/>
          </a:ln>
        </p:spPr>
      </p:sp>
      <p:sp>
        <p:nvSpPr>
          <p:cNvPr id="19" name="Text 16"/>
          <p:cNvSpPr/>
          <p:nvPr/>
        </p:nvSpPr>
        <p:spPr>
          <a:xfrm>
            <a:off x="7164324" y="2971800"/>
            <a:ext cx="1508760" cy="502920"/>
          </a:xfrm>
          <a:prstGeom prst="rect">
            <a:avLst/>
          </a:prstGeom>
          <a:noFill/>
          <a:ln/>
        </p:spPr>
        <p:txBody>
          <a:bodyPr wrap="square" lIns="0" tIns="0" rIns="0" bIns="0" rtlCol="0" anchor="ctr"/>
          <a:lstStyle/>
          <a:p>
            <a:pPr algn="ctr" indent="0" marL="0">
              <a:buNone/>
            </a:pPr>
            <a:r>
              <a:rPr lang="en-US" sz="3000" b="1" dirty="0">
                <a:solidFill>
                  <a:srgbClr val="1F4570"/>
                </a:solidFill>
                <a:latin typeface="Calibri Light" pitchFamily="34" charset="0"/>
                <a:ea typeface="Calibri Light" pitchFamily="34" charset="-122"/>
                <a:cs typeface="Calibri Light" pitchFamily="34" charset="-120"/>
              </a:rPr>
              <a:t>5</a:t>
            </a:r>
            <a:endParaRPr lang="en-US" sz="3000" dirty="0"/>
          </a:p>
        </p:txBody>
      </p:sp>
      <p:sp>
        <p:nvSpPr>
          <p:cNvPr id="20" name="Text 17"/>
          <p:cNvSpPr/>
          <p:nvPr/>
        </p:nvSpPr>
        <p:spPr>
          <a:xfrm>
            <a:off x="7255764" y="3566160"/>
            <a:ext cx="1325880" cy="548640"/>
          </a:xfrm>
          <a:prstGeom prst="rect">
            <a:avLst/>
          </a:prstGeom>
          <a:noFill/>
          <a:ln/>
        </p:spPr>
        <p:txBody>
          <a:bodyPr wrap="square" lIns="0" tIns="0" rIns="0" bIns="0" rtlCol="0" anchor="t"/>
          <a:lstStyle/>
          <a:p>
            <a:pPr algn="ctr" indent="0" marL="0">
              <a:buNone/>
            </a:pPr>
            <a:r>
              <a:rPr lang="en-US" sz="1050" dirty="0">
                <a:solidFill>
                  <a:srgbClr val="15314F"/>
                </a:solidFill>
                <a:latin typeface="Calibri" pitchFamily="34" charset="0"/>
                <a:ea typeface="Calibri" pitchFamily="34" charset="-122"/>
                <a:cs typeface="Calibri" pitchFamily="34" charset="-120"/>
              </a:rPr>
              <a:t>Measuring &amp; Validating</a:t>
            </a:r>
            <a:endParaRPr lang="en-US" sz="1050" dirty="0"/>
          </a:p>
        </p:txBody>
      </p:sp>
      <p:sp>
        <p:nvSpPr>
          <p:cNvPr id="21" name="Shape 18"/>
          <p:cNvSpPr/>
          <p:nvPr/>
        </p:nvSpPr>
        <p:spPr>
          <a:xfrm>
            <a:off x="502920" y="4732020"/>
            <a:ext cx="8138160" cy="0"/>
          </a:xfrm>
          <a:prstGeom prst="line">
            <a:avLst/>
          </a:prstGeom>
          <a:noFill/>
          <a:ln w="9525">
            <a:solidFill>
              <a:srgbClr val="DCE6EE"/>
            </a:solidFill>
            <a:prstDash val="solid"/>
          </a:ln>
        </p:spPr>
      </p:sp>
      <p:sp>
        <p:nvSpPr>
          <p:cNvPr id="22" name="Text 19"/>
          <p:cNvSpPr/>
          <p:nvPr/>
        </p:nvSpPr>
        <p:spPr>
          <a:xfrm>
            <a:off x="502920" y="4823460"/>
            <a:ext cx="3657600" cy="228600"/>
          </a:xfrm>
          <a:prstGeom prst="rect">
            <a:avLst/>
          </a:prstGeom>
          <a:noFill/>
          <a:ln/>
        </p:spPr>
        <p:txBody>
          <a:bodyPr wrap="square" lIns="0" tIns="0" rIns="0" bIns="0" rtlCol="0" anchor="ctr"/>
          <a:lstStyle/>
          <a:p>
            <a:pPr algn="l" indent="0" marL="0">
              <a:buNone/>
            </a:pPr>
            <a:r>
              <a:rPr lang="en-US" sz="900" dirty="0">
                <a:solidFill>
                  <a:srgbClr val="5A6F82"/>
                </a:solidFill>
                <a:latin typeface="Calibri" pitchFamily="34" charset="0"/>
                <a:ea typeface="Calibri" pitchFamily="34" charset="-122"/>
                <a:cs typeface="Calibri" pitchFamily="34" charset="-120"/>
              </a:rPr>
              <a:t>www.amalandcompany.com</a:t>
            </a:r>
            <a:endParaRPr lang="en-US" sz="900" dirty="0"/>
          </a:p>
        </p:txBody>
      </p:sp>
      <p:sp>
        <p:nvSpPr>
          <p:cNvPr id="23" name="Text 20"/>
          <p:cNvSpPr/>
          <p:nvPr/>
        </p:nvSpPr>
        <p:spPr>
          <a:xfrm>
            <a:off x="2743200" y="4823460"/>
            <a:ext cx="3657600" cy="228600"/>
          </a:xfrm>
          <a:prstGeom prst="rect">
            <a:avLst/>
          </a:prstGeom>
          <a:noFill/>
          <a:ln/>
        </p:spPr>
        <p:txBody>
          <a:bodyPr wrap="square" lIns="0" tIns="0" rIns="0" bIns="0" rtlCol="0" anchor="ctr"/>
          <a:lstStyle/>
          <a:p>
            <a:pPr algn="ctr" indent="0" marL="0">
              <a:buNone/>
            </a:pPr>
            <a:r>
              <a:rPr lang="en-US" sz="850" dirty="0">
                <a:solidFill>
                  <a:srgbClr val="9AAEC0"/>
                </a:solidFill>
                <a:latin typeface="Calibri" pitchFamily="34" charset="0"/>
                <a:ea typeface="Calibri" pitchFamily="34" charset="-122"/>
                <a:cs typeface="Calibri" pitchFamily="34" charset="-120"/>
              </a:rPr>
              <a:t>Module 2  ·  Q-Zero — The Hypothesis</a:t>
            </a:r>
            <a:endParaRPr lang="en-US" sz="850" dirty="0"/>
          </a:p>
        </p:txBody>
      </p:sp>
      <p:sp>
        <p:nvSpPr>
          <p:cNvPr id="24" name="Text 21"/>
          <p:cNvSpPr/>
          <p:nvPr/>
        </p:nvSpPr>
        <p:spPr>
          <a:xfrm>
            <a:off x="4983480" y="4823460"/>
            <a:ext cx="3657600" cy="228600"/>
          </a:xfrm>
          <a:prstGeom prst="rect">
            <a:avLst/>
          </a:prstGeom>
          <a:noFill/>
          <a:ln/>
        </p:spPr>
        <p:txBody>
          <a:bodyPr wrap="square" lIns="0" tIns="0" rIns="0" bIns="0" rtlCol="0" anchor="ctr"/>
          <a:lstStyle/>
          <a:p>
            <a:pPr algn="r" indent="0" marL="0">
              <a:buNone/>
            </a:pPr>
            <a:r>
              <a:rPr lang="en-US" sz="900" dirty="0">
                <a:solidFill>
                  <a:srgbClr val="5A6F82"/>
                </a:solidFill>
                <a:latin typeface="Calibri" pitchFamily="34" charset="0"/>
                <a:ea typeface="Calibri" pitchFamily="34" charset="-122"/>
                <a:cs typeface="Calibri" pitchFamily="34" charset="-120"/>
              </a:rPr>
              <a:t>Page 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589520" y="-45720"/>
            <a:ext cx="1554480" cy="777240"/>
          </a:xfrm>
          <a:prstGeom prst="rect">
            <a:avLst/>
          </a:prstGeom>
        </p:spPr>
      </p:pic>
      <p:sp>
        <p:nvSpPr>
          <p:cNvPr id="3" name="Text 0"/>
          <p:cNvSpPr/>
          <p:nvPr/>
        </p:nvSpPr>
        <p:spPr>
          <a:xfrm>
            <a:off x="502920" y="384048"/>
            <a:ext cx="5943600" cy="274320"/>
          </a:xfrm>
          <a:prstGeom prst="rect">
            <a:avLst/>
          </a:prstGeom>
          <a:noFill/>
          <a:ln/>
        </p:spPr>
        <p:txBody>
          <a:bodyPr wrap="square" lIns="0" tIns="0" rIns="0" bIns="0" rtlCol="0" anchor="ctr"/>
          <a:lstStyle/>
          <a:p>
            <a:pPr indent="0" marL="0">
              <a:buNone/>
            </a:pPr>
            <a:r>
              <a:rPr lang="en-US" sz="1050" dirty="0">
                <a:solidFill>
                  <a:srgbClr val="5A6F82"/>
                </a:solidFill>
                <a:latin typeface="Calibri" pitchFamily="34" charset="0"/>
                <a:ea typeface="Calibri" pitchFamily="34" charset="-122"/>
                <a:cs typeface="Calibri" pitchFamily="34" charset="-120"/>
              </a:rPr>
              <a:t>Definition</a:t>
            </a:r>
            <a:endParaRPr lang="en-US" sz="1050" dirty="0"/>
          </a:p>
        </p:txBody>
      </p:sp>
      <p:sp>
        <p:nvSpPr>
          <p:cNvPr id="4" name="Text 1"/>
          <p:cNvSpPr/>
          <p:nvPr/>
        </p:nvSpPr>
        <p:spPr>
          <a:xfrm>
            <a:off x="502920" y="640080"/>
            <a:ext cx="7315200" cy="868680"/>
          </a:xfrm>
          <a:prstGeom prst="rect">
            <a:avLst/>
          </a:prstGeom>
          <a:noFill/>
          <a:ln/>
        </p:spPr>
        <p:txBody>
          <a:bodyPr wrap="square" lIns="0" tIns="0" rIns="0" bIns="0" rtlCol="0" anchor="ctr"/>
          <a:lstStyle/>
          <a:p>
            <a:pPr indent="0" marL="0">
              <a:buNone/>
            </a:pPr>
            <a:r>
              <a:rPr lang="en-US" sz="3000" dirty="0">
                <a:solidFill>
                  <a:srgbClr val="15314F"/>
                </a:solidFill>
                <a:latin typeface="Calibri Light" pitchFamily="34" charset="0"/>
                <a:ea typeface="Calibri Light" pitchFamily="34" charset="-122"/>
                <a:cs typeface="Calibri Light" pitchFamily="34" charset="-120"/>
              </a:rPr>
              <a:t>What is Q-Zero?</a:t>
            </a:r>
            <a:endParaRPr lang="en-US" sz="3000" dirty="0"/>
          </a:p>
        </p:txBody>
      </p:sp>
      <p:sp>
        <p:nvSpPr>
          <p:cNvPr id="5" name="Shape 2"/>
          <p:cNvSpPr/>
          <p:nvPr/>
        </p:nvSpPr>
        <p:spPr>
          <a:xfrm>
            <a:off x="822960" y="1691640"/>
            <a:ext cx="54864" cy="1280160"/>
          </a:xfrm>
          <a:prstGeom prst="rect">
            <a:avLst/>
          </a:prstGeom>
          <a:solidFill>
            <a:srgbClr val="5BA9D8"/>
          </a:solidFill>
          <a:ln w="12700">
            <a:solidFill>
              <a:srgbClr val="5BA9D8"/>
            </a:solidFill>
            <a:prstDash val="solid"/>
          </a:ln>
        </p:spPr>
      </p:sp>
      <p:sp>
        <p:nvSpPr>
          <p:cNvPr id="6" name="Text 3"/>
          <p:cNvSpPr/>
          <p:nvPr/>
        </p:nvSpPr>
        <p:spPr>
          <a:xfrm>
            <a:off x="1051560" y="1600200"/>
            <a:ext cx="7223760" cy="1417320"/>
          </a:xfrm>
          <a:prstGeom prst="rect">
            <a:avLst/>
          </a:prstGeom>
          <a:noFill/>
          <a:ln/>
        </p:spPr>
        <p:txBody>
          <a:bodyPr wrap="square" lIns="0" tIns="0" rIns="0" bIns="0" rtlCol="0" anchor="ctr"/>
          <a:lstStyle/>
          <a:p>
            <a:pPr indent="0" marL="0">
              <a:buNone/>
            </a:pPr>
            <a:r>
              <a:rPr lang="en-US" sz="2200" i="1" dirty="0">
                <a:solidFill>
                  <a:srgbClr val="15314F"/>
                </a:solidFill>
                <a:latin typeface="Calibri Light" pitchFamily="34" charset="0"/>
                <a:ea typeface="Calibri Light" pitchFamily="34" charset="-122"/>
                <a:cs typeface="Calibri Light" pitchFamily="34" charset="-120"/>
              </a:rPr>
              <a:t>Why does my program produce change — and can I state it in a single, testable sentence?</a:t>
            </a:r>
            <a:endParaRPr lang="en-US" sz="2200" dirty="0"/>
          </a:p>
        </p:txBody>
      </p:sp>
      <p:sp>
        <p:nvSpPr>
          <p:cNvPr id="7" name="Shape 4"/>
          <p:cNvSpPr/>
          <p:nvPr/>
        </p:nvSpPr>
        <p:spPr>
          <a:xfrm>
            <a:off x="502920" y="3246120"/>
            <a:ext cx="8138160" cy="1280160"/>
          </a:xfrm>
          <a:prstGeom prst="roundRect">
            <a:avLst>
              <a:gd name="adj" fmla="val 7143"/>
            </a:avLst>
          </a:prstGeom>
          <a:solidFill>
            <a:srgbClr val="15314F"/>
          </a:solidFill>
          <a:ln w="12700">
            <a:solidFill>
              <a:srgbClr val="15314F"/>
            </a:solidFill>
            <a:prstDash val="solid"/>
          </a:ln>
        </p:spPr>
      </p:sp>
      <p:sp>
        <p:nvSpPr>
          <p:cNvPr id="8" name="Text 5"/>
          <p:cNvSpPr/>
          <p:nvPr/>
        </p:nvSpPr>
        <p:spPr>
          <a:xfrm>
            <a:off x="777240" y="3383280"/>
            <a:ext cx="7589520" cy="274320"/>
          </a:xfrm>
          <a:prstGeom prst="rect">
            <a:avLst/>
          </a:prstGeom>
          <a:noFill/>
          <a:ln/>
        </p:spPr>
        <p:txBody>
          <a:bodyPr wrap="square" lIns="0" tIns="0" rIns="0" bIns="0" rtlCol="0" anchor="ctr"/>
          <a:lstStyle/>
          <a:p>
            <a:pPr indent="0" marL="0">
              <a:buNone/>
            </a:pPr>
            <a:r>
              <a:rPr lang="en-US" sz="1000" b="1" spc="300" kern="0" dirty="0">
                <a:solidFill>
                  <a:srgbClr val="5BA9D8"/>
                </a:solidFill>
                <a:latin typeface="Calibri" pitchFamily="34" charset="0"/>
                <a:ea typeface="Calibri" pitchFamily="34" charset="-122"/>
                <a:cs typeface="Calibri" pitchFamily="34" charset="-120"/>
              </a:rPr>
              <a:t>THE Q-ZERO FORMULA</a:t>
            </a:r>
            <a:endParaRPr lang="en-US" sz="1000" dirty="0"/>
          </a:p>
        </p:txBody>
      </p:sp>
      <p:sp>
        <p:nvSpPr>
          <p:cNvPr id="9" name="Text 6"/>
          <p:cNvSpPr/>
          <p:nvPr/>
        </p:nvSpPr>
        <p:spPr>
          <a:xfrm>
            <a:off x="777240" y="3703320"/>
            <a:ext cx="7589520" cy="777240"/>
          </a:xfrm>
          <a:prstGeom prst="rect">
            <a:avLst/>
          </a:prstGeom>
          <a:noFill/>
          <a:ln/>
        </p:spPr>
        <p:txBody>
          <a:bodyPr wrap="square" lIns="0" tIns="0" rIns="0" bIns="0" rtlCol="0" anchor="ctr"/>
          <a:lstStyle/>
          <a:p>
            <a:pPr indent="0" marL="0">
              <a:buNone/>
            </a:pPr>
            <a:r>
              <a:rPr lang="en-US" sz="1800" b="1" dirty="0">
                <a:solidFill>
                  <a:srgbClr val="5BA9D8"/>
                </a:solidFill>
                <a:latin typeface="Calibri Light" pitchFamily="34" charset="0"/>
                <a:ea typeface="Calibri Light" pitchFamily="34" charset="-122"/>
                <a:cs typeface="Calibri Light" pitchFamily="34" charset="-120"/>
              </a:rPr>
              <a:t>IF </a:t>
            </a:r>
            <a:pPr indent="0" marL="0">
              <a:buNone/>
            </a:pPr>
            <a:r>
              <a:rPr lang="en-US" sz="1800" dirty="0">
                <a:solidFill>
                  <a:srgbClr val="FFFFFF"/>
                </a:solidFill>
                <a:latin typeface="Calibri Light" pitchFamily="34" charset="0"/>
                <a:ea typeface="Calibri Light" pitchFamily="34" charset="-122"/>
                <a:cs typeface="Calibri Light" pitchFamily="34" charset="-120"/>
              </a:rPr>
              <a:t>we do [approach or philosophy], </a:t>
            </a:r>
            <a:pPr indent="0" marL="0">
              <a:buNone/>
            </a:pPr>
            <a:r>
              <a:rPr lang="en-US" sz="1800" b="1" dirty="0">
                <a:solidFill>
                  <a:srgbClr val="5BA9D8"/>
                </a:solidFill>
                <a:latin typeface="Calibri Light" pitchFamily="34" charset="0"/>
                <a:ea typeface="Calibri Light" pitchFamily="34" charset="-122"/>
                <a:cs typeface="Calibri Light" pitchFamily="34" charset="-120"/>
              </a:rPr>
              <a:t>THEN </a:t>
            </a:r>
            <a:pPr indent="0" marL="0">
              <a:buNone/>
            </a:pPr>
            <a:r>
              <a:rPr lang="en-US" sz="1800" dirty="0">
                <a:solidFill>
                  <a:srgbClr val="FFFFFF"/>
                </a:solidFill>
                <a:latin typeface="Calibri Light" pitchFamily="34" charset="0"/>
                <a:ea typeface="Calibri Light" pitchFamily="34" charset="-122"/>
                <a:cs typeface="Calibri Light" pitchFamily="34" charset="-120"/>
              </a:rPr>
              <a:t>[specific behavioral or condition change] will occur.</a:t>
            </a:r>
            <a:endParaRPr lang="en-US" sz="1800" dirty="0"/>
          </a:p>
        </p:txBody>
      </p:sp>
      <p:sp>
        <p:nvSpPr>
          <p:cNvPr id="10" name="Shape 7"/>
          <p:cNvSpPr/>
          <p:nvPr/>
        </p:nvSpPr>
        <p:spPr>
          <a:xfrm>
            <a:off x="502920" y="4732020"/>
            <a:ext cx="8138160" cy="0"/>
          </a:xfrm>
          <a:prstGeom prst="line">
            <a:avLst/>
          </a:prstGeom>
          <a:noFill/>
          <a:ln w="9525">
            <a:solidFill>
              <a:srgbClr val="DCE6EE"/>
            </a:solidFill>
            <a:prstDash val="solid"/>
          </a:ln>
        </p:spPr>
      </p:sp>
      <p:sp>
        <p:nvSpPr>
          <p:cNvPr id="11" name="Text 8"/>
          <p:cNvSpPr/>
          <p:nvPr/>
        </p:nvSpPr>
        <p:spPr>
          <a:xfrm>
            <a:off x="502920" y="4823460"/>
            <a:ext cx="3657600" cy="228600"/>
          </a:xfrm>
          <a:prstGeom prst="rect">
            <a:avLst/>
          </a:prstGeom>
          <a:noFill/>
          <a:ln/>
        </p:spPr>
        <p:txBody>
          <a:bodyPr wrap="square" lIns="0" tIns="0" rIns="0" bIns="0" rtlCol="0" anchor="ctr"/>
          <a:lstStyle/>
          <a:p>
            <a:pPr algn="l" indent="0" marL="0">
              <a:buNone/>
            </a:pPr>
            <a:r>
              <a:rPr lang="en-US" sz="900" dirty="0">
                <a:solidFill>
                  <a:srgbClr val="5A6F82"/>
                </a:solidFill>
                <a:latin typeface="Calibri" pitchFamily="34" charset="0"/>
                <a:ea typeface="Calibri" pitchFamily="34" charset="-122"/>
                <a:cs typeface="Calibri" pitchFamily="34" charset="-120"/>
              </a:rPr>
              <a:t>www.amalandcompany.com</a:t>
            </a:r>
            <a:endParaRPr lang="en-US" sz="900" dirty="0"/>
          </a:p>
        </p:txBody>
      </p:sp>
      <p:sp>
        <p:nvSpPr>
          <p:cNvPr id="12" name="Text 9"/>
          <p:cNvSpPr/>
          <p:nvPr/>
        </p:nvSpPr>
        <p:spPr>
          <a:xfrm>
            <a:off x="2743200" y="4823460"/>
            <a:ext cx="3657600" cy="228600"/>
          </a:xfrm>
          <a:prstGeom prst="rect">
            <a:avLst/>
          </a:prstGeom>
          <a:noFill/>
          <a:ln/>
        </p:spPr>
        <p:txBody>
          <a:bodyPr wrap="square" lIns="0" tIns="0" rIns="0" bIns="0" rtlCol="0" anchor="ctr"/>
          <a:lstStyle/>
          <a:p>
            <a:pPr algn="ctr" indent="0" marL="0">
              <a:buNone/>
            </a:pPr>
            <a:r>
              <a:rPr lang="en-US" sz="850" dirty="0">
                <a:solidFill>
                  <a:srgbClr val="9AAEC0"/>
                </a:solidFill>
                <a:latin typeface="Calibri" pitchFamily="34" charset="0"/>
                <a:ea typeface="Calibri" pitchFamily="34" charset="-122"/>
                <a:cs typeface="Calibri" pitchFamily="34" charset="-120"/>
              </a:rPr>
              <a:t>Module 2  ·  Q-Zero — The Hypothesis</a:t>
            </a:r>
            <a:endParaRPr lang="en-US" sz="850" dirty="0"/>
          </a:p>
        </p:txBody>
      </p:sp>
      <p:sp>
        <p:nvSpPr>
          <p:cNvPr id="13" name="Text 10"/>
          <p:cNvSpPr/>
          <p:nvPr/>
        </p:nvSpPr>
        <p:spPr>
          <a:xfrm>
            <a:off x="4983480" y="4823460"/>
            <a:ext cx="3657600" cy="228600"/>
          </a:xfrm>
          <a:prstGeom prst="rect">
            <a:avLst/>
          </a:prstGeom>
          <a:noFill/>
          <a:ln/>
        </p:spPr>
        <p:txBody>
          <a:bodyPr wrap="square" lIns="0" tIns="0" rIns="0" bIns="0" rtlCol="0" anchor="ctr"/>
          <a:lstStyle/>
          <a:p>
            <a:pPr algn="r" indent="0" marL="0">
              <a:buNone/>
            </a:pPr>
            <a:r>
              <a:rPr lang="en-US" sz="900" dirty="0">
                <a:solidFill>
                  <a:srgbClr val="5A6F82"/>
                </a:solidFill>
                <a:latin typeface="Calibri" pitchFamily="34" charset="0"/>
                <a:ea typeface="Calibri" pitchFamily="34" charset="-122"/>
                <a:cs typeface="Calibri" pitchFamily="34" charset="-120"/>
              </a:rPr>
              <a:t>Page 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589520" y="-45720"/>
            <a:ext cx="1554480" cy="777240"/>
          </a:xfrm>
          <a:prstGeom prst="rect">
            <a:avLst/>
          </a:prstGeom>
        </p:spPr>
      </p:pic>
      <p:sp>
        <p:nvSpPr>
          <p:cNvPr id="3" name="Text 0"/>
          <p:cNvSpPr/>
          <p:nvPr/>
        </p:nvSpPr>
        <p:spPr>
          <a:xfrm>
            <a:off x="502920" y="384048"/>
            <a:ext cx="5943600" cy="274320"/>
          </a:xfrm>
          <a:prstGeom prst="rect">
            <a:avLst/>
          </a:prstGeom>
          <a:noFill/>
          <a:ln/>
        </p:spPr>
        <p:txBody>
          <a:bodyPr wrap="square" lIns="0" tIns="0" rIns="0" bIns="0" rtlCol="0" anchor="ctr"/>
          <a:lstStyle/>
          <a:p>
            <a:pPr indent="0" marL="0">
              <a:buNone/>
            </a:pPr>
            <a:r>
              <a:rPr lang="en-US" sz="1050" dirty="0">
                <a:solidFill>
                  <a:srgbClr val="5A6F82"/>
                </a:solidFill>
                <a:latin typeface="Calibri" pitchFamily="34" charset="0"/>
                <a:ea typeface="Calibri" pitchFamily="34" charset="-122"/>
                <a:cs typeface="Calibri" pitchFamily="34" charset="-120"/>
              </a:rPr>
              <a:t>The quality test</a:t>
            </a:r>
            <a:endParaRPr lang="en-US" sz="1050" dirty="0"/>
          </a:p>
        </p:txBody>
      </p:sp>
      <p:sp>
        <p:nvSpPr>
          <p:cNvPr id="4" name="Text 1"/>
          <p:cNvSpPr/>
          <p:nvPr/>
        </p:nvSpPr>
        <p:spPr>
          <a:xfrm>
            <a:off x="502920" y="640080"/>
            <a:ext cx="7315200" cy="868680"/>
          </a:xfrm>
          <a:prstGeom prst="rect">
            <a:avLst/>
          </a:prstGeom>
          <a:noFill/>
          <a:ln/>
        </p:spPr>
        <p:txBody>
          <a:bodyPr wrap="square" lIns="0" tIns="0" rIns="0" bIns="0" rtlCol="0" anchor="ctr"/>
          <a:lstStyle/>
          <a:p>
            <a:pPr indent="0" marL="0">
              <a:buNone/>
            </a:pPr>
            <a:r>
              <a:rPr lang="en-US" sz="3000" dirty="0">
                <a:solidFill>
                  <a:srgbClr val="15314F"/>
                </a:solidFill>
                <a:latin typeface="Calibri Light" pitchFamily="34" charset="0"/>
                <a:ea typeface="Calibri Light" pitchFamily="34" charset="-122"/>
                <a:cs typeface="Calibri Light" pitchFamily="34" charset="-120"/>
              </a:rPr>
              <a:t>The Three Laws of Q-Zero</a:t>
            </a:r>
            <a:endParaRPr lang="en-US" sz="3000" dirty="0"/>
          </a:p>
        </p:txBody>
      </p:sp>
      <p:sp>
        <p:nvSpPr>
          <p:cNvPr id="5" name="Shape 2"/>
          <p:cNvSpPr/>
          <p:nvPr/>
        </p:nvSpPr>
        <p:spPr>
          <a:xfrm>
            <a:off x="502920" y="1691640"/>
            <a:ext cx="640080" cy="640080"/>
          </a:xfrm>
          <a:prstGeom prst="ellipse">
            <a:avLst/>
          </a:prstGeom>
          <a:solidFill>
            <a:srgbClr val="15314F"/>
          </a:solidFill>
          <a:ln w="12700">
            <a:solidFill>
              <a:srgbClr val="15314F"/>
            </a:solidFill>
            <a:prstDash val="solid"/>
          </a:ln>
        </p:spPr>
      </p:sp>
      <p:sp>
        <p:nvSpPr>
          <p:cNvPr id="6" name="Text 3"/>
          <p:cNvSpPr/>
          <p:nvPr/>
        </p:nvSpPr>
        <p:spPr>
          <a:xfrm>
            <a:off x="502920" y="1691640"/>
            <a:ext cx="640080" cy="640080"/>
          </a:xfrm>
          <a:prstGeom prst="rect">
            <a:avLst/>
          </a:prstGeom>
          <a:noFill/>
          <a:ln/>
        </p:spPr>
        <p:txBody>
          <a:bodyPr wrap="square" lIns="0" tIns="0" rIns="0" bIns="0" rtlCol="0" anchor="ctr"/>
          <a:lstStyle/>
          <a:p>
            <a:pPr algn="ctr" indent="0" marL="0">
              <a:buNone/>
            </a:pPr>
            <a:r>
              <a:rPr lang="en-US" sz="2520" b="1" dirty="0">
                <a:solidFill>
                  <a:srgbClr val="5BA9D8"/>
                </a:solidFill>
                <a:latin typeface="Calibri Light" pitchFamily="34" charset="0"/>
                <a:ea typeface="Calibri Light" pitchFamily="34" charset="-122"/>
                <a:cs typeface="Calibri Light" pitchFamily="34" charset="-120"/>
              </a:rPr>
              <a:t>1</a:t>
            </a:r>
            <a:endParaRPr lang="en-US" sz="2520" dirty="0"/>
          </a:p>
        </p:txBody>
      </p:sp>
      <p:sp>
        <p:nvSpPr>
          <p:cNvPr id="7" name="Text 4"/>
          <p:cNvSpPr/>
          <p:nvPr/>
        </p:nvSpPr>
        <p:spPr>
          <a:xfrm>
            <a:off x="1371600" y="1600200"/>
            <a:ext cx="7132320" cy="365760"/>
          </a:xfrm>
          <a:prstGeom prst="rect">
            <a:avLst/>
          </a:prstGeom>
          <a:noFill/>
          <a:ln/>
        </p:spPr>
        <p:txBody>
          <a:bodyPr wrap="square" lIns="0" tIns="0" rIns="0" bIns="0" rtlCol="0" anchor="ctr"/>
          <a:lstStyle/>
          <a:p>
            <a:pPr indent="0" marL="0">
              <a:buNone/>
            </a:pPr>
            <a:r>
              <a:rPr lang="en-US" sz="1600" b="1" dirty="0">
                <a:solidFill>
                  <a:srgbClr val="15314F"/>
                </a:solidFill>
                <a:latin typeface="Calibri Light" pitchFamily="34" charset="0"/>
                <a:ea typeface="Calibri Light" pitchFamily="34" charset="-122"/>
                <a:cs typeface="Calibri Light" pitchFamily="34" charset="-120"/>
              </a:rPr>
              <a:t>Liberate the IF</a:t>
            </a:r>
            <a:endParaRPr lang="en-US" sz="1600" dirty="0"/>
          </a:p>
        </p:txBody>
      </p:sp>
      <p:sp>
        <p:nvSpPr>
          <p:cNvPr id="8" name="Text 5"/>
          <p:cNvSpPr/>
          <p:nvPr/>
        </p:nvSpPr>
        <p:spPr>
          <a:xfrm>
            <a:off x="1371600" y="1965960"/>
            <a:ext cx="7315200" cy="594360"/>
          </a:xfrm>
          <a:prstGeom prst="rect">
            <a:avLst/>
          </a:prstGeom>
          <a:noFill/>
          <a:ln/>
        </p:spPr>
        <p:txBody>
          <a:bodyPr wrap="square" lIns="0" tIns="0" rIns="0" bIns="0" rtlCol="0" anchor="ctr"/>
          <a:lstStyle/>
          <a:p>
            <a:pPr indent="0" marL="0">
              <a:buNone/>
            </a:pPr>
            <a:r>
              <a:rPr lang="en-US" sz="1150" dirty="0">
                <a:solidFill>
                  <a:srgbClr val="15314F"/>
                </a:solidFill>
                <a:latin typeface="Calibri" pitchFamily="34" charset="0"/>
                <a:ea typeface="Calibri" pitchFamily="34" charset="-122"/>
                <a:cs typeface="Calibri" pitchFamily="34" charset="-120"/>
              </a:rPr>
              <a:t>The IF must name a philosophy or approach — not an event or service. If you could swap your program's name with another's and the IF still works, it's too generic.</a:t>
            </a:r>
            <a:endParaRPr lang="en-US" sz="1150" dirty="0"/>
          </a:p>
        </p:txBody>
      </p:sp>
      <p:sp>
        <p:nvSpPr>
          <p:cNvPr id="9" name="Shape 6"/>
          <p:cNvSpPr/>
          <p:nvPr/>
        </p:nvSpPr>
        <p:spPr>
          <a:xfrm>
            <a:off x="502920" y="2697480"/>
            <a:ext cx="640080" cy="640080"/>
          </a:xfrm>
          <a:prstGeom prst="ellipse">
            <a:avLst/>
          </a:prstGeom>
          <a:solidFill>
            <a:srgbClr val="15314F"/>
          </a:solidFill>
          <a:ln w="12700">
            <a:solidFill>
              <a:srgbClr val="15314F"/>
            </a:solidFill>
            <a:prstDash val="solid"/>
          </a:ln>
        </p:spPr>
      </p:sp>
      <p:sp>
        <p:nvSpPr>
          <p:cNvPr id="10" name="Text 7"/>
          <p:cNvSpPr/>
          <p:nvPr/>
        </p:nvSpPr>
        <p:spPr>
          <a:xfrm>
            <a:off x="502920" y="2697480"/>
            <a:ext cx="640080" cy="640080"/>
          </a:xfrm>
          <a:prstGeom prst="rect">
            <a:avLst/>
          </a:prstGeom>
          <a:noFill/>
          <a:ln/>
        </p:spPr>
        <p:txBody>
          <a:bodyPr wrap="square" lIns="0" tIns="0" rIns="0" bIns="0" rtlCol="0" anchor="ctr"/>
          <a:lstStyle/>
          <a:p>
            <a:pPr algn="ctr" indent="0" marL="0">
              <a:buNone/>
            </a:pPr>
            <a:r>
              <a:rPr lang="en-US" sz="2520" b="1" dirty="0">
                <a:solidFill>
                  <a:srgbClr val="5BA9D8"/>
                </a:solidFill>
                <a:latin typeface="Calibri Light" pitchFamily="34" charset="0"/>
                <a:ea typeface="Calibri Light" pitchFamily="34" charset="-122"/>
                <a:cs typeface="Calibri Light" pitchFamily="34" charset="-120"/>
              </a:rPr>
              <a:t>2</a:t>
            </a:r>
            <a:endParaRPr lang="en-US" sz="2520" dirty="0"/>
          </a:p>
        </p:txBody>
      </p:sp>
      <p:sp>
        <p:nvSpPr>
          <p:cNvPr id="11" name="Text 8"/>
          <p:cNvSpPr/>
          <p:nvPr/>
        </p:nvSpPr>
        <p:spPr>
          <a:xfrm>
            <a:off x="1371600" y="2606040"/>
            <a:ext cx="7132320" cy="365760"/>
          </a:xfrm>
          <a:prstGeom prst="rect">
            <a:avLst/>
          </a:prstGeom>
          <a:noFill/>
          <a:ln/>
        </p:spPr>
        <p:txBody>
          <a:bodyPr wrap="square" lIns="0" tIns="0" rIns="0" bIns="0" rtlCol="0" anchor="ctr"/>
          <a:lstStyle/>
          <a:p>
            <a:pPr indent="0" marL="0">
              <a:buNone/>
            </a:pPr>
            <a:r>
              <a:rPr lang="en-US" sz="1600" b="1" dirty="0">
                <a:solidFill>
                  <a:srgbClr val="15314F"/>
                </a:solidFill>
                <a:latin typeface="Calibri Light" pitchFamily="34" charset="0"/>
                <a:ea typeface="Calibri Light" pitchFamily="34" charset="-122"/>
                <a:cs typeface="Calibri Light" pitchFamily="34" charset="-120"/>
              </a:rPr>
              <a:t>Demand a Behavioral THEN</a:t>
            </a:r>
            <a:endParaRPr lang="en-US" sz="1600" dirty="0"/>
          </a:p>
        </p:txBody>
      </p:sp>
      <p:sp>
        <p:nvSpPr>
          <p:cNvPr id="12" name="Text 9"/>
          <p:cNvSpPr/>
          <p:nvPr/>
        </p:nvSpPr>
        <p:spPr>
          <a:xfrm>
            <a:off x="1371600" y="2971800"/>
            <a:ext cx="7315200" cy="594360"/>
          </a:xfrm>
          <a:prstGeom prst="rect">
            <a:avLst/>
          </a:prstGeom>
          <a:noFill/>
          <a:ln/>
        </p:spPr>
        <p:txBody>
          <a:bodyPr wrap="square" lIns="0" tIns="0" rIns="0" bIns="0" rtlCol="0" anchor="ctr"/>
          <a:lstStyle/>
          <a:p>
            <a:pPr indent="0" marL="0">
              <a:buNone/>
            </a:pPr>
            <a:r>
              <a:rPr lang="en-US" sz="1150" dirty="0">
                <a:solidFill>
                  <a:srgbClr val="15314F"/>
                </a:solidFill>
                <a:latin typeface="Calibri" pitchFamily="34" charset="0"/>
                <a:ea typeface="Calibri" pitchFamily="34" charset="-122"/>
                <a:cs typeface="Calibri" pitchFamily="34" charset="-120"/>
              </a:rPr>
              <a:t>The THEN must describe what changes in a person or community — not what your program delivers. Ask: if the program ran perfectly but nothing changed in anyone, would this THEN still be true?</a:t>
            </a:r>
            <a:endParaRPr lang="en-US" sz="1150" dirty="0"/>
          </a:p>
        </p:txBody>
      </p:sp>
      <p:sp>
        <p:nvSpPr>
          <p:cNvPr id="13" name="Shape 10"/>
          <p:cNvSpPr/>
          <p:nvPr/>
        </p:nvSpPr>
        <p:spPr>
          <a:xfrm>
            <a:off x="502920" y="3703320"/>
            <a:ext cx="640080" cy="640080"/>
          </a:xfrm>
          <a:prstGeom prst="ellipse">
            <a:avLst/>
          </a:prstGeom>
          <a:solidFill>
            <a:srgbClr val="15314F"/>
          </a:solidFill>
          <a:ln w="12700">
            <a:solidFill>
              <a:srgbClr val="15314F"/>
            </a:solidFill>
            <a:prstDash val="solid"/>
          </a:ln>
        </p:spPr>
      </p:sp>
      <p:sp>
        <p:nvSpPr>
          <p:cNvPr id="14" name="Text 11"/>
          <p:cNvSpPr/>
          <p:nvPr/>
        </p:nvSpPr>
        <p:spPr>
          <a:xfrm>
            <a:off x="502920" y="3703320"/>
            <a:ext cx="640080" cy="640080"/>
          </a:xfrm>
          <a:prstGeom prst="rect">
            <a:avLst/>
          </a:prstGeom>
          <a:noFill/>
          <a:ln/>
        </p:spPr>
        <p:txBody>
          <a:bodyPr wrap="square" lIns="0" tIns="0" rIns="0" bIns="0" rtlCol="0" anchor="ctr"/>
          <a:lstStyle/>
          <a:p>
            <a:pPr algn="ctr" indent="0" marL="0">
              <a:buNone/>
            </a:pPr>
            <a:r>
              <a:rPr lang="en-US" sz="2520" b="1" dirty="0">
                <a:solidFill>
                  <a:srgbClr val="5BA9D8"/>
                </a:solidFill>
                <a:latin typeface="Calibri Light" pitchFamily="34" charset="0"/>
                <a:ea typeface="Calibri Light" pitchFamily="34" charset="-122"/>
                <a:cs typeface="Calibri Light" pitchFamily="34" charset="-120"/>
              </a:rPr>
              <a:t>3</a:t>
            </a:r>
            <a:endParaRPr lang="en-US" sz="2520" dirty="0"/>
          </a:p>
        </p:txBody>
      </p:sp>
      <p:sp>
        <p:nvSpPr>
          <p:cNvPr id="15" name="Text 12"/>
          <p:cNvSpPr/>
          <p:nvPr/>
        </p:nvSpPr>
        <p:spPr>
          <a:xfrm>
            <a:off x="1371600" y="3611880"/>
            <a:ext cx="7132320" cy="365760"/>
          </a:xfrm>
          <a:prstGeom prst="rect">
            <a:avLst/>
          </a:prstGeom>
          <a:noFill/>
          <a:ln/>
        </p:spPr>
        <p:txBody>
          <a:bodyPr wrap="square" lIns="0" tIns="0" rIns="0" bIns="0" rtlCol="0" anchor="ctr"/>
          <a:lstStyle/>
          <a:p>
            <a:pPr indent="0" marL="0">
              <a:buNone/>
            </a:pPr>
            <a:r>
              <a:rPr lang="en-US" sz="1600" b="1" dirty="0">
                <a:solidFill>
                  <a:srgbClr val="15314F"/>
                </a:solidFill>
                <a:latin typeface="Calibri Light" pitchFamily="34" charset="0"/>
                <a:ea typeface="Calibri Light" pitchFamily="34" charset="-122"/>
                <a:cs typeface="Calibri Light" pitchFamily="34" charset="-120"/>
              </a:rPr>
              <a:t>Tie to Mission</a:t>
            </a:r>
            <a:endParaRPr lang="en-US" sz="1600" dirty="0"/>
          </a:p>
        </p:txBody>
      </p:sp>
      <p:sp>
        <p:nvSpPr>
          <p:cNvPr id="16" name="Text 13"/>
          <p:cNvSpPr/>
          <p:nvPr/>
        </p:nvSpPr>
        <p:spPr>
          <a:xfrm>
            <a:off x="1371600" y="3977640"/>
            <a:ext cx="7315200" cy="594360"/>
          </a:xfrm>
          <a:prstGeom prst="rect">
            <a:avLst/>
          </a:prstGeom>
          <a:noFill/>
          <a:ln/>
        </p:spPr>
        <p:txBody>
          <a:bodyPr wrap="square" lIns="0" tIns="0" rIns="0" bIns="0" rtlCol="0" anchor="ctr"/>
          <a:lstStyle/>
          <a:p>
            <a:pPr indent="0" marL="0">
              <a:buNone/>
            </a:pPr>
            <a:r>
              <a:rPr lang="en-US" sz="1150" dirty="0">
                <a:solidFill>
                  <a:srgbClr val="15314F"/>
                </a:solidFill>
                <a:latin typeface="Calibri" pitchFamily="34" charset="0"/>
                <a:ea typeface="Calibri" pitchFamily="34" charset="-122"/>
                <a:cs typeface="Calibri" pitchFamily="34" charset="-120"/>
              </a:rPr>
              <a:t>The THEN must connect to MASGLA's mission: Islamic identity, community revival, principled leadership. If it could belong to any nonprofit, it doesn't yet have MASGLA's fingerprint on it.</a:t>
            </a:r>
            <a:endParaRPr lang="en-US" sz="1150" dirty="0"/>
          </a:p>
        </p:txBody>
      </p:sp>
      <p:sp>
        <p:nvSpPr>
          <p:cNvPr id="17" name="Shape 14"/>
          <p:cNvSpPr/>
          <p:nvPr/>
        </p:nvSpPr>
        <p:spPr>
          <a:xfrm>
            <a:off x="502920" y="4732020"/>
            <a:ext cx="8138160" cy="0"/>
          </a:xfrm>
          <a:prstGeom prst="line">
            <a:avLst/>
          </a:prstGeom>
          <a:noFill/>
          <a:ln w="9525">
            <a:solidFill>
              <a:srgbClr val="DCE6EE"/>
            </a:solidFill>
            <a:prstDash val="solid"/>
          </a:ln>
        </p:spPr>
      </p:sp>
      <p:sp>
        <p:nvSpPr>
          <p:cNvPr id="18" name="Text 15"/>
          <p:cNvSpPr/>
          <p:nvPr/>
        </p:nvSpPr>
        <p:spPr>
          <a:xfrm>
            <a:off x="502920" y="4823460"/>
            <a:ext cx="3657600" cy="228600"/>
          </a:xfrm>
          <a:prstGeom prst="rect">
            <a:avLst/>
          </a:prstGeom>
          <a:noFill/>
          <a:ln/>
        </p:spPr>
        <p:txBody>
          <a:bodyPr wrap="square" lIns="0" tIns="0" rIns="0" bIns="0" rtlCol="0" anchor="ctr"/>
          <a:lstStyle/>
          <a:p>
            <a:pPr algn="l" indent="0" marL="0">
              <a:buNone/>
            </a:pPr>
            <a:r>
              <a:rPr lang="en-US" sz="900" dirty="0">
                <a:solidFill>
                  <a:srgbClr val="5A6F82"/>
                </a:solidFill>
                <a:latin typeface="Calibri" pitchFamily="34" charset="0"/>
                <a:ea typeface="Calibri" pitchFamily="34" charset="-122"/>
                <a:cs typeface="Calibri" pitchFamily="34" charset="-120"/>
              </a:rPr>
              <a:t>www.amalandcompany.com</a:t>
            </a:r>
            <a:endParaRPr lang="en-US" sz="900" dirty="0"/>
          </a:p>
        </p:txBody>
      </p:sp>
      <p:sp>
        <p:nvSpPr>
          <p:cNvPr id="19" name="Text 16"/>
          <p:cNvSpPr/>
          <p:nvPr/>
        </p:nvSpPr>
        <p:spPr>
          <a:xfrm>
            <a:off x="2743200" y="4823460"/>
            <a:ext cx="3657600" cy="228600"/>
          </a:xfrm>
          <a:prstGeom prst="rect">
            <a:avLst/>
          </a:prstGeom>
          <a:noFill/>
          <a:ln/>
        </p:spPr>
        <p:txBody>
          <a:bodyPr wrap="square" lIns="0" tIns="0" rIns="0" bIns="0" rtlCol="0" anchor="ctr"/>
          <a:lstStyle/>
          <a:p>
            <a:pPr algn="ctr" indent="0" marL="0">
              <a:buNone/>
            </a:pPr>
            <a:r>
              <a:rPr lang="en-US" sz="850" dirty="0">
                <a:solidFill>
                  <a:srgbClr val="9AAEC0"/>
                </a:solidFill>
                <a:latin typeface="Calibri" pitchFamily="34" charset="0"/>
                <a:ea typeface="Calibri" pitchFamily="34" charset="-122"/>
                <a:cs typeface="Calibri" pitchFamily="34" charset="-120"/>
              </a:rPr>
              <a:t>Module 2  ·  Q-Zero — The Hypothesis</a:t>
            </a:r>
            <a:endParaRPr lang="en-US" sz="850" dirty="0"/>
          </a:p>
        </p:txBody>
      </p:sp>
      <p:sp>
        <p:nvSpPr>
          <p:cNvPr id="20" name="Text 17"/>
          <p:cNvSpPr/>
          <p:nvPr/>
        </p:nvSpPr>
        <p:spPr>
          <a:xfrm>
            <a:off x="4983480" y="4823460"/>
            <a:ext cx="3657600" cy="228600"/>
          </a:xfrm>
          <a:prstGeom prst="rect">
            <a:avLst/>
          </a:prstGeom>
          <a:noFill/>
          <a:ln/>
        </p:spPr>
        <p:txBody>
          <a:bodyPr wrap="square" lIns="0" tIns="0" rIns="0" bIns="0" rtlCol="0" anchor="ctr"/>
          <a:lstStyle/>
          <a:p>
            <a:pPr algn="r" indent="0" marL="0">
              <a:buNone/>
            </a:pPr>
            <a:r>
              <a:rPr lang="en-US" sz="900" dirty="0">
                <a:solidFill>
                  <a:srgbClr val="5A6F82"/>
                </a:solidFill>
                <a:latin typeface="Calibri" pitchFamily="34" charset="0"/>
                <a:ea typeface="Calibri" pitchFamily="34" charset="-122"/>
                <a:cs typeface="Calibri" pitchFamily="34" charset="-120"/>
              </a:rPr>
              <a:t>Page 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589520" y="-45720"/>
            <a:ext cx="1554480" cy="777240"/>
          </a:xfrm>
          <a:prstGeom prst="rect">
            <a:avLst/>
          </a:prstGeom>
        </p:spPr>
      </p:pic>
      <p:sp>
        <p:nvSpPr>
          <p:cNvPr id="3" name="Text 0"/>
          <p:cNvSpPr/>
          <p:nvPr/>
        </p:nvSpPr>
        <p:spPr>
          <a:xfrm>
            <a:off x="502920" y="384048"/>
            <a:ext cx="5943600" cy="274320"/>
          </a:xfrm>
          <a:prstGeom prst="rect">
            <a:avLst/>
          </a:prstGeom>
          <a:noFill/>
          <a:ln/>
        </p:spPr>
        <p:txBody>
          <a:bodyPr wrap="square" lIns="0" tIns="0" rIns="0" bIns="0" rtlCol="0" anchor="ctr"/>
          <a:lstStyle/>
          <a:p>
            <a:pPr indent="0" marL="0">
              <a:buNone/>
            </a:pPr>
            <a:r>
              <a:rPr lang="en-US" sz="1050" dirty="0">
                <a:solidFill>
                  <a:srgbClr val="5A6F82"/>
                </a:solidFill>
                <a:latin typeface="Calibri" pitchFamily="34" charset="0"/>
                <a:ea typeface="Calibri" pitchFamily="34" charset="-122"/>
                <a:cs typeface="Calibri" pitchFamily="34" charset="-120"/>
              </a:rPr>
              <a:t>Law 01</a:t>
            </a:r>
            <a:endParaRPr lang="en-US" sz="1050" dirty="0"/>
          </a:p>
        </p:txBody>
      </p:sp>
      <p:sp>
        <p:nvSpPr>
          <p:cNvPr id="4" name="Text 1"/>
          <p:cNvSpPr/>
          <p:nvPr/>
        </p:nvSpPr>
        <p:spPr>
          <a:xfrm>
            <a:off x="502920" y="640080"/>
            <a:ext cx="7315200" cy="868680"/>
          </a:xfrm>
          <a:prstGeom prst="rect">
            <a:avLst/>
          </a:prstGeom>
          <a:noFill/>
          <a:ln/>
        </p:spPr>
        <p:txBody>
          <a:bodyPr wrap="square" lIns="0" tIns="0" rIns="0" bIns="0" rtlCol="0" anchor="ctr"/>
          <a:lstStyle/>
          <a:p>
            <a:pPr indent="0" marL="0">
              <a:buNone/>
            </a:pPr>
            <a:r>
              <a:rPr lang="en-US" sz="3000" dirty="0">
                <a:solidFill>
                  <a:srgbClr val="15314F"/>
                </a:solidFill>
                <a:latin typeface="Calibri Light" pitchFamily="34" charset="0"/>
                <a:ea typeface="Calibri Light" pitchFamily="34" charset="-122"/>
                <a:cs typeface="Calibri Light" pitchFamily="34" charset="-120"/>
              </a:rPr>
              <a:t>Liberate the IF — name philosophy, not event</a:t>
            </a:r>
            <a:endParaRPr lang="en-US" sz="3000" dirty="0"/>
          </a:p>
        </p:txBody>
      </p:sp>
      <p:sp>
        <p:nvSpPr>
          <p:cNvPr id="5" name="Text 2"/>
          <p:cNvSpPr/>
          <p:nvPr/>
        </p:nvSpPr>
        <p:spPr>
          <a:xfrm>
            <a:off x="502920" y="1554480"/>
            <a:ext cx="3886200" cy="274320"/>
          </a:xfrm>
          <a:prstGeom prst="rect">
            <a:avLst/>
          </a:prstGeom>
          <a:noFill/>
          <a:ln/>
        </p:spPr>
        <p:txBody>
          <a:bodyPr wrap="square" lIns="0" tIns="0" rIns="0" bIns="0" rtlCol="0" anchor="ctr"/>
          <a:lstStyle/>
          <a:p>
            <a:pPr indent="0" marL="0">
              <a:buNone/>
            </a:pPr>
            <a:r>
              <a:rPr lang="en-US" sz="1000" b="1" spc="200" kern="0" dirty="0">
                <a:solidFill>
                  <a:srgbClr val="D9534F"/>
                </a:solidFill>
                <a:latin typeface="Calibri" pitchFamily="34" charset="0"/>
                <a:ea typeface="Calibri" pitchFamily="34" charset="-122"/>
                <a:cs typeface="Calibri" pitchFamily="34" charset="-120"/>
              </a:rPr>
              <a:t>❌  WRONG</a:t>
            </a:r>
            <a:endParaRPr lang="en-US" sz="1000" dirty="0"/>
          </a:p>
        </p:txBody>
      </p:sp>
      <p:sp>
        <p:nvSpPr>
          <p:cNvPr id="6" name="Text 3"/>
          <p:cNvSpPr/>
          <p:nvPr/>
        </p:nvSpPr>
        <p:spPr>
          <a:xfrm>
            <a:off x="4754880" y="1554480"/>
            <a:ext cx="3886200" cy="274320"/>
          </a:xfrm>
          <a:prstGeom prst="rect">
            <a:avLst/>
          </a:prstGeom>
          <a:noFill/>
          <a:ln/>
        </p:spPr>
        <p:txBody>
          <a:bodyPr wrap="square" lIns="0" tIns="0" rIns="0" bIns="0" rtlCol="0" anchor="ctr"/>
          <a:lstStyle/>
          <a:p>
            <a:pPr indent="0" marL="0">
              <a:buNone/>
            </a:pPr>
            <a:r>
              <a:rPr lang="en-US" sz="1000" b="1" spc="200" kern="0" dirty="0">
                <a:solidFill>
                  <a:srgbClr val="4A9F7A"/>
                </a:solidFill>
                <a:latin typeface="Calibri" pitchFamily="34" charset="0"/>
                <a:ea typeface="Calibri" pitchFamily="34" charset="-122"/>
                <a:cs typeface="Calibri" pitchFamily="34" charset="-120"/>
              </a:rPr>
              <a:t>✓  RIGHT</a:t>
            </a:r>
            <a:endParaRPr lang="en-US" sz="1000" dirty="0"/>
          </a:p>
        </p:txBody>
      </p:sp>
      <p:sp>
        <p:nvSpPr>
          <p:cNvPr id="7" name="Shape 4"/>
          <p:cNvSpPr/>
          <p:nvPr/>
        </p:nvSpPr>
        <p:spPr>
          <a:xfrm>
            <a:off x="502920" y="1920240"/>
            <a:ext cx="3886200" cy="685800"/>
          </a:xfrm>
          <a:prstGeom prst="roundRect">
            <a:avLst>
              <a:gd name="adj" fmla="val 8000"/>
            </a:avLst>
          </a:prstGeom>
          <a:solidFill>
            <a:srgbClr val="FFF5F2"/>
          </a:solidFill>
          <a:ln w="6350">
            <a:solidFill>
              <a:srgbClr val="F0D5CC"/>
            </a:solidFill>
            <a:prstDash val="solid"/>
          </a:ln>
        </p:spPr>
      </p:sp>
      <p:sp>
        <p:nvSpPr>
          <p:cNvPr id="8" name="Text 5"/>
          <p:cNvSpPr/>
          <p:nvPr/>
        </p:nvSpPr>
        <p:spPr>
          <a:xfrm>
            <a:off x="640080" y="1965960"/>
            <a:ext cx="3611880" cy="594360"/>
          </a:xfrm>
          <a:prstGeom prst="rect">
            <a:avLst/>
          </a:prstGeom>
          <a:noFill/>
          <a:ln/>
        </p:spPr>
        <p:txBody>
          <a:bodyPr wrap="square" lIns="0" tIns="0" rIns="0" bIns="0" rtlCol="0" anchor="ctr"/>
          <a:lstStyle/>
          <a:p>
            <a:pPr indent="0" marL="0">
              <a:buNone/>
            </a:pPr>
            <a:r>
              <a:rPr lang="en-US" sz="1150" i="1" dirty="0">
                <a:solidFill>
                  <a:srgbClr val="15314F"/>
                </a:solidFill>
                <a:latin typeface="Calibri Light" pitchFamily="34" charset="0"/>
                <a:ea typeface="Calibri Light" pitchFamily="34" charset="-122"/>
                <a:cs typeface="Calibri Light" pitchFamily="34" charset="-120"/>
              </a:rPr>
              <a:t>If we run BJJ classes…</a:t>
            </a:r>
            <a:endParaRPr lang="en-US" sz="1150" dirty="0"/>
          </a:p>
        </p:txBody>
      </p:sp>
      <p:sp>
        <p:nvSpPr>
          <p:cNvPr id="9" name="Shape 6"/>
          <p:cNvSpPr/>
          <p:nvPr/>
        </p:nvSpPr>
        <p:spPr>
          <a:xfrm>
            <a:off x="4754880" y="1920240"/>
            <a:ext cx="3886200" cy="685800"/>
          </a:xfrm>
          <a:prstGeom prst="roundRect">
            <a:avLst>
              <a:gd name="adj" fmla="val 8000"/>
            </a:avLst>
          </a:prstGeom>
          <a:solidFill>
            <a:srgbClr val="F0F5F2"/>
          </a:solidFill>
          <a:ln w="6350">
            <a:solidFill>
              <a:srgbClr val="CFE0D6"/>
            </a:solidFill>
            <a:prstDash val="solid"/>
          </a:ln>
        </p:spPr>
      </p:sp>
      <p:sp>
        <p:nvSpPr>
          <p:cNvPr id="10" name="Text 7"/>
          <p:cNvSpPr/>
          <p:nvPr/>
        </p:nvSpPr>
        <p:spPr>
          <a:xfrm>
            <a:off x="4892040" y="1965960"/>
            <a:ext cx="3611880" cy="594360"/>
          </a:xfrm>
          <a:prstGeom prst="rect">
            <a:avLst/>
          </a:prstGeom>
          <a:noFill/>
          <a:ln/>
        </p:spPr>
        <p:txBody>
          <a:bodyPr wrap="square" lIns="0" tIns="0" rIns="0" bIns="0" rtlCol="0" anchor="ctr"/>
          <a:lstStyle/>
          <a:p>
            <a:pPr indent="0" marL="0">
              <a:buNone/>
            </a:pPr>
            <a:r>
              <a:rPr lang="en-US" sz="1150" i="1" dirty="0">
                <a:solidFill>
                  <a:srgbClr val="15314F"/>
                </a:solidFill>
                <a:latin typeface="Calibri Light" pitchFamily="34" charset="0"/>
                <a:ea typeface="Calibri Light" pitchFamily="34" charset="-122"/>
                <a:cs typeface="Calibri Light" pitchFamily="34" charset="-120"/>
              </a:rPr>
              <a:t>If we create consistent, faith-framed physical-discipline environments for young men…</a:t>
            </a:r>
            <a:endParaRPr lang="en-US" sz="1150" dirty="0"/>
          </a:p>
        </p:txBody>
      </p:sp>
      <p:sp>
        <p:nvSpPr>
          <p:cNvPr id="11" name="Shape 8"/>
          <p:cNvSpPr/>
          <p:nvPr/>
        </p:nvSpPr>
        <p:spPr>
          <a:xfrm>
            <a:off x="502920" y="2697480"/>
            <a:ext cx="3886200" cy="685800"/>
          </a:xfrm>
          <a:prstGeom prst="roundRect">
            <a:avLst>
              <a:gd name="adj" fmla="val 8000"/>
            </a:avLst>
          </a:prstGeom>
          <a:solidFill>
            <a:srgbClr val="FFF5F2"/>
          </a:solidFill>
          <a:ln w="6350">
            <a:solidFill>
              <a:srgbClr val="F0D5CC"/>
            </a:solidFill>
            <a:prstDash val="solid"/>
          </a:ln>
        </p:spPr>
      </p:sp>
      <p:sp>
        <p:nvSpPr>
          <p:cNvPr id="12" name="Text 9"/>
          <p:cNvSpPr/>
          <p:nvPr/>
        </p:nvSpPr>
        <p:spPr>
          <a:xfrm>
            <a:off x="640080" y="2743200"/>
            <a:ext cx="3611880" cy="594360"/>
          </a:xfrm>
          <a:prstGeom prst="rect">
            <a:avLst/>
          </a:prstGeom>
          <a:noFill/>
          <a:ln/>
        </p:spPr>
        <p:txBody>
          <a:bodyPr wrap="square" lIns="0" tIns="0" rIns="0" bIns="0" rtlCol="0" anchor="ctr"/>
          <a:lstStyle/>
          <a:p>
            <a:pPr indent="0" marL="0">
              <a:buNone/>
            </a:pPr>
            <a:r>
              <a:rPr lang="en-US" sz="1150" i="1" dirty="0">
                <a:solidFill>
                  <a:srgbClr val="15314F"/>
                </a:solidFill>
                <a:latin typeface="Calibri Light" pitchFamily="34" charset="0"/>
                <a:ea typeface="Calibri Light" pitchFamily="34" charset="-122"/>
                <a:cs typeface="Calibri Light" pitchFamily="34" charset="-120"/>
              </a:rPr>
              <a:t>If we host Youth Camp…</a:t>
            </a:r>
            <a:endParaRPr lang="en-US" sz="1150" dirty="0"/>
          </a:p>
        </p:txBody>
      </p:sp>
      <p:sp>
        <p:nvSpPr>
          <p:cNvPr id="13" name="Shape 10"/>
          <p:cNvSpPr/>
          <p:nvPr/>
        </p:nvSpPr>
        <p:spPr>
          <a:xfrm>
            <a:off x="4754880" y="2697480"/>
            <a:ext cx="3886200" cy="685800"/>
          </a:xfrm>
          <a:prstGeom prst="roundRect">
            <a:avLst>
              <a:gd name="adj" fmla="val 8000"/>
            </a:avLst>
          </a:prstGeom>
          <a:solidFill>
            <a:srgbClr val="F0F5F2"/>
          </a:solidFill>
          <a:ln w="6350">
            <a:solidFill>
              <a:srgbClr val="CFE0D6"/>
            </a:solidFill>
            <a:prstDash val="solid"/>
          </a:ln>
        </p:spPr>
      </p:sp>
      <p:sp>
        <p:nvSpPr>
          <p:cNvPr id="14" name="Text 11"/>
          <p:cNvSpPr/>
          <p:nvPr/>
        </p:nvSpPr>
        <p:spPr>
          <a:xfrm>
            <a:off x="4892040" y="2743200"/>
            <a:ext cx="3611880" cy="594360"/>
          </a:xfrm>
          <a:prstGeom prst="rect">
            <a:avLst/>
          </a:prstGeom>
          <a:noFill/>
          <a:ln/>
        </p:spPr>
        <p:txBody>
          <a:bodyPr wrap="square" lIns="0" tIns="0" rIns="0" bIns="0" rtlCol="0" anchor="ctr"/>
          <a:lstStyle/>
          <a:p>
            <a:pPr indent="0" marL="0">
              <a:buNone/>
            </a:pPr>
            <a:r>
              <a:rPr lang="en-US" sz="1150" i="1" dirty="0">
                <a:solidFill>
                  <a:srgbClr val="15314F"/>
                </a:solidFill>
                <a:latin typeface="Calibri Light" pitchFamily="34" charset="0"/>
                <a:ea typeface="Calibri Light" pitchFamily="34" charset="-122"/>
                <a:cs typeface="Calibri Light" pitchFamily="34" charset="-120"/>
              </a:rPr>
              <a:t>If we immerse vetted high schoolers in a spiritually structured, nature-based retreat with Islamic mentorship…</a:t>
            </a:r>
            <a:endParaRPr lang="en-US" sz="1150" dirty="0"/>
          </a:p>
        </p:txBody>
      </p:sp>
      <p:sp>
        <p:nvSpPr>
          <p:cNvPr id="15" name="Shape 12"/>
          <p:cNvSpPr/>
          <p:nvPr/>
        </p:nvSpPr>
        <p:spPr>
          <a:xfrm>
            <a:off x="502920" y="3474720"/>
            <a:ext cx="3886200" cy="685800"/>
          </a:xfrm>
          <a:prstGeom prst="roundRect">
            <a:avLst>
              <a:gd name="adj" fmla="val 8000"/>
            </a:avLst>
          </a:prstGeom>
          <a:solidFill>
            <a:srgbClr val="FFF5F2"/>
          </a:solidFill>
          <a:ln w="6350">
            <a:solidFill>
              <a:srgbClr val="F0D5CC"/>
            </a:solidFill>
            <a:prstDash val="solid"/>
          </a:ln>
        </p:spPr>
      </p:sp>
      <p:sp>
        <p:nvSpPr>
          <p:cNvPr id="16" name="Text 13"/>
          <p:cNvSpPr/>
          <p:nvPr/>
        </p:nvSpPr>
        <p:spPr>
          <a:xfrm>
            <a:off x="640080" y="3520440"/>
            <a:ext cx="3611880" cy="594360"/>
          </a:xfrm>
          <a:prstGeom prst="rect">
            <a:avLst/>
          </a:prstGeom>
          <a:noFill/>
          <a:ln/>
        </p:spPr>
        <p:txBody>
          <a:bodyPr wrap="square" lIns="0" tIns="0" rIns="0" bIns="0" rtlCol="0" anchor="ctr"/>
          <a:lstStyle/>
          <a:p>
            <a:pPr indent="0" marL="0">
              <a:buNone/>
            </a:pPr>
            <a:r>
              <a:rPr lang="en-US" sz="1150" i="1" dirty="0">
                <a:solidFill>
                  <a:srgbClr val="15314F"/>
                </a:solidFill>
                <a:latin typeface="Calibri Light" pitchFamily="34" charset="0"/>
                <a:ea typeface="Calibri Light" pitchFamily="34" charset="-122"/>
                <a:cs typeface="Calibri Light" pitchFamily="34" charset="-120"/>
              </a:rPr>
              <a:t>If we run Qiyam events…</a:t>
            </a:r>
            <a:endParaRPr lang="en-US" sz="1150" dirty="0"/>
          </a:p>
        </p:txBody>
      </p:sp>
      <p:sp>
        <p:nvSpPr>
          <p:cNvPr id="17" name="Shape 14"/>
          <p:cNvSpPr/>
          <p:nvPr/>
        </p:nvSpPr>
        <p:spPr>
          <a:xfrm>
            <a:off x="4754880" y="3474720"/>
            <a:ext cx="3886200" cy="685800"/>
          </a:xfrm>
          <a:prstGeom prst="roundRect">
            <a:avLst>
              <a:gd name="adj" fmla="val 8000"/>
            </a:avLst>
          </a:prstGeom>
          <a:solidFill>
            <a:srgbClr val="F0F5F2"/>
          </a:solidFill>
          <a:ln w="6350">
            <a:solidFill>
              <a:srgbClr val="CFE0D6"/>
            </a:solidFill>
            <a:prstDash val="solid"/>
          </a:ln>
        </p:spPr>
      </p:sp>
      <p:sp>
        <p:nvSpPr>
          <p:cNvPr id="18" name="Text 15"/>
          <p:cNvSpPr/>
          <p:nvPr/>
        </p:nvSpPr>
        <p:spPr>
          <a:xfrm>
            <a:off x="4892040" y="3520440"/>
            <a:ext cx="3611880" cy="594360"/>
          </a:xfrm>
          <a:prstGeom prst="rect">
            <a:avLst/>
          </a:prstGeom>
          <a:noFill/>
          <a:ln/>
        </p:spPr>
        <p:txBody>
          <a:bodyPr wrap="square" lIns="0" tIns="0" rIns="0" bIns="0" rtlCol="0" anchor="ctr"/>
          <a:lstStyle/>
          <a:p>
            <a:pPr indent="0" marL="0">
              <a:buNone/>
            </a:pPr>
            <a:r>
              <a:rPr lang="en-US" sz="1150" i="1" dirty="0">
                <a:solidFill>
                  <a:srgbClr val="15314F"/>
                </a:solidFill>
                <a:latin typeface="Calibri Light" pitchFamily="34" charset="0"/>
                <a:ea typeface="Calibri Light" pitchFamily="34" charset="-122"/>
                <a:cs typeface="Calibri Light" pitchFamily="34" charset="-120"/>
              </a:rPr>
              <a:t>If we create regular, structured opportunities for youth to experience night prayer in community with peers and mentors…</a:t>
            </a:r>
            <a:endParaRPr lang="en-US" sz="1150" dirty="0"/>
          </a:p>
        </p:txBody>
      </p:sp>
      <p:sp>
        <p:nvSpPr>
          <p:cNvPr id="19" name="Text 16"/>
          <p:cNvSpPr/>
          <p:nvPr/>
        </p:nvSpPr>
        <p:spPr>
          <a:xfrm>
            <a:off x="502920" y="4251960"/>
            <a:ext cx="8138160" cy="502920"/>
          </a:xfrm>
          <a:prstGeom prst="rect">
            <a:avLst/>
          </a:prstGeom>
          <a:noFill/>
          <a:ln/>
        </p:spPr>
        <p:txBody>
          <a:bodyPr wrap="square" lIns="0" tIns="0" rIns="0" bIns="0" rtlCol="0" anchor="ctr"/>
          <a:lstStyle/>
          <a:p>
            <a:pPr algn="ctr" indent="0" marL="0">
              <a:buNone/>
            </a:pPr>
            <a:r>
              <a:rPr lang="en-US" sz="1200" i="1" dirty="0">
                <a:solidFill>
                  <a:srgbClr val="5A6F82"/>
                </a:solidFill>
                <a:latin typeface="Calibri Light" pitchFamily="34" charset="0"/>
                <a:ea typeface="Calibri Light" pitchFamily="34" charset="-122"/>
                <a:cs typeface="Calibri Light" pitchFamily="34" charset="-120"/>
              </a:rPr>
              <a:t>The IF should only be true for your program. If you could replace your program's name with a different one and it still makes sense, it's too generic.</a:t>
            </a:r>
            <a:endParaRPr lang="en-US" sz="1200" dirty="0"/>
          </a:p>
        </p:txBody>
      </p:sp>
      <p:sp>
        <p:nvSpPr>
          <p:cNvPr id="20" name="Shape 17"/>
          <p:cNvSpPr/>
          <p:nvPr/>
        </p:nvSpPr>
        <p:spPr>
          <a:xfrm>
            <a:off x="502920" y="4732020"/>
            <a:ext cx="8138160" cy="0"/>
          </a:xfrm>
          <a:prstGeom prst="line">
            <a:avLst/>
          </a:prstGeom>
          <a:noFill/>
          <a:ln w="9525">
            <a:solidFill>
              <a:srgbClr val="DCE6EE"/>
            </a:solidFill>
            <a:prstDash val="solid"/>
          </a:ln>
        </p:spPr>
      </p:sp>
      <p:sp>
        <p:nvSpPr>
          <p:cNvPr id="21" name="Text 18"/>
          <p:cNvSpPr/>
          <p:nvPr/>
        </p:nvSpPr>
        <p:spPr>
          <a:xfrm>
            <a:off x="502920" y="4823460"/>
            <a:ext cx="3657600" cy="228600"/>
          </a:xfrm>
          <a:prstGeom prst="rect">
            <a:avLst/>
          </a:prstGeom>
          <a:noFill/>
          <a:ln/>
        </p:spPr>
        <p:txBody>
          <a:bodyPr wrap="square" lIns="0" tIns="0" rIns="0" bIns="0" rtlCol="0" anchor="ctr"/>
          <a:lstStyle/>
          <a:p>
            <a:pPr algn="l" indent="0" marL="0">
              <a:buNone/>
            </a:pPr>
            <a:r>
              <a:rPr lang="en-US" sz="900" dirty="0">
                <a:solidFill>
                  <a:srgbClr val="5A6F82"/>
                </a:solidFill>
                <a:latin typeface="Calibri" pitchFamily="34" charset="0"/>
                <a:ea typeface="Calibri" pitchFamily="34" charset="-122"/>
                <a:cs typeface="Calibri" pitchFamily="34" charset="-120"/>
              </a:rPr>
              <a:t>www.amalandcompany.com</a:t>
            </a:r>
            <a:endParaRPr lang="en-US" sz="900" dirty="0"/>
          </a:p>
        </p:txBody>
      </p:sp>
      <p:sp>
        <p:nvSpPr>
          <p:cNvPr id="22" name="Text 19"/>
          <p:cNvSpPr/>
          <p:nvPr/>
        </p:nvSpPr>
        <p:spPr>
          <a:xfrm>
            <a:off x="2743200" y="4823460"/>
            <a:ext cx="3657600" cy="228600"/>
          </a:xfrm>
          <a:prstGeom prst="rect">
            <a:avLst/>
          </a:prstGeom>
          <a:noFill/>
          <a:ln/>
        </p:spPr>
        <p:txBody>
          <a:bodyPr wrap="square" lIns="0" tIns="0" rIns="0" bIns="0" rtlCol="0" anchor="ctr"/>
          <a:lstStyle/>
          <a:p>
            <a:pPr algn="ctr" indent="0" marL="0">
              <a:buNone/>
            </a:pPr>
            <a:r>
              <a:rPr lang="en-US" sz="850" dirty="0">
                <a:solidFill>
                  <a:srgbClr val="9AAEC0"/>
                </a:solidFill>
                <a:latin typeface="Calibri" pitchFamily="34" charset="0"/>
                <a:ea typeface="Calibri" pitchFamily="34" charset="-122"/>
                <a:cs typeface="Calibri" pitchFamily="34" charset="-120"/>
              </a:rPr>
              <a:t>Module 2  ·  Q-Zero — The Hypothesis</a:t>
            </a:r>
            <a:endParaRPr lang="en-US" sz="850" dirty="0"/>
          </a:p>
        </p:txBody>
      </p:sp>
      <p:sp>
        <p:nvSpPr>
          <p:cNvPr id="23" name="Text 20"/>
          <p:cNvSpPr/>
          <p:nvPr/>
        </p:nvSpPr>
        <p:spPr>
          <a:xfrm>
            <a:off x="4983480" y="4823460"/>
            <a:ext cx="3657600" cy="228600"/>
          </a:xfrm>
          <a:prstGeom prst="rect">
            <a:avLst/>
          </a:prstGeom>
          <a:noFill/>
          <a:ln/>
        </p:spPr>
        <p:txBody>
          <a:bodyPr wrap="square" lIns="0" tIns="0" rIns="0" bIns="0" rtlCol="0" anchor="ctr"/>
          <a:lstStyle/>
          <a:p>
            <a:pPr algn="r" indent="0" marL="0">
              <a:buNone/>
            </a:pPr>
            <a:r>
              <a:rPr lang="en-US" sz="900" dirty="0">
                <a:solidFill>
                  <a:srgbClr val="5A6F82"/>
                </a:solidFill>
                <a:latin typeface="Calibri" pitchFamily="34" charset="0"/>
                <a:ea typeface="Calibri" pitchFamily="34" charset="-122"/>
                <a:cs typeface="Calibri" pitchFamily="34" charset="-120"/>
              </a:rPr>
              <a:t>Page 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589520" y="-45720"/>
            <a:ext cx="1554480" cy="777240"/>
          </a:xfrm>
          <a:prstGeom prst="rect">
            <a:avLst/>
          </a:prstGeom>
        </p:spPr>
      </p:pic>
      <p:sp>
        <p:nvSpPr>
          <p:cNvPr id="3" name="Text 0"/>
          <p:cNvSpPr/>
          <p:nvPr/>
        </p:nvSpPr>
        <p:spPr>
          <a:xfrm>
            <a:off x="502920" y="384048"/>
            <a:ext cx="5943600" cy="274320"/>
          </a:xfrm>
          <a:prstGeom prst="rect">
            <a:avLst/>
          </a:prstGeom>
          <a:noFill/>
          <a:ln/>
        </p:spPr>
        <p:txBody>
          <a:bodyPr wrap="square" lIns="0" tIns="0" rIns="0" bIns="0" rtlCol="0" anchor="ctr"/>
          <a:lstStyle/>
          <a:p>
            <a:pPr indent="0" marL="0">
              <a:buNone/>
            </a:pPr>
            <a:r>
              <a:rPr lang="en-US" sz="1050" dirty="0">
                <a:solidFill>
                  <a:srgbClr val="5A6F82"/>
                </a:solidFill>
                <a:latin typeface="Calibri" pitchFamily="34" charset="0"/>
                <a:ea typeface="Calibri" pitchFamily="34" charset="-122"/>
                <a:cs typeface="Calibri" pitchFamily="34" charset="-120"/>
              </a:rPr>
              <a:t>Law 02</a:t>
            </a:r>
            <a:endParaRPr lang="en-US" sz="1050" dirty="0"/>
          </a:p>
        </p:txBody>
      </p:sp>
      <p:sp>
        <p:nvSpPr>
          <p:cNvPr id="4" name="Text 1"/>
          <p:cNvSpPr/>
          <p:nvPr/>
        </p:nvSpPr>
        <p:spPr>
          <a:xfrm>
            <a:off x="502920" y="640080"/>
            <a:ext cx="7315200" cy="868680"/>
          </a:xfrm>
          <a:prstGeom prst="rect">
            <a:avLst/>
          </a:prstGeom>
          <a:noFill/>
          <a:ln/>
        </p:spPr>
        <p:txBody>
          <a:bodyPr wrap="square" lIns="0" tIns="0" rIns="0" bIns="0" rtlCol="0" anchor="ctr"/>
          <a:lstStyle/>
          <a:p>
            <a:pPr indent="0" marL="0">
              <a:buNone/>
            </a:pPr>
            <a:r>
              <a:rPr lang="en-US" sz="3000" dirty="0">
                <a:solidFill>
                  <a:srgbClr val="15314F"/>
                </a:solidFill>
                <a:latin typeface="Calibri Light" pitchFamily="34" charset="0"/>
                <a:ea typeface="Calibri Light" pitchFamily="34" charset="-122"/>
                <a:cs typeface="Calibri Light" pitchFamily="34" charset="-120"/>
              </a:rPr>
              <a:t>Demand a Behavioral THEN — change, not delivery</a:t>
            </a:r>
            <a:endParaRPr lang="en-US" sz="3000" dirty="0"/>
          </a:p>
        </p:txBody>
      </p:sp>
      <p:sp>
        <p:nvSpPr>
          <p:cNvPr id="5" name="Text 2"/>
          <p:cNvSpPr/>
          <p:nvPr/>
        </p:nvSpPr>
        <p:spPr>
          <a:xfrm>
            <a:off x="502920" y="1554480"/>
            <a:ext cx="3886200" cy="274320"/>
          </a:xfrm>
          <a:prstGeom prst="rect">
            <a:avLst/>
          </a:prstGeom>
          <a:noFill/>
          <a:ln/>
        </p:spPr>
        <p:txBody>
          <a:bodyPr wrap="square" lIns="0" tIns="0" rIns="0" bIns="0" rtlCol="0" anchor="ctr"/>
          <a:lstStyle/>
          <a:p>
            <a:pPr indent="0" marL="0">
              <a:buNone/>
            </a:pPr>
            <a:r>
              <a:rPr lang="en-US" sz="1000" b="1" spc="200" kern="0" dirty="0">
                <a:solidFill>
                  <a:srgbClr val="D9534F"/>
                </a:solidFill>
                <a:latin typeface="Calibri" pitchFamily="34" charset="0"/>
                <a:ea typeface="Calibri" pitchFamily="34" charset="-122"/>
                <a:cs typeface="Calibri" pitchFamily="34" charset="-120"/>
              </a:rPr>
              <a:t>❌  WRONG</a:t>
            </a:r>
            <a:endParaRPr lang="en-US" sz="1000" dirty="0"/>
          </a:p>
        </p:txBody>
      </p:sp>
      <p:sp>
        <p:nvSpPr>
          <p:cNvPr id="6" name="Text 3"/>
          <p:cNvSpPr/>
          <p:nvPr/>
        </p:nvSpPr>
        <p:spPr>
          <a:xfrm>
            <a:off x="4754880" y="1554480"/>
            <a:ext cx="3886200" cy="274320"/>
          </a:xfrm>
          <a:prstGeom prst="rect">
            <a:avLst/>
          </a:prstGeom>
          <a:noFill/>
          <a:ln/>
        </p:spPr>
        <p:txBody>
          <a:bodyPr wrap="square" lIns="0" tIns="0" rIns="0" bIns="0" rtlCol="0" anchor="ctr"/>
          <a:lstStyle/>
          <a:p>
            <a:pPr indent="0" marL="0">
              <a:buNone/>
            </a:pPr>
            <a:r>
              <a:rPr lang="en-US" sz="1000" b="1" spc="200" kern="0" dirty="0">
                <a:solidFill>
                  <a:srgbClr val="4A9F7A"/>
                </a:solidFill>
                <a:latin typeface="Calibri" pitchFamily="34" charset="0"/>
                <a:ea typeface="Calibri" pitchFamily="34" charset="-122"/>
                <a:cs typeface="Calibri" pitchFamily="34" charset="-120"/>
              </a:rPr>
              <a:t>✓  RIGHT</a:t>
            </a:r>
            <a:endParaRPr lang="en-US" sz="1000" dirty="0"/>
          </a:p>
        </p:txBody>
      </p:sp>
      <p:sp>
        <p:nvSpPr>
          <p:cNvPr id="7" name="Shape 4"/>
          <p:cNvSpPr/>
          <p:nvPr/>
        </p:nvSpPr>
        <p:spPr>
          <a:xfrm>
            <a:off x="502920" y="1920240"/>
            <a:ext cx="3886200" cy="685800"/>
          </a:xfrm>
          <a:prstGeom prst="roundRect">
            <a:avLst>
              <a:gd name="adj" fmla="val 8000"/>
            </a:avLst>
          </a:prstGeom>
          <a:solidFill>
            <a:srgbClr val="FFF5F2"/>
          </a:solidFill>
          <a:ln w="6350">
            <a:solidFill>
              <a:srgbClr val="F0D5CC"/>
            </a:solidFill>
            <a:prstDash val="solid"/>
          </a:ln>
        </p:spPr>
      </p:sp>
      <p:sp>
        <p:nvSpPr>
          <p:cNvPr id="8" name="Text 5"/>
          <p:cNvSpPr/>
          <p:nvPr/>
        </p:nvSpPr>
        <p:spPr>
          <a:xfrm>
            <a:off x="640080" y="1965960"/>
            <a:ext cx="3611880" cy="594360"/>
          </a:xfrm>
          <a:prstGeom prst="rect">
            <a:avLst/>
          </a:prstGeom>
          <a:noFill/>
          <a:ln/>
        </p:spPr>
        <p:txBody>
          <a:bodyPr wrap="square" lIns="0" tIns="0" rIns="0" bIns="0" rtlCol="0" anchor="ctr"/>
          <a:lstStyle/>
          <a:p>
            <a:pPr indent="0" marL="0">
              <a:buNone/>
            </a:pPr>
            <a:r>
              <a:rPr lang="en-US" sz="1150" i="1" dirty="0">
                <a:solidFill>
                  <a:srgbClr val="15314F"/>
                </a:solidFill>
                <a:latin typeface="Calibri Light" pitchFamily="34" charset="0"/>
                <a:ea typeface="Calibri Light" pitchFamily="34" charset="-122"/>
                <a:cs typeface="Calibri Light" pitchFamily="34" charset="-120"/>
              </a:rPr>
              <a:t>…then 100 youth will attend camp.</a:t>
            </a:r>
            <a:endParaRPr lang="en-US" sz="1150" dirty="0"/>
          </a:p>
        </p:txBody>
      </p:sp>
      <p:sp>
        <p:nvSpPr>
          <p:cNvPr id="9" name="Shape 6"/>
          <p:cNvSpPr/>
          <p:nvPr/>
        </p:nvSpPr>
        <p:spPr>
          <a:xfrm>
            <a:off x="4754880" y="1920240"/>
            <a:ext cx="3886200" cy="685800"/>
          </a:xfrm>
          <a:prstGeom prst="roundRect">
            <a:avLst>
              <a:gd name="adj" fmla="val 8000"/>
            </a:avLst>
          </a:prstGeom>
          <a:solidFill>
            <a:srgbClr val="F0F5F2"/>
          </a:solidFill>
          <a:ln w="6350">
            <a:solidFill>
              <a:srgbClr val="CFE0D6"/>
            </a:solidFill>
            <a:prstDash val="solid"/>
          </a:ln>
        </p:spPr>
      </p:sp>
      <p:sp>
        <p:nvSpPr>
          <p:cNvPr id="10" name="Text 7"/>
          <p:cNvSpPr/>
          <p:nvPr/>
        </p:nvSpPr>
        <p:spPr>
          <a:xfrm>
            <a:off x="4892040" y="1965960"/>
            <a:ext cx="3611880" cy="594360"/>
          </a:xfrm>
          <a:prstGeom prst="rect">
            <a:avLst/>
          </a:prstGeom>
          <a:noFill/>
          <a:ln/>
        </p:spPr>
        <p:txBody>
          <a:bodyPr wrap="square" lIns="0" tIns="0" rIns="0" bIns="0" rtlCol="0" anchor="ctr"/>
          <a:lstStyle/>
          <a:p>
            <a:pPr indent="0" marL="0">
              <a:buNone/>
            </a:pPr>
            <a:r>
              <a:rPr lang="en-US" sz="1150" i="1" dirty="0">
                <a:solidFill>
                  <a:srgbClr val="15314F"/>
                </a:solidFill>
                <a:latin typeface="Calibri Light" pitchFamily="34" charset="0"/>
                <a:ea typeface="Calibri Light" pitchFamily="34" charset="-122"/>
                <a:cs typeface="Calibri Light" pitchFamily="34" charset="-120"/>
              </a:rPr>
              <a:t>…then youth will form lasting Islamic bonds and adopt spiritual habits they continue independently after camp.</a:t>
            </a:r>
            <a:endParaRPr lang="en-US" sz="1150" dirty="0"/>
          </a:p>
        </p:txBody>
      </p:sp>
      <p:sp>
        <p:nvSpPr>
          <p:cNvPr id="11" name="Shape 8"/>
          <p:cNvSpPr/>
          <p:nvPr/>
        </p:nvSpPr>
        <p:spPr>
          <a:xfrm>
            <a:off x="502920" y="2697480"/>
            <a:ext cx="3886200" cy="685800"/>
          </a:xfrm>
          <a:prstGeom prst="roundRect">
            <a:avLst>
              <a:gd name="adj" fmla="val 8000"/>
            </a:avLst>
          </a:prstGeom>
          <a:solidFill>
            <a:srgbClr val="FFF5F2"/>
          </a:solidFill>
          <a:ln w="6350">
            <a:solidFill>
              <a:srgbClr val="F0D5CC"/>
            </a:solidFill>
            <a:prstDash val="solid"/>
          </a:ln>
        </p:spPr>
      </p:sp>
      <p:sp>
        <p:nvSpPr>
          <p:cNvPr id="12" name="Text 9"/>
          <p:cNvSpPr/>
          <p:nvPr/>
        </p:nvSpPr>
        <p:spPr>
          <a:xfrm>
            <a:off x="640080" y="2743200"/>
            <a:ext cx="3611880" cy="594360"/>
          </a:xfrm>
          <a:prstGeom prst="rect">
            <a:avLst/>
          </a:prstGeom>
          <a:noFill/>
          <a:ln/>
        </p:spPr>
        <p:txBody>
          <a:bodyPr wrap="square" lIns="0" tIns="0" rIns="0" bIns="0" rtlCol="0" anchor="ctr"/>
          <a:lstStyle/>
          <a:p>
            <a:pPr indent="0" marL="0">
              <a:buNone/>
            </a:pPr>
            <a:r>
              <a:rPr lang="en-US" sz="1150" i="1" dirty="0">
                <a:solidFill>
                  <a:srgbClr val="15314F"/>
                </a:solidFill>
                <a:latin typeface="Calibri Light" pitchFamily="34" charset="0"/>
                <a:ea typeface="Calibri Light" pitchFamily="34" charset="-122"/>
                <a:cs typeface="Calibri Light" pitchFamily="34" charset="-120"/>
              </a:rPr>
              <a:t>…then we will serve 300 families per month.</a:t>
            </a:r>
            <a:endParaRPr lang="en-US" sz="1150" dirty="0"/>
          </a:p>
        </p:txBody>
      </p:sp>
      <p:sp>
        <p:nvSpPr>
          <p:cNvPr id="13" name="Shape 10"/>
          <p:cNvSpPr/>
          <p:nvPr/>
        </p:nvSpPr>
        <p:spPr>
          <a:xfrm>
            <a:off x="4754880" y="2697480"/>
            <a:ext cx="3886200" cy="685800"/>
          </a:xfrm>
          <a:prstGeom prst="roundRect">
            <a:avLst>
              <a:gd name="adj" fmla="val 8000"/>
            </a:avLst>
          </a:prstGeom>
          <a:solidFill>
            <a:srgbClr val="F0F5F2"/>
          </a:solidFill>
          <a:ln w="6350">
            <a:solidFill>
              <a:srgbClr val="CFE0D6"/>
            </a:solidFill>
            <a:prstDash val="solid"/>
          </a:ln>
        </p:spPr>
      </p:sp>
      <p:sp>
        <p:nvSpPr>
          <p:cNvPr id="14" name="Text 11"/>
          <p:cNvSpPr/>
          <p:nvPr/>
        </p:nvSpPr>
        <p:spPr>
          <a:xfrm>
            <a:off x="4892040" y="2743200"/>
            <a:ext cx="3611880" cy="594360"/>
          </a:xfrm>
          <a:prstGeom prst="rect">
            <a:avLst/>
          </a:prstGeom>
          <a:noFill/>
          <a:ln/>
        </p:spPr>
        <p:txBody>
          <a:bodyPr wrap="square" lIns="0" tIns="0" rIns="0" bIns="0" rtlCol="0" anchor="ctr"/>
          <a:lstStyle/>
          <a:p>
            <a:pPr indent="0" marL="0">
              <a:buNone/>
            </a:pPr>
            <a:r>
              <a:rPr lang="en-US" sz="1150" i="1" dirty="0">
                <a:solidFill>
                  <a:srgbClr val="15314F"/>
                </a:solidFill>
                <a:latin typeface="Calibri Light" pitchFamily="34" charset="0"/>
                <a:ea typeface="Calibri Light" pitchFamily="34" charset="-122"/>
                <a:cs typeface="Calibri Light" pitchFamily="34" charset="-120"/>
              </a:rPr>
              <a:t>…then families will have stronger support networks and greater capacity to navigate community challenges.</a:t>
            </a:r>
            <a:endParaRPr lang="en-US" sz="1150" dirty="0"/>
          </a:p>
        </p:txBody>
      </p:sp>
      <p:sp>
        <p:nvSpPr>
          <p:cNvPr id="15" name="Shape 12"/>
          <p:cNvSpPr/>
          <p:nvPr/>
        </p:nvSpPr>
        <p:spPr>
          <a:xfrm>
            <a:off x="502920" y="3474720"/>
            <a:ext cx="3886200" cy="685800"/>
          </a:xfrm>
          <a:prstGeom prst="roundRect">
            <a:avLst>
              <a:gd name="adj" fmla="val 8000"/>
            </a:avLst>
          </a:prstGeom>
          <a:solidFill>
            <a:srgbClr val="FFF5F2"/>
          </a:solidFill>
          <a:ln w="6350">
            <a:solidFill>
              <a:srgbClr val="F0D5CC"/>
            </a:solidFill>
            <a:prstDash val="solid"/>
          </a:ln>
        </p:spPr>
      </p:sp>
      <p:sp>
        <p:nvSpPr>
          <p:cNvPr id="16" name="Text 13"/>
          <p:cNvSpPr/>
          <p:nvPr/>
        </p:nvSpPr>
        <p:spPr>
          <a:xfrm>
            <a:off x="640080" y="3520440"/>
            <a:ext cx="3611880" cy="594360"/>
          </a:xfrm>
          <a:prstGeom prst="rect">
            <a:avLst/>
          </a:prstGeom>
          <a:noFill/>
          <a:ln/>
        </p:spPr>
        <p:txBody>
          <a:bodyPr wrap="square" lIns="0" tIns="0" rIns="0" bIns="0" rtlCol="0" anchor="ctr"/>
          <a:lstStyle/>
          <a:p>
            <a:pPr indent="0" marL="0">
              <a:buNone/>
            </a:pPr>
            <a:r>
              <a:rPr lang="en-US" sz="1150" i="1" dirty="0">
                <a:solidFill>
                  <a:srgbClr val="15314F"/>
                </a:solidFill>
                <a:latin typeface="Calibri Light" pitchFamily="34" charset="0"/>
                <a:ea typeface="Calibri Light" pitchFamily="34" charset="-122"/>
                <a:cs typeface="Calibri Light" pitchFamily="34" charset="-120"/>
              </a:rPr>
              <a:t>…then youth will participate in BJJ twice a week.</a:t>
            </a:r>
            <a:endParaRPr lang="en-US" sz="1150" dirty="0"/>
          </a:p>
        </p:txBody>
      </p:sp>
      <p:sp>
        <p:nvSpPr>
          <p:cNvPr id="17" name="Shape 14"/>
          <p:cNvSpPr/>
          <p:nvPr/>
        </p:nvSpPr>
        <p:spPr>
          <a:xfrm>
            <a:off x="4754880" y="3474720"/>
            <a:ext cx="3886200" cy="685800"/>
          </a:xfrm>
          <a:prstGeom prst="roundRect">
            <a:avLst>
              <a:gd name="adj" fmla="val 8000"/>
            </a:avLst>
          </a:prstGeom>
          <a:solidFill>
            <a:srgbClr val="F0F5F2"/>
          </a:solidFill>
          <a:ln w="6350">
            <a:solidFill>
              <a:srgbClr val="CFE0D6"/>
            </a:solidFill>
            <a:prstDash val="solid"/>
          </a:ln>
        </p:spPr>
      </p:sp>
      <p:sp>
        <p:nvSpPr>
          <p:cNvPr id="18" name="Text 15"/>
          <p:cNvSpPr/>
          <p:nvPr/>
        </p:nvSpPr>
        <p:spPr>
          <a:xfrm>
            <a:off x="4892040" y="3520440"/>
            <a:ext cx="3611880" cy="594360"/>
          </a:xfrm>
          <a:prstGeom prst="rect">
            <a:avLst/>
          </a:prstGeom>
          <a:noFill/>
          <a:ln/>
        </p:spPr>
        <p:txBody>
          <a:bodyPr wrap="square" lIns="0" tIns="0" rIns="0" bIns="0" rtlCol="0" anchor="ctr"/>
          <a:lstStyle/>
          <a:p>
            <a:pPr indent="0" marL="0">
              <a:buNone/>
            </a:pPr>
            <a:r>
              <a:rPr lang="en-US" sz="1150" i="1" dirty="0">
                <a:solidFill>
                  <a:srgbClr val="15314F"/>
                </a:solidFill>
                <a:latin typeface="Calibri Light" pitchFamily="34" charset="0"/>
                <a:ea typeface="Calibri Light" pitchFamily="34" charset="-122"/>
                <a:cs typeface="Calibri Light" pitchFamily="34" charset="-120"/>
              </a:rPr>
              <a:t>…then young men will develop self-discipline and emotional regulation that extends into their daily lives.</a:t>
            </a:r>
            <a:endParaRPr lang="en-US" sz="1150" dirty="0"/>
          </a:p>
        </p:txBody>
      </p:sp>
      <p:sp>
        <p:nvSpPr>
          <p:cNvPr id="19" name="Text 16"/>
          <p:cNvSpPr/>
          <p:nvPr/>
        </p:nvSpPr>
        <p:spPr>
          <a:xfrm>
            <a:off x="502920" y="4251960"/>
            <a:ext cx="8138160" cy="502920"/>
          </a:xfrm>
          <a:prstGeom prst="rect">
            <a:avLst/>
          </a:prstGeom>
          <a:noFill/>
          <a:ln/>
        </p:spPr>
        <p:txBody>
          <a:bodyPr wrap="square" lIns="0" tIns="0" rIns="0" bIns="0" rtlCol="0" anchor="ctr"/>
          <a:lstStyle/>
          <a:p>
            <a:pPr algn="ctr" indent="0" marL="0">
              <a:buNone/>
            </a:pPr>
            <a:r>
              <a:rPr lang="en-US" sz="1200" i="1" dirty="0">
                <a:solidFill>
                  <a:srgbClr val="5A6F82"/>
                </a:solidFill>
                <a:latin typeface="Calibri Light" pitchFamily="34" charset="0"/>
                <a:ea typeface="Calibri Light" pitchFamily="34" charset="-122"/>
                <a:cs typeface="Calibri Light" pitchFamily="34" charset="-120"/>
              </a:rPr>
              <a:t>Ask yourself: “If my program ran perfectly but nothing changed in anyone's life, would this THEN still be true?” If yes, it's still an output.</a:t>
            </a:r>
            <a:endParaRPr lang="en-US" sz="1200" dirty="0"/>
          </a:p>
        </p:txBody>
      </p:sp>
      <p:sp>
        <p:nvSpPr>
          <p:cNvPr id="20" name="Shape 17"/>
          <p:cNvSpPr/>
          <p:nvPr/>
        </p:nvSpPr>
        <p:spPr>
          <a:xfrm>
            <a:off x="502920" y="4732020"/>
            <a:ext cx="8138160" cy="0"/>
          </a:xfrm>
          <a:prstGeom prst="line">
            <a:avLst/>
          </a:prstGeom>
          <a:noFill/>
          <a:ln w="9525">
            <a:solidFill>
              <a:srgbClr val="DCE6EE"/>
            </a:solidFill>
            <a:prstDash val="solid"/>
          </a:ln>
        </p:spPr>
      </p:sp>
      <p:sp>
        <p:nvSpPr>
          <p:cNvPr id="21" name="Text 18"/>
          <p:cNvSpPr/>
          <p:nvPr/>
        </p:nvSpPr>
        <p:spPr>
          <a:xfrm>
            <a:off x="502920" y="4823460"/>
            <a:ext cx="3657600" cy="228600"/>
          </a:xfrm>
          <a:prstGeom prst="rect">
            <a:avLst/>
          </a:prstGeom>
          <a:noFill/>
          <a:ln/>
        </p:spPr>
        <p:txBody>
          <a:bodyPr wrap="square" lIns="0" tIns="0" rIns="0" bIns="0" rtlCol="0" anchor="ctr"/>
          <a:lstStyle/>
          <a:p>
            <a:pPr algn="l" indent="0" marL="0">
              <a:buNone/>
            </a:pPr>
            <a:r>
              <a:rPr lang="en-US" sz="900" dirty="0">
                <a:solidFill>
                  <a:srgbClr val="5A6F82"/>
                </a:solidFill>
                <a:latin typeface="Calibri" pitchFamily="34" charset="0"/>
                <a:ea typeface="Calibri" pitchFamily="34" charset="-122"/>
                <a:cs typeface="Calibri" pitchFamily="34" charset="-120"/>
              </a:rPr>
              <a:t>www.amalandcompany.com</a:t>
            </a:r>
            <a:endParaRPr lang="en-US" sz="900" dirty="0"/>
          </a:p>
        </p:txBody>
      </p:sp>
      <p:sp>
        <p:nvSpPr>
          <p:cNvPr id="22" name="Text 19"/>
          <p:cNvSpPr/>
          <p:nvPr/>
        </p:nvSpPr>
        <p:spPr>
          <a:xfrm>
            <a:off x="2743200" y="4823460"/>
            <a:ext cx="3657600" cy="228600"/>
          </a:xfrm>
          <a:prstGeom prst="rect">
            <a:avLst/>
          </a:prstGeom>
          <a:noFill/>
          <a:ln/>
        </p:spPr>
        <p:txBody>
          <a:bodyPr wrap="square" lIns="0" tIns="0" rIns="0" bIns="0" rtlCol="0" anchor="ctr"/>
          <a:lstStyle/>
          <a:p>
            <a:pPr algn="ctr" indent="0" marL="0">
              <a:buNone/>
            </a:pPr>
            <a:r>
              <a:rPr lang="en-US" sz="850" dirty="0">
                <a:solidFill>
                  <a:srgbClr val="9AAEC0"/>
                </a:solidFill>
                <a:latin typeface="Calibri" pitchFamily="34" charset="0"/>
                <a:ea typeface="Calibri" pitchFamily="34" charset="-122"/>
                <a:cs typeface="Calibri" pitchFamily="34" charset="-120"/>
              </a:rPr>
              <a:t>Module 2  ·  Q-Zero — The Hypothesis</a:t>
            </a:r>
            <a:endParaRPr lang="en-US" sz="850" dirty="0"/>
          </a:p>
        </p:txBody>
      </p:sp>
      <p:sp>
        <p:nvSpPr>
          <p:cNvPr id="23" name="Text 20"/>
          <p:cNvSpPr/>
          <p:nvPr/>
        </p:nvSpPr>
        <p:spPr>
          <a:xfrm>
            <a:off x="4983480" y="4823460"/>
            <a:ext cx="3657600" cy="228600"/>
          </a:xfrm>
          <a:prstGeom prst="rect">
            <a:avLst/>
          </a:prstGeom>
          <a:noFill/>
          <a:ln/>
        </p:spPr>
        <p:txBody>
          <a:bodyPr wrap="square" lIns="0" tIns="0" rIns="0" bIns="0" rtlCol="0" anchor="ctr"/>
          <a:lstStyle/>
          <a:p>
            <a:pPr algn="r" indent="0" marL="0">
              <a:buNone/>
            </a:pPr>
            <a:r>
              <a:rPr lang="en-US" sz="900" dirty="0">
                <a:solidFill>
                  <a:srgbClr val="5A6F82"/>
                </a:solidFill>
                <a:latin typeface="Calibri" pitchFamily="34" charset="0"/>
                <a:ea typeface="Calibri" pitchFamily="34" charset="-122"/>
                <a:cs typeface="Calibri" pitchFamily="34" charset="-120"/>
              </a:rPr>
              <a:t>Page 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589520" y="-45720"/>
            <a:ext cx="1554480" cy="777240"/>
          </a:xfrm>
          <a:prstGeom prst="rect">
            <a:avLst/>
          </a:prstGeom>
        </p:spPr>
      </p:pic>
      <p:sp>
        <p:nvSpPr>
          <p:cNvPr id="3" name="Text 0"/>
          <p:cNvSpPr/>
          <p:nvPr/>
        </p:nvSpPr>
        <p:spPr>
          <a:xfrm>
            <a:off x="502920" y="384048"/>
            <a:ext cx="5943600" cy="274320"/>
          </a:xfrm>
          <a:prstGeom prst="rect">
            <a:avLst/>
          </a:prstGeom>
          <a:noFill/>
          <a:ln/>
        </p:spPr>
        <p:txBody>
          <a:bodyPr wrap="square" lIns="0" tIns="0" rIns="0" bIns="0" rtlCol="0" anchor="ctr"/>
          <a:lstStyle/>
          <a:p>
            <a:pPr indent="0" marL="0">
              <a:buNone/>
            </a:pPr>
            <a:r>
              <a:rPr lang="en-US" sz="1050" dirty="0">
                <a:solidFill>
                  <a:srgbClr val="5A6F82"/>
                </a:solidFill>
                <a:latin typeface="Calibri" pitchFamily="34" charset="0"/>
                <a:ea typeface="Calibri" pitchFamily="34" charset="-122"/>
                <a:cs typeface="Calibri" pitchFamily="34" charset="-120"/>
              </a:rPr>
              <a:t>Law 03</a:t>
            </a:r>
            <a:endParaRPr lang="en-US" sz="1050" dirty="0"/>
          </a:p>
        </p:txBody>
      </p:sp>
      <p:sp>
        <p:nvSpPr>
          <p:cNvPr id="4" name="Text 1"/>
          <p:cNvSpPr/>
          <p:nvPr/>
        </p:nvSpPr>
        <p:spPr>
          <a:xfrm>
            <a:off x="502920" y="640080"/>
            <a:ext cx="7315200" cy="868680"/>
          </a:xfrm>
          <a:prstGeom prst="rect">
            <a:avLst/>
          </a:prstGeom>
          <a:noFill/>
          <a:ln/>
        </p:spPr>
        <p:txBody>
          <a:bodyPr wrap="square" lIns="0" tIns="0" rIns="0" bIns="0" rtlCol="0" anchor="ctr"/>
          <a:lstStyle/>
          <a:p>
            <a:pPr indent="0" marL="0">
              <a:buNone/>
            </a:pPr>
            <a:r>
              <a:rPr lang="en-US" sz="3000" dirty="0">
                <a:solidFill>
                  <a:srgbClr val="15314F"/>
                </a:solidFill>
                <a:latin typeface="Calibri Light" pitchFamily="34" charset="0"/>
                <a:ea typeface="Calibri Light" pitchFamily="34" charset="-122"/>
                <a:cs typeface="Calibri Light" pitchFamily="34" charset="-120"/>
              </a:rPr>
              <a:t>Tie to Mission — does MASGLA's fingerprint show?</a:t>
            </a:r>
            <a:endParaRPr lang="en-US" sz="3000" dirty="0"/>
          </a:p>
        </p:txBody>
      </p:sp>
      <p:sp>
        <p:nvSpPr>
          <p:cNvPr id="5" name="Text 2"/>
          <p:cNvSpPr/>
          <p:nvPr/>
        </p:nvSpPr>
        <p:spPr>
          <a:xfrm>
            <a:off x="502920" y="1554480"/>
            <a:ext cx="3886200" cy="274320"/>
          </a:xfrm>
          <a:prstGeom prst="rect">
            <a:avLst/>
          </a:prstGeom>
          <a:noFill/>
          <a:ln/>
        </p:spPr>
        <p:txBody>
          <a:bodyPr wrap="square" lIns="0" tIns="0" rIns="0" bIns="0" rtlCol="0" anchor="ctr"/>
          <a:lstStyle/>
          <a:p>
            <a:pPr indent="0" marL="0">
              <a:buNone/>
            </a:pPr>
            <a:r>
              <a:rPr lang="en-US" sz="1000" b="1" spc="200" kern="0" dirty="0">
                <a:solidFill>
                  <a:srgbClr val="D9534F"/>
                </a:solidFill>
                <a:latin typeface="Calibri" pitchFamily="34" charset="0"/>
                <a:ea typeface="Calibri" pitchFamily="34" charset="-122"/>
                <a:cs typeface="Calibri" pitchFamily="34" charset="-120"/>
              </a:rPr>
              <a:t>❌  WRONG</a:t>
            </a:r>
            <a:endParaRPr lang="en-US" sz="1000" dirty="0"/>
          </a:p>
        </p:txBody>
      </p:sp>
      <p:sp>
        <p:nvSpPr>
          <p:cNvPr id="6" name="Text 3"/>
          <p:cNvSpPr/>
          <p:nvPr/>
        </p:nvSpPr>
        <p:spPr>
          <a:xfrm>
            <a:off x="4754880" y="1554480"/>
            <a:ext cx="3886200" cy="274320"/>
          </a:xfrm>
          <a:prstGeom prst="rect">
            <a:avLst/>
          </a:prstGeom>
          <a:noFill/>
          <a:ln/>
        </p:spPr>
        <p:txBody>
          <a:bodyPr wrap="square" lIns="0" tIns="0" rIns="0" bIns="0" rtlCol="0" anchor="ctr"/>
          <a:lstStyle/>
          <a:p>
            <a:pPr indent="0" marL="0">
              <a:buNone/>
            </a:pPr>
            <a:r>
              <a:rPr lang="en-US" sz="1000" b="1" spc="200" kern="0" dirty="0">
                <a:solidFill>
                  <a:srgbClr val="4A9F7A"/>
                </a:solidFill>
                <a:latin typeface="Calibri" pitchFamily="34" charset="0"/>
                <a:ea typeface="Calibri" pitchFamily="34" charset="-122"/>
                <a:cs typeface="Calibri" pitchFamily="34" charset="-120"/>
              </a:rPr>
              <a:t>✓  RIGHT</a:t>
            </a:r>
            <a:endParaRPr lang="en-US" sz="1000" dirty="0"/>
          </a:p>
        </p:txBody>
      </p:sp>
      <p:sp>
        <p:nvSpPr>
          <p:cNvPr id="7" name="Shape 4"/>
          <p:cNvSpPr/>
          <p:nvPr/>
        </p:nvSpPr>
        <p:spPr>
          <a:xfrm>
            <a:off x="502920" y="1920240"/>
            <a:ext cx="3886200" cy="685800"/>
          </a:xfrm>
          <a:prstGeom prst="roundRect">
            <a:avLst>
              <a:gd name="adj" fmla="val 8000"/>
            </a:avLst>
          </a:prstGeom>
          <a:solidFill>
            <a:srgbClr val="FFF5F2"/>
          </a:solidFill>
          <a:ln w="6350">
            <a:solidFill>
              <a:srgbClr val="F0D5CC"/>
            </a:solidFill>
            <a:prstDash val="solid"/>
          </a:ln>
        </p:spPr>
      </p:sp>
      <p:sp>
        <p:nvSpPr>
          <p:cNvPr id="8" name="Text 5"/>
          <p:cNvSpPr/>
          <p:nvPr/>
        </p:nvSpPr>
        <p:spPr>
          <a:xfrm>
            <a:off x="640080" y="1965960"/>
            <a:ext cx="3611880" cy="594360"/>
          </a:xfrm>
          <a:prstGeom prst="rect">
            <a:avLst/>
          </a:prstGeom>
          <a:noFill/>
          <a:ln/>
        </p:spPr>
        <p:txBody>
          <a:bodyPr wrap="square" lIns="0" tIns="0" rIns="0" bIns="0" rtlCol="0" anchor="ctr"/>
          <a:lstStyle/>
          <a:p>
            <a:pPr indent="0" marL="0">
              <a:buNone/>
            </a:pPr>
            <a:r>
              <a:rPr lang="en-US" sz="1150" i="1" dirty="0">
                <a:solidFill>
                  <a:srgbClr val="15314F"/>
                </a:solidFill>
                <a:latin typeface="Calibri Light" pitchFamily="34" charset="0"/>
                <a:ea typeface="Calibri Light" pitchFamily="34" charset="-122"/>
                <a:cs typeface="Calibri Light" pitchFamily="34" charset="-120"/>
              </a:rPr>
              <a:t>…then youth will feel more confident and make better decisions.</a:t>
            </a:r>
            <a:endParaRPr lang="en-US" sz="1150" dirty="0"/>
          </a:p>
        </p:txBody>
      </p:sp>
      <p:sp>
        <p:nvSpPr>
          <p:cNvPr id="9" name="Shape 6"/>
          <p:cNvSpPr/>
          <p:nvPr/>
        </p:nvSpPr>
        <p:spPr>
          <a:xfrm>
            <a:off x="4754880" y="1920240"/>
            <a:ext cx="3886200" cy="685800"/>
          </a:xfrm>
          <a:prstGeom prst="roundRect">
            <a:avLst>
              <a:gd name="adj" fmla="val 8000"/>
            </a:avLst>
          </a:prstGeom>
          <a:solidFill>
            <a:srgbClr val="F0F5F2"/>
          </a:solidFill>
          <a:ln w="6350">
            <a:solidFill>
              <a:srgbClr val="CFE0D6"/>
            </a:solidFill>
            <a:prstDash val="solid"/>
          </a:ln>
        </p:spPr>
      </p:sp>
      <p:sp>
        <p:nvSpPr>
          <p:cNvPr id="10" name="Text 7"/>
          <p:cNvSpPr/>
          <p:nvPr/>
        </p:nvSpPr>
        <p:spPr>
          <a:xfrm>
            <a:off x="4892040" y="1965960"/>
            <a:ext cx="3611880" cy="594360"/>
          </a:xfrm>
          <a:prstGeom prst="rect">
            <a:avLst/>
          </a:prstGeom>
          <a:noFill/>
          <a:ln/>
        </p:spPr>
        <p:txBody>
          <a:bodyPr wrap="square" lIns="0" tIns="0" rIns="0" bIns="0" rtlCol="0" anchor="ctr"/>
          <a:lstStyle/>
          <a:p>
            <a:pPr indent="0" marL="0">
              <a:buNone/>
            </a:pPr>
            <a:r>
              <a:rPr lang="en-US" sz="1150" i="1" dirty="0">
                <a:solidFill>
                  <a:srgbClr val="15314F"/>
                </a:solidFill>
                <a:latin typeface="Calibri Light" pitchFamily="34" charset="0"/>
                <a:ea typeface="Calibri Light" pitchFamily="34" charset="-122"/>
                <a:cs typeface="Calibri Light" pitchFamily="34" charset="-120"/>
              </a:rPr>
              <a:t>…then youth will feel grounded in their Islamic identity and make decisions anchored in their values as Muslims.</a:t>
            </a:r>
            <a:endParaRPr lang="en-US" sz="1150" dirty="0"/>
          </a:p>
        </p:txBody>
      </p:sp>
      <p:sp>
        <p:nvSpPr>
          <p:cNvPr id="11" name="Shape 8"/>
          <p:cNvSpPr/>
          <p:nvPr/>
        </p:nvSpPr>
        <p:spPr>
          <a:xfrm>
            <a:off x="502920" y="2697480"/>
            <a:ext cx="3886200" cy="685800"/>
          </a:xfrm>
          <a:prstGeom prst="roundRect">
            <a:avLst>
              <a:gd name="adj" fmla="val 8000"/>
            </a:avLst>
          </a:prstGeom>
          <a:solidFill>
            <a:srgbClr val="FFF5F2"/>
          </a:solidFill>
          <a:ln w="6350">
            <a:solidFill>
              <a:srgbClr val="F0D5CC"/>
            </a:solidFill>
            <a:prstDash val="solid"/>
          </a:ln>
        </p:spPr>
      </p:sp>
      <p:sp>
        <p:nvSpPr>
          <p:cNvPr id="12" name="Text 9"/>
          <p:cNvSpPr/>
          <p:nvPr/>
        </p:nvSpPr>
        <p:spPr>
          <a:xfrm>
            <a:off x="640080" y="2743200"/>
            <a:ext cx="3611880" cy="594360"/>
          </a:xfrm>
          <a:prstGeom prst="rect">
            <a:avLst/>
          </a:prstGeom>
          <a:noFill/>
          <a:ln/>
        </p:spPr>
        <p:txBody>
          <a:bodyPr wrap="square" lIns="0" tIns="0" rIns="0" bIns="0" rtlCol="0" anchor="ctr"/>
          <a:lstStyle/>
          <a:p>
            <a:pPr indent="0" marL="0">
              <a:buNone/>
            </a:pPr>
            <a:r>
              <a:rPr lang="en-US" sz="1150" i="1" dirty="0">
                <a:solidFill>
                  <a:srgbClr val="15314F"/>
                </a:solidFill>
                <a:latin typeface="Calibri Light" pitchFamily="34" charset="0"/>
                <a:ea typeface="Calibri Light" pitchFamily="34" charset="-122"/>
                <a:cs typeface="Calibri Light" pitchFamily="34" charset="-120"/>
              </a:rPr>
              <a:t>…then participants will build friendships.</a:t>
            </a:r>
            <a:endParaRPr lang="en-US" sz="1150" dirty="0"/>
          </a:p>
        </p:txBody>
      </p:sp>
      <p:sp>
        <p:nvSpPr>
          <p:cNvPr id="13" name="Shape 10"/>
          <p:cNvSpPr/>
          <p:nvPr/>
        </p:nvSpPr>
        <p:spPr>
          <a:xfrm>
            <a:off x="4754880" y="2697480"/>
            <a:ext cx="3886200" cy="685800"/>
          </a:xfrm>
          <a:prstGeom prst="roundRect">
            <a:avLst>
              <a:gd name="adj" fmla="val 8000"/>
            </a:avLst>
          </a:prstGeom>
          <a:solidFill>
            <a:srgbClr val="F0F5F2"/>
          </a:solidFill>
          <a:ln w="6350">
            <a:solidFill>
              <a:srgbClr val="CFE0D6"/>
            </a:solidFill>
            <a:prstDash val="solid"/>
          </a:ln>
        </p:spPr>
      </p:sp>
      <p:sp>
        <p:nvSpPr>
          <p:cNvPr id="14" name="Text 11"/>
          <p:cNvSpPr/>
          <p:nvPr/>
        </p:nvSpPr>
        <p:spPr>
          <a:xfrm>
            <a:off x="4892040" y="2743200"/>
            <a:ext cx="3611880" cy="594360"/>
          </a:xfrm>
          <a:prstGeom prst="rect">
            <a:avLst/>
          </a:prstGeom>
          <a:noFill/>
          <a:ln/>
        </p:spPr>
        <p:txBody>
          <a:bodyPr wrap="square" lIns="0" tIns="0" rIns="0" bIns="0" rtlCol="0" anchor="ctr"/>
          <a:lstStyle/>
          <a:p>
            <a:pPr indent="0" marL="0">
              <a:buNone/>
            </a:pPr>
            <a:r>
              <a:rPr lang="en-US" sz="1150" i="1" dirty="0">
                <a:solidFill>
                  <a:srgbClr val="15314F"/>
                </a:solidFill>
                <a:latin typeface="Calibri Light" pitchFamily="34" charset="0"/>
                <a:ea typeface="Calibri Light" pitchFamily="34" charset="-122"/>
                <a:cs typeface="Calibri Light" pitchFamily="34" charset="-120"/>
              </a:rPr>
              <a:t>…then adults 18–35 will form Islamic friendships that function as mutual accountability structures.</a:t>
            </a:r>
            <a:endParaRPr lang="en-US" sz="1150" dirty="0"/>
          </a:p>
        </p:txBody>
      </p:sp>
      <p:sp>
        <p:nvSpPr>
          <p:cNvPr id="15" name="Shape 12"/>
          <p:cNvSpPr/>
          <p:nvPr/>
        </p:nvSpPr>
        <p:spPr>
          <a:xfrm>
            <a:off x="502920" y="3474720"/>
            <a:ext cx="3886200" cy="685800"/>
          </a:xfrm>
          <a:prstGeom prst="roundRect">
            <a:avLst>
              <a:gd name="adj" fmla="val 8000"/>
            </a:avLst>
          </a:prstGeom>
          <a:solidFill>
            <a:srgbClr val="FFF5F2"/>
          </a:solidFill>
          <a:ln w="6350">
            <a:solidFill>
              <a:srgbClr val="F0D5CC"/>
            </a:solidFill>
            <a:prstDash val="solid"/>
          </a:ln>
        </p:spPr>
      </p:sp>
      <p:sp>
        <p:nvSpPr>
          <p:cNvPr id="16" name="Text 13"/>
          <p:cNvSpPr/>
          <p:nvPr/>
        </p:nvSpPr>
        <p:spPr>
          <a:xfrm>
            <a:off x="640080" y="3520440"/>
            <a:ext cx="3611880" cy="594360"/>
          </a:xfrm>
          <a:prstGeom prst="rect">
            <a:avLst/>
          </a:prstGeom>
          <a:noFill/>
          <a:ln/>
        </p:spPr>
        <p:txBody>
          <a:bodyPr wrap="square" lIns="0" tIns="0" rIns="0" bIns="0" rtlCol="0" anchor="ctr"/>
          <a:lstStyle/>
          <a:p>
            <a:pPr indent="0" marL="0">
              <a:buNone/>
            </a:pPr>
            <a:r>
              <a:rPr lang="en-US" sz="1150" i="1" dirty="0">
                <a:solidFill>
                  <a:srgbClr val="15314F"/>
                </a:solidFill>
                <a:latin typeface="Calibri Light" pitchFamily="34" charset="0"/>
                <a:ea typeface="Calibri Light" pitchFamily="34" charset="-122"/>
                <a:cs typeface="Calibri Light" pitchFamily="34" charset="-120"/>
              </a:rPr>
              <a:t>…then young people will be more resilient.</a:t>
            </a:r>
            <a:endParaRPr lang="en-US" sz="1150" dirty="0"/>
          </a:p>
        </p:txBody>
      </p:sp>
      <p:sp>
        <p:nvSpPr>
          <p:cNvPr id="17" name="Shape 14"/>
          <p:cNvSpPr/>
          <p:nvPr/>
        </p:nvSpPr>
        <p:spPr>
          <a:xfrm>
            <a:off x="4754880" y="3474720"/>
            <a:ext cx="3886200" cy="685800"/>
          </a:xfrm>
          <a:prstGeom prst="roundRect">
            <a:avLst>
              <a:gd name="adj" fmla="val 8000"/>
            </a:avLst>
          </a:prstGeom>
          <a:solidFill>
            <a:srgbClr val="F0F5F2"/>
          </a:solidFill>
          <a:ln w="6350">
            <a:solidFill>
              <a:srgbClr val="CFE0D6"/>
            </a:solidFill>
            <a:prstDash val="solid"/>
          </a:ln>
        </p:spPr>
      </p:sp>
      <p:sp>
        <p:nvSpPr>
          <p:cNvPr id="18" name="Text 15"/>
          <p:cNvSpPr/>
          <p:nvPr/>
        </p:nvSpPr>
        <p:spPr>
          <a:xfrm>
            <a:off x="4892040" y="3520440"/>
            <a:ext cx="3611880" cy="594360"/>
          </a:xfrm>
          <a:prstGeom prst="rect">
            <a:avLst/>
          </a:prstGeom>
          <a:noFill/>
          <a:ln/>
        </p:spPr>
        <p:txBody>
          <a:bodyPr wrap="square" lIns="0" tIns="0" rIns="0" bIns="0" rtlCol="0" anchor="ctr"/>
          <a:lstStyle/>
          <a:p>
            <a:pPr indent="0" marL="0">
              <a:buNone/>
            </a:pPr>
            <a:r>
              <a:rPr lang="en-US" sz="1150" i="1" dirty="0">
                <a:solidFill>
                  <a:srgbClr val="15314F"/>
                </a:solidFill>
                <a:latin typeface="Calibri Light" pitchFamily="34" charset="0"/>
                <a:ea typeface="Calibri Light" pitchFamily="34" charset="-122"/>
                <a:cs typeface="Calibri Light" pitchFamily="34" charset="-120"/>
              </a:rPr>
              <a:t>…then youth will develop Islamic resilience — rooted in tawakkul, sabr, and Prophetic example.</a:t>
            </a:r>
            <a:endParaRPr lang="en-US" sz="1150" dirty="0"/>
          </a:p>
        </p:txBody>
      </p:sp>
      <p:sp>
        <p:nvSpPr>
          <p:cNvPr id="19" name="Text 16"/>
          <p:cNvSpPr/>
          <p:nvPr/>
        </p:nvSpPr>
        <p:spPr>
          <a:xfrm>
            <a:off x="502920" y="4251960"/>
            <a:ext cx="8138160" cy="502920"/>
          </a:xfrm>
          <a:prstGeom prst="rect">
            <a:avLst/>
          </a:prstGeom>
          <a:noFill/>
          <a:ln/>
        </p:spPr>
        <p:txBody>
          <a:bodyPr wrap="square" lIns="0" tIns="0" rIns="0" bIns="0" rtlCol="0" anchor="ctr"/>
          <a:lstStyle/>
          <a:p>
            <a:pPr algn="ctr" indent="0" marL="0">
              <a:buNone/>
            </a:pPr>
            <a:r>
              <a:rPr lang="en-US" sz="1200" i="1" dirty="0">
                <a:solidFill>
                  <a:srgbClr val="5A6F82"/>
                </a:solidFill>
                <a:latin typeface="Calibri Light" pitchFamily="34" charset="0"/>
                <a:ea typeface="Calibri Light" pitchFamily="34" charset="-122"/>
                <a:cs typeface="Calibri Light" pitchFamily="34" charset="-120"/>
              </a:rPr>
              <a:t>If your THEN could belong to a sports club, a tutoring center, or any secular nonprofit — it does not yet have MASGLA's fingerprint on it.</a:t>
            </a:r>
            <a:endParaRPr lang="en-US" sz="1200" dirty="0"/>
          </a:p>
        </p:txBody>
      </p:sp>
      <p:sp>
        <p:nvSpPr>
          <p:cNvPr id="20" name="Shape 17"/>
          <p:cNvSpPr/>
          <p:nvPr/>
        </p:nvSpPr>
        <p:spPr>
          <a:xfrm>
            <a:off x="502920" y="4732020"/>
            <a:ext cx="8138160" cy="0"/>
          </a:xfrm>
          <a:prstGeom prst="line">
            <a:avLst/>
          </a:prstGeom>
          <a:noFill/>
          <a:ln w="9525">
            <a:solidFill>
              <a:srgbClr val="DCE6EE"/>
            </a:solidFill>
            <a:prstDash val="solid"/>
          </a:ln>
        </p:spPr>
      </p:sp>
      <p:sp>
        <p:nvSpPr>
          <p:cNvPr id="21" name="Text 18"/>
          <p:cNvSpPr/>
          <p:nvPr/>
        </p:nvSpPr>
        <p:spPr>
          <a:xfrm>
            <a:off x="502920" y="4823460"/>
            <a:ext cx="3657600" cy="228600"/>
          </a:xfrm>
          <a:prstGeom prst="rect">
            <a:avLst/>
          </a:prstGeom>
          <a:noFill/>
          <a:ln/>
        </p:spPr>
        <p:txBody>
          <a:bodyPr wrap="square" lIns="0" tIns="0" rIns="0" bIns="0" rtlCol="0" anchor="ctr"/>
          <a:lstStyle/>
          <a:p>
            <a:pPr algn="l" indent="0" marL="0">
              <a:buNone/>
            </a:pPr>
            <a:r>
              <a:rPr lang="en-US" sz="900" dirty="0">
                <a:solidFill>
                  <a:srgbClr val="5A6F82"/>
                </a:solidFill>
                <a:latin typeface="Calibri" pitchFamily="34" charset="0"/>
                <a:ea typeface="Calibri" pitchFamily="34" charset="-122"/>
                <a:cs typeface="Calibri" pitchFamily="34" charset="-120"/>
              </a:rPr>
              <a:t>www.amalandcompany.com</a:t>
            </a:r>
            <a:endParaRPr lang="en-US" sz="900" dirty="0"/>
          </a:p>
        </p:txBody>
      </p:sp>
      <p:sp>
        <p:nvSpPr>
          <p:cNvPr id="22" name="Text 19"/>
          <p:cNvSpPr/>
          <p:nvPr/>
        </p:nvSpPr>
        <p:spPr>
          <a:xfrm>
            <a:off x="2743200" y="4823460"/>
            <a:ext cx="3657600" cy="228600"/>
          </a:xfrm>
          <a:prstGeom prst="rect">
            <a:avLst/>
          </a:prstGeom>
          <a:noFill/>
          <a:ln/>
        </p:spPr>
        <p:txBody>
          <a:bodyPr wrap="square" lIns="0" tIns="0" rIns="0" bIns="0" rtlCol="0" anchor="ctr"/>
          <a:lstStyle/>
          <a:p>
            <a:pPr algn="ctr" indent="0" marL="0">
              <a:buNone/>
            </a:pPr>
            <a:r>
              <a:rPr lang="en-US" sz="850" dirty="0">
                <a:solidFill>
                  <a:srgbClr val="9AAEC0"/>
                </a:solidFill>
                <a:latin typeface="Calibri" pitchFamily="34" charset="0"/>
                <a:ea typeface="Calibri" pitchFamily="34" charset="-122"/>
                <a:cs typeface="Calibri" pitchFamily="34" charset="-120"/>
              </a:rPr>
              <a:t>Module 2  ·  Q-Zero — The Hypothesis</a:t>
            </a:r>
            <a:endParaRPr lang="en-US" sz="850" dirty="0"/>
          </a:p>
        </p:txBody>
      </p:sp>
      <p:sp>
        <p:nvSpPr>
          <p:cNvPr id="23" name="Text 20"/>
          <p:cNvSpPr/>
          <p:nvPr/>
        </p:nvSpPr>
        <p:spPr>
          <a:xfrm>
            <a:off x="4983480" y="4823460"/>
            <a:ext cx="3657600" cy="228600"/>
          </a:xfrm>
          <a:prstGeom prst="rect">
            <a:avLst/>
          </a:prstGeom>
          <a:noFill/>
          <a:ln/>
        </p:spPr>
        <p:txBody>
          <a:bodyPr wrap="square" lIns="0" tIns="0" rIns="0" bIns="0" rtlCol="0" anchor="ctr"/>
          <a:lstStyle/>
          <a:p>
            <a:pPr algn="r" indent="0" marL="0">
              <a:buNone/>
            </a:pPr>
            <a:r>
              <a:rPr lang="en-US" sz="900" dirty="0">
                <a:solidFill>
                  <a:srgbClr val="5A6F82"/>
                </a:solidFill>
                <a:latin typeface="Calibri" pitchFamily="34" charset="0"/>
                <a:ea typeface="Calibri" pitchFamily="34" charset="-122"/>
                <a:cs typeface="Calibri" pitchFamily="34" charset="-120"/>
              </a:rPr>
              <a:t>Page 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589520" y="-45720"/>
            <a:ext cx="1554480" cy="777240"/>
          </a:xfrm>
          <a:prstGeom prst="rect">
            <a:avLst/>
          </a:prstGeom>
        </p:spPr>
      </p:pic>
      <p:sp>
        <p:nvSpPr>
          <p:cNvPr id="3" name="Text 0"/>
          <p:cNvSpPr/>
          <p:nvPr/>
        </p:nvSpPr>
        <p:spPr>
          <a:xfrm>
            <a:off x="502920" y="384048"/>
            <a:ext cx="5943600" cy="274320"/>
          </a:xfrm>
          <a:prstGeom prst="rect">
            <a:avLst/>
          </a:prstGeom>
          <a:noFill/>
          <a:ln/>
        </p:spPr>
        <p:txBody>
          <a:bodyPr wrap="square" lIns="0" tIns="0" rIns="0" bIns="0" rtlCol="0" anchor="ctr"/>
          <a:lstStyle/>
          <a:p>
            <a:pPr indent="0" marL="0">
              <a:buNone/>
            </a:pPr>
            <a:r>
              <a:rPr lang="en-US" sz="1050" dirty="0">
                <a:solidFill>
                  <a:srgbClr val="5A6F82"/>
                </a:solidFill>
                <a:latin typeface="Calibri" pitchFamily="34" charset="0"/>
                <a:ea typeface="Calibri" pitchFamily="34" charset="-122"/>
                <a:cs typeface="Calibri" pitchFamily="34" charset="-120"/>
              </a:rPr>
              <a:t>Self-check</a:t>
            </a:r>
            <a:endParaRPr lang="en-US" sz="1050" dirty="0"/>
          </a:p>
        </p:txBody>
      </p:sp>
      <p:sp>
        <p:nvSpPr>
          <p:cNvPr id="4" name="Text 1"/>
          <p:cNvSpPr/>
          <p:nvPr/>
        </p:nvSpPr>
        <p:spPr>
          <a:xfrm>
            <a:off x="502920" y="640080"/>
            <a:ext cx="7315200" cy="868680"/>
          </a:xfrm>
          <a:prstGeom prst="rect">
            <a:avLst/>
          </a:prstGeom>
          <a:noFill/>
          <a:ln/>
        </p:spPr>
        <p:txBody>
          <a:bodyPr wrap="square" lIns="0" tIns="0" rIns="0" bIns="0" rtlCol="0" anchor="ctr"/>
          <a:lstStyle/>
          <a:p>
            <a:pPr indent="0" marL="0">
              <a:buNone/>
            </a:pPr>
            <a:r>
              <a:rPr lang="en-US" sz="3000" dirty="0">
                <a:solidFill>
                  <a:srgbClr val="15314F"/>
                </a:solidFill>
                <a:latin typeface="Calibri Light" pitchFamily="34" charset="0"/>
                <a:ea typeface="Calibri Light" pitchFamily="34" charset="-122"/>
                <a:cs typeface="Calibri Light" pitchFamily="34" charset="-120"/>
              </a:rPr>
              <a:t>The Traffic Light Check</a:t>
            </a:r>
            <a:endParaRPr lang="en-US" sz="3000" dirty="0"/>
          </a:p>
        </p:txBody>
      </p:sp>
      <p:sp>
        <p:nvSpPr>
          <p:cNvPr id="5" name="Shape 2"/>
          <p:cNvSpPr/>
          <p:nvPr/>
        </p:nvSpPr>
        <p:spPr>
          <a:xfrm>
            <a:off x="502920" y="1554480"/>
            <a:ext cx="2606040" cy="2743200"/>
          </a:xfrm>
          <a:prstGeom prst="roundRect">
            <a:avLst>
              <a:gd name="adj" fmla="val 2807"/>
            </a:avLst>
          </a:prstGeom>
          <a:solidFill>
            <a:srgbClr val="F8FBFD"/>
          </a:solidFill>
          <a:ln w="6350">
            <a:solidFill>
              <a:srgbClr val="DCE6EE"/>
            </a:solidFill>
            <a:prstDash val="solid"/>
          </a:ln>
          <a:effectLst>
            <a:outerShdw sx="100000" sy="100000" kx="0" ky="0" algn="bl" rotWithShape="0" blurRad="101600" dist="12700" dir="5400000">
              <a:srgbClr val="000000">
                <a:alpha val="5000"/>
              </a:srgbClr>
            </a:outerShdw>
          </a:effectLst>
        </p:spPr>
      </p:sp>
      <p:sp>
        <p:nvSpPr>
          <p:cNvPr id="6" name="Shape 3"/>
          <p:cNvSpPr/>
          <p:nvPr/>
        </p:nvSpPr>
        <p:spPr>
          <a:xfrm>
            <a:off x="1485900" y="1828800"/>
            <a:ext cx="640080" cy="640080"/>
          </a:xfrm>
          <a:prstGeom prst="ellipse">
            <a:avLst/>
          </a:prstGeom>
          <a:solidFill>
            <a:srgbClr val="D9534F"/>
          </a:solidFill>
          <a:ln w="12700">
            <a:solidFill>
              <a:srgbClr val="D9534F"/>
            </a:solidFill>
            <a:prstDash val="solid"/>
          </a:ln>
        </p:spPr>
      </p:sp>
      <p:sp>
        <p:nvSpPr>
          <p:cNvPr id="7" name="Text 4"/>
          <p:cNvSpPr/>
          <p:nvPr/>
        </p:nvSpPr>
        <p:spPr>
          <a:xfrm>
            <a:off x="502920" y="2606040"/>
            <a:ext cx="2606040" cy="320040"/>
          </a:xfrm>
          <a:prstGeom prst="rect">
            <a:avLst/>
          </a:prstGeom>
          <a:noFill/>
          <a:ln/>
        </p:spPr>
        <p:txBody>
          <a:bodyPr wrap="square" lIns="0" tIns="0" rIns="0" bIns="0" rtlCol="0" anchor="ctr"/>
          <a:lstStyle/>
          <a:p>
            <a:pPr algn="ctr" indent="0" marL="0">
              <a:buNone/>
            </a:pPr>
            <a:r>
              <a:rPr lang="en-US" sz="1100" b="1" spc="400" kern="0" dirty="0">
                <a:solidFill>
                  <a:srgbClr val="D9534F"/>
                </a:solidFill>
                <a:latin typeface="Calibri" pitchFamily="34" charset="0"/>
                <a:ea typeface="Calibri" pitchFamily="34" charset="-122"/>
                <a:cs typeface="Calibri" pitchFamily="34" charset="-120"/>
              </a:rPr>
              <a:t>RED</a:t>
            </a:r>
            <a:endParaRPr lang="en-US" sz="1100" dirty="0"/>
          </a:p>
        </p:txBody>
      </p:sp>
      <p:sp>
        <p:nvSpPr>
          <p:cNvPr id="8" name="Text 5"/>
          <p:cNvSpPr/>
          <p:nvPr/>
        </p:nvSpPr>
        <p:spPr>
          <a:xfrm>
            <a:off x="502920" y="2971800"/>
            <a:ext cx="2606040" cy="365760"/>
          </a:xfrm>
          <a:prstGeom prst="rect">
            <a:avLst/>
          </a:prstGeom>
          <a:noFill/>
          <a:ln/>
        </p:spPr>
        <p:txBody>
          <a:bodyPr wrap="square" lIns="0" tIns="0" rIns="0" bIns="0" rtlCol="0" anchor="ctr"/>
          <a:lstStyle/>
          <a:p>
            <a:pPr algn="ctr" indent="0" marL="0">
              <a:buNone/>
            </a:pPr>
            <a:r>
              <a:rPr lang="en-US" sz="1700" b="1" dirty="0">
                <a:solidFill>
                  <a:srgbClr val="15314F"/>
                </a:solidFill>
                <a:latin typeface="Calibri Light" pitchFamily="34" charset="0"/>
                <a:ea typeface="Calibri Light" pitchFamily="34" charset="-122"/>
                <a:cs typeface="Calibri Light" pitchFamily="34" charset="-120"/>
              </a:rPr>
              <a:t>Start over.</a:t>
            </a:r>
            <a:endParaRPr lang="en-US" sz="1700" dirty="0"/>
          </a:p>
        </p:txBody>
      </p:sp>
      <p:sp>
        <p:nvSpPr>
          <p:cNvPr id="9" name="Text 6"/>
          <p:cNvSpPr/>
          <p:nvPr/>
        </p:nvSpPr>
        <p:spPr>
          <a:xfrm>
            <a:off x="685800" y="3429000"/>
            <a:ext cx="2240280" cy="822960"/>
          </a:xfrm>
          <a:prstGeom prst="rect">
            <a:avLst/>
          </a:prstGeom>
          <a:noFill/>
          <a:ln/>
        </p:spPr>
        <p:txBody>
          <a:bodyPr wrap="square" lIns="0" tIns="0" rIns="0" bIns="0" rtlCol="0" anchor="ctr"/>
          <a:lstStyle/>
          <a:p>
            <a:pPr algn="ctr" indent="0" marL="0">
              <a:buNone/>
            </a:pPr>
            <a:r>
              <a:rPr lang="en-US" sz="1050" dirty="0">
                <a:solidFill>
                  <a:srgbClr val="15314F"/>
                </a:solidFill>
                <a:latin typeface="Calibri" pitchFamily="34" charset="0"/>
                <a:ea typeface="Calibri" pitchFamily="34" charset="-122"/>
                <a:cs typeface="Calibri" pitchFamily="34" charset="-120"/>
              </a:rPr>
              <a:t>IF names an event or service. THEN describes attendance or delivery. No clear connection to MASGLA's mission.</a:t>
            </a:r>
            <a:endParaRPr lang="en-US" sz="1050" dirty="0"/>
          </a:p>
        </p:txBody>
      </p:sp>
      <p:sp>
        <p:nvSpPr>
          <p:cNvPr id="10" name="Shape 7"/>
          <p:cNvSpPr/>
          <p:nvPr/>
        </p:nvSpPr>
        <p:spPr>
          <a:xfrm>
            <a:off x="3246120" y="1554480"/>
            <a:ext cx="2606040" cy="2743200"/>
          </a:xfrm>
          <a:prstGeom prst="roundRect">
            <a:avLst>
              <a:gd name="adj" fmla="val 2807"/>
            </a:avLst>
          </a:prstGeom>
          <a:solidFill>
            <a:srgbClr val="F8FBFD"/>
          </a:solidFill>
          <a:ln w="6350">
            <a:solidFill>
              <a:srgbClr val="DCE6EE"/>
            </a:solidFill>
            <a:prstDash val="solid"/>
          </a:ln>
          <a:effectLst>
            <a:outerShdw sx="100000" sy="100000" kx="0" ky="0" algn="bl" rotWithShape="0" blurRad="101600" dist="12700" dir="5400000">
              <a:srgbClr val="000000">
                <a:alpha val="5000"/>
              </a:srgbClr>
            </a:outerShdw>
          </a:effectLst>
        </p:spPr>
      </p:sp>
      <p:sp>
        <p:nvSpPr>
          <p:cNvPr id="11" name="Shape 8"/>
          <p:cNvSpPr/>
          <p:nvPr/>
        </p:nvSpPr>
        <p:spPr>
          <a:xfrm>
            <a:off x="4229100" y="1828800"/>
            <a:ext cx="640080" cy="640080"/>
          </a:xfrm>
          <a:prstGeom prst="ellipse">
            <a:avLst/>
          </a:prstGeom>
          <a:solidFill>
            <a:srgbClr val="E0A93C"/>
          </a:solidFill>
          <a:ln w="12700">
            <a:solidFill>
              <a:srgbClr val="E0A93C"/>
            </a:solidFill>
            <a:prstDash val="solid"/>
          </a:ln>
        </p:spPr>
      </p:sp>
      <p:sp>
        <p:nvSpPr>
          <p:cNvPr id="12" name="Text 9"/>
          <p:cNvSpPr/>
          <p:nvPr/>
        </p:nvSpPr>
        <p:spPr>
          <a:xfrm>
            <a:off x="3246120" y="2606040"/>
            <a:ext cx="2606040" cy="320040"/>
          </a:xfrm>
          <a:prstGeom prst="rect">
            <a:avLst/>
          </a:prstGeom>
          <a:noFill/>
          <a:ln/>
        </p:spPr>
        <p:txBody>
          <a:bodyPr wrap="square" lIns="0" tIns="0" rIns="0" bIns="0" rtlCol="0" anchor="ctr"/>
          <a:lstStyle/>
          <a:p>
            <a:pPr algn="ctr" indent="0" marL="0">
              <a:buNone/>
            </a:pPr>
            <a:r>
              <a:rPr lang="en-US" sz="1100" b="1" spc="400" kern="0" dirty="0">
                <a:solidFill>
                  <a:srgbClr val="E0A93C"/>
                </a:solidFill>
                <a:latin typeface="Calibri" pitchFamily="34" charset="0"/>
                <a:ea typeface="Calibri" pitchFamily="34" charset="-122"/>
                <a:cs typeface="Calibri" pitchFamily="34" charset="-120"/>
              </a:rPr>
              <a:t>YELLOW</a:t>
            </a:r>
            <a:endParaRPr lang="en-US" sz="1100" dirty="0"/>
          </a:p>
        </p:txBody>
      </p:sp>
      <p:sp>
        <p:nvSpPr>
          <p:cNvPr id="13" name="Text 10"/>
          <p:cNvSpPr/>
          <p:nvPr/>
        </p:nvSpPr>
        <p:spPr>
          <a:xfrm>
            <a:off x="3246120" y="2971800"/>
            <a:ext cx="2606040" cy="365760"/>
          </a:xfrm>
          <a:prstGeom prst="rect">
            <a:avLst/>
          </a:prstGeom>
          <a:noFill/>
          <a:ln/>
        </p:spPr>
        <p:txBody>
          <a:bodyPr wrap="square" lIns="0" tIns="0" rIns="0" bIns="0" rtlCol="0" anchor="ctr"/>
          <a:lstStyle/>
          <a:p>
            <a:pPr algn="ctr" indent="0" marL="0">
              <a:buNone/>
            </a:pPr>
            <a:r>
              <a:rPr lang="en-US" sz="1700" b="1" dirty="0">
                <a:solidFill>
                  <a:srgbClr val="15314F"/>
                </a:solidFill>
                <a:latin typeface="Calibri Light" pitchFamily="34" charset="0"/>
                <a:ea typeface="Calibri Light" pitchFamily="34" charset="-122"/>
                <a:cs typeface="Calibri Light" pitchFamily="34" charset="-120"/>
              </a:rPr>
              <a:t>Sharpen it.</a:t>
            </a:r>
            <a:endParaRPr lang="en-US" sz="1700" dirty="0"/>
          </a:p>
        </p:txBody>
      </p:sp>
      <p:sp>
        <p:nvSpPr>
          <p:cNvPr id="14" name="Text 11"/>
          <p:cNvSpPr/>
          <p:nvPr/>
        </p:nvSpPr>
        <p:spPr>
          <a:xfrm>
            <a:off x="3429000" y="3429000"/>
            <a:ext cx="2240280" cy="822960"/>
          </a:xfrm>
          <a:prstGeom prst="rect">
            <a:avLst/>
          </a:prstGeom>
          <a:noFill/>
          <a:ln/>
        </p:spPr>
        <p:txBody>
          <a:bodyPr wrap="square" lIns="0" tIns="0" rIns="0" bIns="0" rtlCol="0" anchor="ctr"/>
          <a:lstStyle/>
          <a:p>
            <a:pPr algn="ctr" indent="0" marL="0">
              <a:buNone/>
            </a:pPr>
            <a:r>
              <a:rPr lang="en-US" sz="1050" dirty="0">
                <a:solidFill>
                  <a:srgbClr val="15314F"/>
                </a:solidFill>
                <a:latin typeface="Calibri" pitchFamily="34" charset="0"/>
                <a:ea typeface="Calibri" pitchFamily="34" charset="-122"/>
                <a:cs typeface="Calibri" pitchFamily="34" charset="-120"/>
              </a:rPr>
              <a:t>Behavioral THEN is present but vague (“youth will grow spiritually”) or hard to attribute. IF may still be logistics.</a:t>
            </a:r>
            <a:endParaRPr lang="en-US" sz="1050" dirty="0"/>
          </a:p>
        </p:txBody>
      </p:sp>
      <p:sp>
        <p:nvSpPr>
          <p:cNvPr id="15" name="Shape 12"/>
          <p:cNvSpPr/>
          <p:nvPr/>
        </p:nvSpPr>
        <p:spPr>
          <a:xfrm>
            <a:off x="5989320" y="1554480"/>
            <a:ext cx="2606040" cy="2743200"/>
          </a:xfrm>
          <a:prstGeom prst="roundRect">
            <a:avLst>
              <a:gd name="adj" fmla="val 2807"/>
            </a:avLst>
          </a:prstGeom>
          <a:solidFill>
            <a:srgbClr val="F8FBFD"/>
          </a:solidFill>
          <a:ln w="6350">
            <a:solidFill>
              <a:srgbClr val="DCE6EE"/>
            </a:solidFill>
            <a:prstDash val="solid"/>
          </a:ln>
          <a:effectLst>
            <a:outerShdw sx="100000" sy="100000" kx="0" ky="0" algn="bl" rotWithShape="0" blurRad="101600" dist="12700" dir="5400000">
              <a:srgbClr val="000000">
                <a:alpha val="5000"/>
              </a:srgbClr>
            </a:outerShdw>
          </a:effectLst>
        </p:spPr>
      </p:sp>
      <p:sp>
        <p:nvSpPr>
          <p:cNvPr id="16" name="Shape 13"/>
          <p:cNvSpPr/>
          <p:nvPr/>
        </p:nvSpPr>
        <p:spPr>
          <a:xfrm>
            <a:off x="6972300" y="1828800"/>
            <a:ext cx="640080" cy="640080"/>
          </a:xfrm>
          <a:prstGeom prst="ellipse">
            <a:avLst/>
          </a:prstGeom>
          <a:solidFill>
            <a:srgbClr val="4A9F7A"/>
          </a:solidFill>
          <a:ln w="12700">
            <a:solidFill>
              <a:srgbClr val="4A9F7A"/>
            </a:solidFill>
            <a:prstDash val="solid"/>
          </a:ln>
        </p:spPr>
      </p:sp>
      <p:sp>
        <p:nvSpPr>
          <p:cNvPr id="17" name="Text 14"/>
          <p:cNvSpPr/>
          <p:nvPr/>
        </p:nvSpPr>
        <p:spPr>
          <a:xfrm>
            <a:off x="5989320" y="2606040"/>
            <a:ext cx="2606040" cy="320040"/>
          </a:xfrm>
          <a:prstGeom prst="rect">
            <a:avLst/>
          </a:prstGeom>
          <a:noFill/>
          <a:ln/>
        </p:spPr>
        <p:txBody>
          <a:bodyPr wrap="square" lIns="0" tIns="0" rIns="0" bIns="0" rtlCol="0" anchor="ctr"/>
          <a:lstStyle/>
          <a:p>
            <a:pPr algn="ctr" indent="0" marL="0">
              <a:buNone/>
            </a:pPr>
            <a:r>
              <a:rPr lang="en-US" sz="1100" b="1" spc="400" kern="0" dirty="0">
                <a:solidFill>
                  <a:srgbClr val="4A9F7A"/>
                </a:solidFill>
                <a:latin typeface="Calibri" pitchFamily="34" charset="0"/>
                <a:ea typeface="Calibri" pitchFamily="34" charset="-122"/>
                <a:cs typeface="Calibri" pitchFamily="34" charset="-120"/>
              </a:rPr>
              <a:t>GREEN</a:t>
            </a:r>
            <a:endParaRPr lang="en-US" sz="1100" dirty="0"/>
          </a:p>
        </p:txBody>
      </p:sp>
      <p:sp>
        <p:nvSpPr>
          <p:cNvPr id="18" name="Text 15"/>
          <p:cNvSpPr/>
          <p:nvPr/>
        </p:nvSpPr>
        <p:spPr>
          <a:xfrm>
            <a:off x="5989320" y="2971800"/>
            <a:ext cx="2606040" cy="365760"/>
          </a:xfrm>
          <a:prstGeom prst="rect">
            <a:avLst/>
          </a:prstGeom>
          <a:noFill/>
          <a:ln/>
        </p:spPr>
        <p:txBody>
          <a:bodyPr wrap="square" lIns="0" tIns="0" rIns="0" bIns="0" rtlCol="0" anchor="ctr"/>
          <a:lstStyle/>
          <a:p>
            <a:pPr algn="ctr" indent="0" marL="0">
              <a:buNone/>
            </a:pPr>
            <a:r>
              <a:rPr lang="en-US" sz="1700" b="1" dirty="0">
                <a:solidFill>
                  <a:srgbClr val="15314F"/>
                </a:solidFill>
                <a:latin typeface="Calibri Light" pitchFamily="34" charset="0"/>
                <a:ea typeface="Calibri Light" pitchFamily="34" charset="-122"/>
                <a:cs typeface="Calibri Light" pitchFamily="34" charset="-120"/>
              </a:rPr>
              <a:t>Bring to group.</a:t>
            </a:r>
            <a:endParaRPr lang="en-US" sz="1700" dirty="0"/>
          </a:p>
        </p:txBody>
      </p:sp>
      <p:sp>
        <p:nvSpPr>
          <p:cNvPr id="19" name="Text 16"/>
          <p:cNvSpPr/>
          <p:nvPr/>
        </p:nvSpPr>
        <p:spPr>
          <a:xfrm>
            <a:off x="6172200" y="3429000"/>
            <a:ext cx="2240280" cy="822960"/>
          </a:xfrm>
          <a:prstGeom prst="rect">
            <a:avLst/>
          </a:prstGeom>
          <a:noFill/>
          <a:ln/>
        </p:spPr>
        <p:txBody>
          <a:bodyPr wrap="square" lIns="0" tIns="0" rIns="0" bIns="0" rtlCol="0" anchor="ctr"/>
          <a:lstStyle/>
          <a:p>
            <a:pPr algn="ctr" indent="0" marL="0">
              <a:buNone/>
            </a:pPr>
            <a:r>
              <a:rPr lang="en-US" sz="1050" dirty="0">
                <a:solidFill>
                  <a:srgbClr val="15314F"/>
                </a:solidFill>
                <a:latin typeface="Calibri" pitchFamily="34" charset="0"/>
                <a:ea typeface="Calibri" pitchFamily="34" charset="-122"/>
                <a:cs typeface="Calibri" pitchFamily="34" charset="-120"/>
              </a:rPr>
              <a:t>IF names a philosophy. THEN is a specific, attributable, mission-tied behavioral change. Ready to be strengthened together.</a:t>
            </a:r>
            <a:endParaRPr lang="en-US" sz="1050" dirty="0"/>
          </a:p>
        </p:txBody>
      </p:sp>
      <p:sp>
        <p:nvSpPr>
          <p:cNvPr id="20" name="Shape 17"/>
          <p:cNvSpPr/>
          <p:nvPr/>
        </p:nvSpPr>
        <p:spPr>
          <a:xfrm>
            <a:off x="502920" y="4732020"/>
            <a:ext cx="8138160" cy="0"/>
          </a:xfrm>
          <a:prstGeom prst="line">
            <a:avLst/>
          </a:prstGeom>
          <a:noFill/>
          <a:ln w="9525">
            <a:solidFill>
              <a:srgbClr val="DCE6EE"/>
            </a:solidFill>
            <a:prstDash val="solid"/>
          </a:ln>
        </p:spPr>
      </p:sp>
      <p:sp>
        <p:nvSpPr>
          <p:cNvPr id="21" name="Text 18"/>
          <p:cNvSpPr/>
          <p:nvPr/>
        </p:nvSpPr>
        <p:spPr>
          <a:xfrm>
            <a:off x="502920" y="4823460"/>
            <a:ext cx="3657600" cy="228600"/>
          </a:xfrm>
          <a:prstGeom prst="rect">
            <a:avLst/>
          </a:prstGeom>
          <a:noFill/>
          <a:ln/>
        </p:spPr>
        <p:txBody>
          <a:bodyPr wrap="square" lIns="0" tIns="0" rIns="0" bIns="0" rtlCol="0" anchor="ctr"/>
          <a:lstStyle/>
          <a:p>
            <a:pPr algn="l" indent="0" marL="0">
              <a:buNone/>
            </a:pPr>
            <a:r>
              <a:rPr lang="en-US" sz="900" dirty="0">
                <a:solidFill>
                  <a:srgbClr val="5A6F82"/>
                </a:solidFill>
                <a:latin typeface="Calibri" pitchFamily="34" charset="0"/>
                <a:ea typeface="Calibri" pitchFamily="34" charset="-122"/>
                <a:cs typeface="Calibri" pitchFamily="34" charset="-120"/>
              </a:rPr>
              <a:t>www.amalandcompany.com</a:t>
            </a:r>
            <a:endParaRPr lang="en-US" sz="900" dirty="0"/>
          </a:p>
        </p:txBody>
      </p:sp>
      <p:sp>
        <p:nvSpPr>
          <p:cNvPr id="22" name="Text 19"/>
          <p:cNvSpPr/>
          <p:nvPr/>
        </p:nvSpPr>
        <p:spPr>
          <a:xfrm>
            <a:off x="2743200" y="4823460"/>
            <a:ext cx="3657600" cy="228600"/>
          </a:xfrm>
          <a:prstGeom prst="rect">
            <a:avLst/>
          </a:prstGeom>
          <a:noFill/>
          <a:ln/>
        </p:spPr>
        <p:txBody>
          <a:bodyPr wrap="square" lIns="0" tIns="0" rIns="0" bIns="0" rtlCol="0" anchor="ctr"/>
          <a:lstStyle/>
          <a:p>
            <a:pPr algn="ctr" indent="0" marL="0">
              <a:buNone/>
            </a:pPr>
            <a:r>
              <a:rPr lang="en-US" sz="850" dirty="0">
                <a:solidFill>
                  <a:srgbClr val="9AAEC0"/>
                </a:solidFill>
                <a:latin typeface="Calibri" pitchFamily="34" charset="0"/>
                <a:ea typeface="Calibri" pitchFamily="34" charset="-122"/>
                <a:cs typeface="Calibri" pitchFamily="34" charset="-120"/>
              </a:rPr>
              <a:t>Module 2  ·  Q-Zero — The Hypothesis</a:t>
            </a:r>
            <a:endParaRPr lang="en-US" sz="850" dirty="0"/>
          </a:p>
        </p:txBody>
      </p:sp>
      <p:sp>
        <p:nvSpPr>
          <p:cNvPr id="23" name="Text 20"/>
          <p:cNvSpPr/>
          <p:nvPr/>
        </p:nvSpPr>
        <p:spPr>
          <a:xfrm>
            <a:off x="4983480" y="4823460"/>
            <a:ext cx="3657600" cy="228600"/>
          </a:xfrm>
          <a:prstGeom prst="rect">
            <a:avLst/>
          </a:prstGeom>
          <a:noFill/>
          <a:ln/>
        </p:spPr>
        <p:txBody>
          <a:bodyPr wrap="square" lIns="0" tIns="0" rIns="0" bIns="0" rtlCol="0" anchor="ctr"/>
          <a:lstStyle/>
          <a:p>
            <a:pPr algn="r" indent="0" marL="0">
              <a:buNone/>
            </a:pPr>
            <a:r>
              <a:rPr lang="en-US" sz="900" dirty="0">
                <a:solidFill>
                  <a:srgbClr val="5A6F82"/>
                </a:solidFill>
                <a:latin typeface="Calibri" pitchFamily="34" charset="0"/>
                <a:ea typeface="Calibri" pitchFamily="34" charset="-122"/>
                <a:cs typeface="Calibri" pitchFamily="34" charset="-120"/>
              </a:rPr>
              <a:t>Page 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589520" y="-45720"/>
            <a:ext cx="1554480" cy="777240"/>
          </a:xfrm>
          <a:prstGeom prst="rect">
            <a:avLst/>
          </a:prstGeom>
        </p:spPr>
      </p:pic>
      <p:sp>
        <p:nvSpPr>
          <p:cNvPr id="3" name="Text 0"/>
          <p:cNvSpPr/>
          <p:nvPr/>
        </p:nvSpPr>
        <p:spPr>
          <a:xfrm>
            <a:off x="502920" y="384048"/>
            <a:ext cx="5943600" cy="274320"/>
          </a:xfrm>
          <a:prstGeom prst="rect">
            <a:avLst/>
          </a:prstGeom>
          <a:noFill/>
          <a:ln/>
        </p:spPr>
        <p:txBody>
          <a:bodyPr wrap="square" lIns="0" tIns="0" rIns="0" bIns="0" rtlCol="0" anchor="ctr"/>
          <a:lstStyle/>
          <a:p>
            <a:pPr indent="0" marL="0">
              <a:buNone/>
            </a:pPr>
            <a:r>
              <a:rPr lang="en-US" sz="1050" dirty="0">
                <a:solidFill>
                  <a:srgbClr val="5A6F82"/>
                </a:solidFill>
                <a:latin typeface="Calibri" pitchFamily="34" charset="0"/>
                <a:ea typeface="Calibri" pitchFamily="34" charset="-122"/>
                <a:cs typeface="Calibri" pitchFamily="34" charset="-120"/>
              </a:rPr>
              <a:t>Example  ·  Islam to Muslims</a:t>
            </a:r>
            <a:endParaRPr lang="en-US" sz="1050" dirty="0"/>
          </a:p>
        </p:txBody>
      </p:sp>
      <p:sp>
        <p:nvSpPr>
          <p:cNvPr id="4" name="Text 1"/>
          <p:cNvSpPr/>
          <p:nvPr/>
        </p:nvSpPr>
        <p:spPr>
          <a:xfrm>
            <a:off x="502920" y="640080"/>
            <a:ext cx="7315200" cy="868680"/>
          </a:xfrm>
          <a:prstGeom prst="rect">
            <a:avLst/>
          </a:prstGeom>
          <a:noFill/>
          <a:ln/>
        </p:spPr>
        <p:txBody>
          <a:bodyPr wrap="square" lIns="0" tIns="0" rIns="0" bIns="0" rtlCol="0" anchor="ctr"/>
          <a:lstStyle/>
          <a:p>
            <a:pPr indent="0" marL="0">
              <a:buNone/>
            </a:pPr>
            <a:r>
              <a:rPr lang="en-US" sz="3000" dirty="0">
                <a:solidFill>
                  <a:srgbClr val="15314F"/>
                </a:solidFill>
                <a:latin typeface="Calibri Light" pitchFamily="34" charset="0"/>
                <a:ea typeface="Calibri Light" pitchFamily="34" charset="-122"/>
                <a:cs typeface="Calibri Light" pitchFamily="34" charset="-120"/>
              </a:rPr>
              <a:t>Youth Camp</a:t>
            </a:r>
            <a:endParaRPr lang="en-US" sz="3000" dirty="0"/>
          </a:p>
        </p:txBody>
      </p:sp>
      <p:sp>
        <p:nvSpPr>
          <p:cNvPr id="5" name="Text 2"/>
          <p:cNvSpPr/>
          <p:nvPr/>
        </p:nvSpPr>
        <p:spPr>
          <a:xfrm>
            <a:off x="502920" y="1508760"/>
            <a:ext cx="1828800" cy="274320"/>
          </a:xfrm>
          <a:prstGeom prst="rect">
            <a:avLst/>
          </a:prstGeom>
          <a:noFill/>
          <a:ln/>
        </p:spPr>
        <p:txBody>
          <a:bodyPr wrap="square" lIns="0" tIns="0" rIns="0" bIns="0" rtlCol="0" anchor="ctr"/>
          <a:lstStyle/>
          <a:p>
            <a:pPr indent="0" marL="0">
              <a:buNone/>
            </a:pPr>
            <a:r>
              <a:rPr lang="en-US" sz="1000" b="1" spc="300" kern="0" dirty="0">
                <a:solidFill>
                  <a:srgbClr val="5A6F82"/>
                </a:solidFill>
                <a:latin typeface="Calibri" pitchFamily="34" charset="0"/>
                <a:ea typeface="Calibri" pitchFamily="34" charset="-122"/>
                <a:cs typeface="Calibri" pitchFamily="34" charset="-120"/>
              </a:rPr>
              <a:t>BEFORE</a:t>
            </a:r>
            <a:endParaRPr lang="en-US" sz="1000" dirty="0"/>
          </a:p>
        </p:txBody>
      </p:sp>
      <p:sp>
        <p:nvSpPr>
          <p:cNvPr id="6" name="Shape 3"/>
          <p:cNvSpPr/>
          <p:nvPr/>
        </p:nvSpPr>
        <p:spPr>
          <a:xfrm>
            <a:off x="502920" y="1783080"/>
            <a:ext cx="8138160" cy="868680"/>
          </a:xfrm>
          <a:prstGeom prst="roundRect">
            <a:avLst>
              <a:gd name="adj" fmla="val 8421"/>
            </a:avLst>
          </a:prstGeom>
          <a:solidFill>
            <a:srgbClr val="F8FBFD"/>
          </a:solidFill>
          <a:ln w="6350">
            <a:solidFill>
              <a:srgbClr val="DCE6EE"/>
            </a:solidFill>
            <a:prstDash val="solid"/>
          </a:ln>
        </p:spPr>
      </p:sp>
      <p:sp>
        <p:nvSpPr>
          <p:cNvPr id="7" name="Text 4"/>
          <p:cNvSpPr/>
          <p:nvPr/>
        </p:nvSpPr>
        <p:spPr>
          <a:xfrm>
            <a:off x="731520" y="1828800"/>
            <a:ext cx="7680960" cy="777240"/>
          </a:xfrm>
          <a:prstGeom prst="rect">
            <a:avLst/>
          </a:prstGeom>
          <a:noFill/>
          <a:ln/>
        </p:spPr>
        <p:txBody>
          <a:bodyPr wrap="square" lIns="0" tIns="0" rIns="0" bIns="0" rtlCol="0" anchor="ctr"/>
          <a:lstStyle/>
          <a:p>
            <a:pPr indent="0" marL="0">
              <a:buNone/>
            </a:pPr>
            <a:r>
              <a:rPr lang="en-US" sz="1400" i="1" dirty="0">
                <a:solidFill>
                  <a:srgbClr val="5A6F82"/>
                </a:solidFill>
                <a:latin typeface="Calibri Light" pitchFamily="34" charset="0"/>
                <a:ea typeface="Calibri Light" pitchFamily="34" charset="-122"/>
                <a:cs typeface="Calibri Light" pitchFamily="34" charset="-120"/>
              </a:rPr>
              <a:t>If we provide spiritually intense retreats for high schoolers, then they will form meaningful bonds and gain positive mentorship.</a:t>
            </a:r>
            <a:endParaRPr lang="en-US" sz="1400" dirty="0"/>
          </a:p>
        </p:txBody>
      </p:sp>
      <p:sp>
        <p:nvSpPr>
          <p:cNvPr id="8" name="Text 5"/>
          <p:cNvSpPr/>
          <p:nvPr/>
        </p:nvSpPr>
        <p:spPr>
          <a:xfrm>
            <a:off x="502920" y="2788920"/>
            <a:ext cx="1828800" cy="274320"/>
          </a:xfrm>
          <a:prstGeom prst="rect">
            <a:avLst/>
          </a:prstGeom>
          <a:noFill/>
          <a:ln/>
        </p:spPr>
        <p:txBody>
          <a:bodyPr wrap="square" lIns="0" tIns="0" rIns="0" bIns="0" rtlCol="0" anchor="ctr"/>
          <a:lstStyle/>
          <a:p>
            <a:pPr indent="0" marL="0">
              <a:buNone/>
            </a:pPr>
            <a:r>
              <a:rPr lang="en-US" sz="1000" b="1" spc="300" kern="0" dirty="0">
                <a:solidFill>
                  <a:srgbClr val="5BA9D8"/>
                </a:solidFill>
                <a:latin typeface="Calibri" pitchFamily="34" charset="0"/>
                <a:ea typeface="Calibri" pitchFamily="34" charset="-122"/>
                <a:cs typeface="Calibri" pitchFamily="34" charset="-120"/>
              </a:rPr>
              <a:t>AFTER</a:t>
            </a:r>
            <a:endParaRPr lang="en-US" sz="1000" dirty="0"/>
          </a:p>
        </p:txBody>
      </p:sp>
      <p:sp>
        <p:nvSpPr>
          <p:cNvPr id="9" name="Shape 6"/>
          <p:cNvSpPr/>
          <p:nvPr/>
        </p:nvSpPr>
        <p:spPr>
          <a:xfrm>
            <a:off x="502920" y="3063240"/>
            <a:ext cx="8138160" cy="1051560"/>
          </a:xfrm>
          <a:prstGeom prst="roundRect">
            <a:avLst>
              <a:gd name="adj" fmla="val 6957"/>
            </a:avLst>
          </a:prstGeom>
          <a:solidFill>
            <a:srgbClr val="15314F"/>
          </a:solidFill>
          <a:ln w="12700">
            <a:solidFill>
              <a:srgbClr val="15314F"/>
            </a:solidFill>
            <a:prstDash val="solid"/>
          </a:ln>
        </p:spPr>
      </p:sp>
      <p:sp>
        <p:nvSpPr>
          <p:cNvPr id="10" name="Text 7"/>
          <p:cNvSpPr/>
          <p:nvPr/>
        </p:nvSpPr>
        <p:spPr>
          <a:xfrm>
            <a:off x="731520" y="3108960"/>
            <a:ext cx="7680960" cy="960120"/>
          </a:xfrm>
          <a:prstGeom prst="rect">
            <a:avLst/>
          </a:prstGeom>
          <a:noFill/>
          <a:ln/>
        </p:spPr>
        <p:txBody>
          <a:bodyPr wrap="square" lIns="0" tIns="0" rIns="0" bIns="0" rtlCol="0" anchor="ctr"/>
          <a:lstStyle/>
          <a:p>
            <a:pPr indent="0" marL="0">
              <a:buNone/>
            </a:pPr>
            <a:r>
              <a:rPr lang="en-US" sz="1450" i="1" dirty="0">
                <a:solidFill>
                  <a:srgbClr val="FFFFFF"/>
                </a:solidFill>
                <a:latin typeface="Calibri Light" pitchFamily="34" charset="0"/>
                <a:ea typeface="Calibri Light" pitchFamily="34" charset="-122"/>
                <a:cs typeface="Calibri Light" pitchFamily="34" charset="-120"/>
              </a:rPr>
              <a:t>If we immerse carefully selected high schoolers in a spiritually structured, nature-based retreat with Islamic mentorship, then they will develop lasting brotherhood bonds and return home with specific, trackable spiritual habits they continue independently.</a:t>
            </a:r>
            <a:endParaRPr lang="en-US" sz="1450" dirty="0"/>
          </a:p>
        </p:txBody>
      </p:sp>
      <p:sp>
        <p:nvSpPr>
          <p:cNvPr id="11" name="Text 8"/>
          <p:cNvSpPr/>
          <p:nvPr/>
        </p:nvSpPr>
        <p:spPr>
          <a:xfrm>
            <a:off x="502920" y="4206240"/>
            <a:ext cx="8138160" cy="457200"/>
          </a:xfrm>
          <a:prstGeom prst="rect">
            <a:avLst/>
          </a:prstGeom>
          <a:noFill/>
          <a:ln/>
        </p:spPr>
        <p:txBody>
          <a:bodyPr wrap="square" lIns="0" tIns="0" rIns="0" bIns="0" rtlCol="0" anchor="ctr"/>
          <a:lstStyle/>
          <a:p>
            <a:pPr indent="0" marL="0">
              <a:buNone/>
            </a:pPr>
            <a:r>
              <a:rPr lang="en-US" sz="1100" b="1" dirty="0">
                <a:solidFill>
                  <a:srgbClr val="5BA9D8"/>
                </a:solidFill>
                <a:latin typeface="Calibri" pitchFamily="34" charset="0"/>
                <a:ea typeface="Calibri" pitchFamily="34" charset="-122"/>
                <a:cs typeface="Calibri" pitchFamily="34" charset="-120"/>
              </a:rPr>
              <a:t>What changed:  </a:t>
            </a:r>
            <a:pPr indent="0" marL="0">
              <a:buNone/>
            </a:pPr>
            <a:r>
              <a:rPr lang="en-US" sz="1100" dirty="0">
                <a:solidFill>
                  <a:srgbClr val="15314F"/>
                </a:solidFill>
                <a:latin typeface="Calibri" pitchFamily="34" charset="0"/>
                <a:ea typeface="Calibri" pitchFamily="34" charset="-122"/>
                <a:cs typeface="Calibri" pitchFamily="34" charset="-120"/>
              </a:rPr>
              <a:t>IF now names the philosophy (structured, nature-based, Islamic mentorship), not just the event. THEN is specific (lasting bonds + trackable habits) and measurable.</a:t>
            </a:r>
            <a:endParaRPr lang="en-US" sz="1100" dirty="0"/>
          </a:p>
        </p:txBody>
      </p:sp>
      <p:sp>
        <p:nvSpPr>
          <p:cNvPr id="12" name="Shape 9"/>
          <p:cNvSpPr/>
          <p:nvPr/>
        </p:nvSpPr>
        <p:spPr>
          <a:xfrm>
            <a:off x="502920" y="4732020"/>
            <a:ext cx="8138160" cy="0"/>
          </a:xfrm>
          <a:prstGeom prst="line">
            <a:avLst/>
          </a:prstGeom>
          <a:noFill/>
          <a:ln w="9525">
            <a:solidFill>
              <a:srgbClr val="DCE6EE"/>
            </a:solidFill>
            <a:prstDash val="solid"/>
          </a:ln>
        </p:spPr>
      </p:sp>
      <p:sp>
        <p:nvSpPr>
          <p:cNvPr id="13" name="Text 10"/>
          <p:cNvSpPr/>
          <p:nvPr/>
        </p:nvSpPr>
        <p:spPr>
          <a:xfrm>
            <a:off x="502920" y="4823460"/>
            <a:ext cx="3657600" cy="228600"/>
          </a:xfrm>
          <a:prstGeom prst="rect">
            <a:avLst/>
          </a:prstGeom>
          <a:noFill/>
          <a:ln/>
        </p:spPr>
        <p:txBody>
          <a:bodyPr wrap="square" lIns="0" tIns="0" rIns="0" bIns="0" rtlCol="0" anchor="ctr"/>
          <a:lstStyle/>
          <a:p>
            <a:pPr algn="l" indent="0" marL="0">
              <a:buNone/>
            </a:pPr>
            <a:r>
              <a:rPr lang="en-US" sz="900" dirty="0">
                <a:solidFill>
                  <a:srgbClr val="5A6F82"/>
                </a:solidFill>
                <a:latin typeface="Calibri" pitchFamily="34" charset="0"/>
                <a:ea typeface="Calibri" pitchFamily="34" charset="-122"/>
                <a:cs typeface="Calibri" pitchFamily="34" charset="-120"/>
              </a:rPr>
              <a:t>www.amalandcompany.com</a:t>
            </a:r>
            <a:endParaRPr lang="en-US" sz="900" dirty="0"/>
          </a:p>
        </p:txBody>
      </p:sp>
      <p:sp>
        <p:nvSpPr>
          <p:cNvPr id="14" name="Text 11"/>
          <p:cNvSpPr/>
          <p:nvPr/>
        </p:nvSpPr>
        <p:spPr>
          <a:xfrm>
            <a:off x="2743200" y="4823460"/>
            <a:ext cx="3657600" cy="228600"/>
          </a:xfrm>
          <a:prstGeom prst="rect">
            <a:avLst/>
          </a:prstGeom>
          <a:noFill/>
          <a:ln/>
        </p:spPr>
        <p:txBody>
          <a:bodyPr wrap="square" lIns="0" tIns="0" rIns="0" bIns="0" rtlCol="0" anchor="ctr"/>
          <a:lstStyle/>
          <a:p>
            <a:pPr algn="ctr" indent="0" marL="0">
              <a:buNone/>
            </a:pPr>
            <a:r>
              <a:rPr lang="en-US" sz="850" dirty="0">
                <a:solidFill>
                  <a:srgbClr val="9AAEC0"/>
                </a:solidFill>
                <a:latin typeface="Calibri" pitchFamily="34" charset="0"/>
                <a:ea typeface="Calibri" pitchFamily="34" charset="-122"/>
                <a:cs typeface="Calibri" pitchFamily="34" charset="-120"/>
              </a:rPr>
              <a:t>Module 2  ·  Q-Zero — The Hypothesis</a:t>
            </a:r>
            <a:endParaRPr lang="en-US" sz="850" dirty="0"/>
          </a:p>
        </p:txBody>
      </p:sp>
      <p:sp>
        <p:nvSpPr>
          <p:cNvPr id="15" name="Text 12"/>
          <p:cNvSpPr/>
          <p:nvPr/>
        </p:nvSpPr>
        <p:spPr>
          <a:xfrm>
            <a:off x="4983480" y="4823460"/>
            <a:ext cx="3657600" cy="228600"/>
          </a:xfrm>
          <a:prstGeom prst="rect">
            <a:avLst/>
          </a:prstGeom>
          <a:noFill/>
          <a:ln/>
        </p:spPr>
        <p:txBody>
          <a:bodyPr wrap="square" lIns="0" tIns="0" rIns="0" bIns="0" rtlCol="0" anchor="ctr"/>
          <a:lstStyle/>
          <a:p>
            <a:pPr algn="r" indent="0" marL="0">
              <a:buNone/>
            </a:pPr>
            <a:r>
              <a:rPr lang="en-US" sz="900" dirty="0">
                <a:solidFill>
                  <a:srgbClr val="5A6F82"/>
                </a:solidFill>
                <a:latin typeface="Calibri" pitchFamily="34" charset="0"/>
                <a:ea typeface="Calibri" pitchFamily="34" charset="-122"/>
                <a:cs typeface="Calibri" pitchFamily="34" charset="-120"/>
              </a:rPr>
              <a:t>Page 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589520" y="-45720"/>
            <a:ext cx="1554480" cy="777240"/>
          </a:xfrm>
          <a:prstGeom prst="rect">
            <a:avLst/>
          </a:prstGeom>
        </p:spPr>
      </p:pic>
      <p:sp>
        <p:nvSpPr>
          <p:cNvPr id="3" name="Text 0"/>
          <p:cNvSpPr/>
          <p:nvPr/>
        </p:nvSpPr>
        <p:spPr>
          <a:xfrm>
            <a:off x="502920" y="384048"/>
            <a:ext cx="5943600" cy="274320"/>
          </a:xfrm>
          <a:prstGeom prst="rect">
            <a:avLst/>
          </a:prstGeom>
          <a:noFill/>
          <a:ln/>
        </p:spPr>
        <p:txBody>
          <a:bodyPr wrap="square" lIns="0" tIns="0" rIns="0" bIns="0" rtlCol="0" anchor="ctr"/>
          <a:lstStyle/>
          <a:p>
            <a:pPr indent="0" marL="0">
              <a:buNone/>
            </a:pPr>
            <a:r>
              <a:rPr lang="en-US" sz="1050" dirty="0">
                <a:solidFill>
                  <a:srgbClr val="5A6F82"/>
                </a:solidFill>
                <a:latin typeface="Calibri" pitchFamily="34" charset="0"/>
                <a:ea typeface="Calibri" pitchFamily="34" charset="-122"/>
                <a:cs typeface="Calibri" pitchFamily="34" charset="-120"/>
              </a:rPr>
              <a:t>Example  ·  Islam to Muslims</a:t>
            </a:r>
            <a:endParaRPr lang="en-US" sz="1050" dirty="0"/>
          </a:p>
        </p:txBody>
      </p:sp>
      <p:sp>
        <p:nvSpPr>
          <p:cNvPr id="4" name="Text 1"/>
          <p:cNvSpPr/>
          <p:nvPr/>
        </p:nvSpPr>
        <p:spPr>
          <a:xfrm>
            <a:off x="502920" y="640080"/>
            <a:ext cx="7315200" cy="868680"/>
          </a:xfrm>
          <a:prstGeom prst="rect">
            <a:avLst/>
          </a:prstGeom>
          <a:noFill/>
          <a:ln/>
        </p:spPr>
        <p:txBody>
          <a:bodyPr wrap="square" lIns="0" tIns="0" rIns="0" bIns="0" rtlCol="0" anchor="ctr"/>
          <a:lstStyle/>
          <a:p>
            <a:pPr indent="0" marL="0">
              <a:buNone/>
            </a:pPr>
            <a:r>
              <a:rPr lang="en-US" sz="3000" dirty="0">
                <a:solidFill>
                  <a:srgbClr val="15314F"/>
                </a:solidFill>
                <a:latin typeface="Calibri Light" pitchFamily="34" charset="0"/>
                <a:ea typeface="Calibri Light" pitchFamily="34" charset="-122"/>
                <a:cs typeface="Calibri Light" pitchFamily="34" charset="-120"/>
              </a:rPr>
              <a:t>BJJ Classes</a:t>
            </a:r>
            <a:endParaRPr lang="en-US" sz="3000" dirty="0"/>
          </a:p>
        </p:txBody>
      </p:sp>
      <p:sp>
        <p:nvSpPr>
          <p:cNvPr id="5" name="Text 2"/>
          <p:cNvSpPr/>
          <p:nvPr/>
        </p:nvSpPr>
        <p:spPr>
          <a:xfrm>
            <a:off x="502920" y="1508760"/>
            <a:ext cx="1828800" cy="274320"/>
          </a:xfrm>
          <a:prstGeom prst="rect">
            <a:avLst/>
          </a:prstGeom>
          <a:noFill/>
          <a:ln/>
        </p:spPr>
        <p:txBody>
          <a:bodyPr wrap="square" lIns="0" tIns="0" rIns="0" bIns="0" rtlCol="0" anchor="ctr"/>
          <a:lstStyle/>
          <a:p>
            <a:pPr indent="0" marL="0">
              <a:buNone/>
            </a:pPr>
            <a:r>
              <a:rPr lang="en-US" sz="1000" b="1" spc="300" kern="0" dirty="0">
                <a:solidFill>
                  <a:srgbClr val="5A6F82"/>
                </a:solidFill>
                <a:latin typeface="Calibri" pitchFamily="34" charset="0"/>
                <a:ea typeface="Calibri" pitchFamily="34" charset="-122"/>
                <a:cs typeface="Calibri" pitchFamily="34" charset="-120"/>
              </a:rPr>
              <a:t>BEFORE</a:t>
            </a:r>
            <a:endParaRPr lang="en-US" sz="1000" dirty="0"/>
          </a:p>
        </p:txBody>
      </p:sp>
      <p:sp>
        <p:nvSpPr>
          <p:cNvPr id="6" name="Shape 3"/>
          <p:cNvSpPr/>
          <p:nvPr/>
        </p:nvSpPr>
        <p:spPr>
          <a:xfrm>
            <a:off x="502920" y="1783080"/>
            <a:ext cx="8138160" cy="868680"/>
          </a:xfrm>
          <a:prstGeom prst="roundRect">
            <a:avLst>
              <a:gd name="adj" fmla="val 8421"/>
            </a:avLst>
          </a:prstGeom>
          <a:solidFill>
            <a:srgbClr val="F8FBFD"/>
          </a:solidFill>
          <a:ln w="6350">
            <a:solidFill>
              <a:srgbClr val="DCE6EE"/>
            </a:solidFill>
            <a:prstDash val="solid"/>
          </a:ln>
        </p:spPr>
      </p:sp>
      <p:sp>
        <p:nvSpPr>
          <p:cNvPr id="7" name="Text 4"/>
          <p:cNvSpPr/>
          <p:nvPr/>
        </p:nvSpPr>
        <p:spPr>
          <a:xfrm>
            <a:off x="731520" y="1828800"/>
            <a:ext cx="7680960" cy="777240"/>
          </a:xfrm>
          <a:prstGeom prst="rect">
            <a:avLst/>
          </a:prstGeom>
          <a:noFill/>
          <a:ln/>
        </p:spPr>
        <p:txBody>
          <a:bodyPr wrap="square" lIns="0" tIns="0" rIns="0" bIns="0" rtlCol="0" anchor="ctr"/>
          <a:lstStyle/>
          <a:p>
            <a:pPr indent="0" marL="0">
              <a:buNone/>
            </a:pPr>
            <a:r>
              <a:rPr lang="en-US" sz="1400" i="1" dirty="0">
                <a:solidFill>
                  <a:srgbClr val="5A6F82"/>
                </a:solidFill>
                <a:latin typeface="Calibri Light" pitchFamily="34" charset="0"/>
                <a:ea typeface="Calibri Light" pitchFamily="34" charset="-122"/>
                <a:cs typeface="Calibri Light" pitchFamily="34" charset="-120"/>
              </a:rPr>
              <a:t>If we provide halal martial arts spaces for young men, then they will develop brotherhood, physical discipline, and emotional maturity.</a:t>
            </a:r>
            <a:endParaRPr lang="en-US" sz="1400" dirty="0"/>
          </a:p>
        </p:txBody>
      </p:sp>
      <p:sp>
        <p:nvSpPr>
          <p:cNvPr id="8" name="Text 5"/>
          <p:cNvSpPr/>
          <p:nvPr/>
        </p:nvSpPr>
        <p:spPr>
          <a:xfrm>
            <a:off x="502920" y="2788920"/>
            <a:ext cx="1828800" cy="274320"/>
          </a:xfrm>
          <a:prstGeom prst="rect">
            <a:avLst/>
          </a:prstGeom>
          <a:noFill/>
          <a:ln/>
        </p:spPr>
        <p:txBody>
          <a:bodyPr wrap="square" lIns="0" tIns="0" rIns="0" bIns="0" rtlCol="0" anchor="ctr"/>
          <a:lstStyle/>
          <a:p>
            <a:pPr indent="0" marL="0">
              <a:buNone/>
            </a:pPr>
            <a:r>
              <a:rPr lang="en-US" sz="1000" b="1" spc="300" kern="0" dirty="0">
                <a:solidFill>
                  <a:srgbClr val="5BA9D8"/>
                </a:solidFill>
                <a:latin typeface="Calibri" pitchFamily="34" charset="0"/>
                <a:ea typeface="Calibri" pitchFamily="34" charset="-122"/>
                <a:cs typeface="Calibri" pitchFamily="34" charset="-120"/>
              </a:rPr>
              <a:t>AFTER</a:t>
            </a:r>
            <a:endParaRPr lang="en-US" sz="1000" dirty="0"/>
          </a:p>
        </p:txBody>
      </p:sp>
      <p:sp>
        <p:nvSpPr>
          <p:cNvPr id="9" name="Shape 6"/>
          <p:cNvSpPr/>
          <p:nvPr/>
        </p:nvSpPr>
        <p:spPr>
          <a:xfrm>
            <a:off x="502920" y="3063240"/>
            <a:ext cx="8138160" cy="1051560"/>
          </a:xfrm>
          <a:prstGeom prst="roundRect">
            <a:avLst>
              <a:gd name="adj" fmla="val 6957"/>
            </a:avLst>
          </a:prstGeom>
          <a:solidFill>
            <a:srgbClr val="15314F"/>
          </a:solidFill>
          <a:ln w="12700">
            <a:solidFill>
              <a:srgbClr val="15314F"/>
            </a:solidFill>
            <a:prstDash val="solid"/>
          </a:ln>
        </p:spPr>
      </p:sp>
      <p:sp>
        <p:nvSpPr>
          <p:cNvPr id="10" name="Text 7"/>
          <p:cNvSpPr/>
          <p:nvPr/>
        </p:nvSpPr>
        <p:spPr>
          <a:xfrm>
            <a:off x="731520" y="3108960"/>
            <a:ext cx="7680960" cy="960120"/>
          </a:xfrm>
          <a:prstGeom prst="rect">
            <a:avLst/>
          </a:prstGeom>
          <a:noFill/>
          <a:ln/>
        </p:spPr>
        <p:txBody>
          <a:bodyPr wrap="square" lIns="0" tIns="0" rIns="0" bIns="0" rtlCol="0" anchor="ctr"/>
          <a:lstStyle/>
          <a:p>
            <a:pPr indent="0" marL="0">
              <a:buNone/>
            </a:pPr>
            <a:r>
              <a:rPr lang="en-US" sz="1450" i="1" dirty="0">
                <a:solidFill>
                  <a:srgbClr val="FFFFFF"/>
                </a:solidFill>
                <a:latin typeface="Calibri Light" pitchFamily="34" charset="0"/>
                <a:ea typeface="Calibri Light" pitchFamily="34" charset="-122"/>
                <a:cs typeface="Calibri Light" pitchFamily="34" charset="-120"/>
              </a:rPr>
              <a:t>If we create consistent, faith-framed martial arts environments for young men, then they will develop self-discipline, emotional regulation, and Islamic brotherhood that extends beyond the mat into their daily lives and community involvement.</a:t>
            </a:r>
            <a:endParaRPr lang="en-US" sz="1450" dirty="0"/>
          </a:p>
        </p:txBody>
      </p:sp>
      <p:sp>
        <p:nvSpPr>
          <p:cNvPr id="11" name="Text 8"/>
          <p:cNvSpPr/>
          <p:nvPr/>
        </p:nvSpPr>
        <p:spPr>
          <a:xfrm>
            <a:off x="502920" y="4206240"/>
            <a:ext cx="8138160" cy="457200"/>
          </a:xfrm>
          <a:prstGeom prst="rect">
            <a:avLst/>
          </a:prstGeom>
          <a:noFill/>
          <a:ln/>
        </p:spPr>
        <p:txBody>
          <a:bodyPr wrap="square" lIns="0" tIns="0" rIns="0" bIns="0" rtlCol="0" anchor="ctr"/>
          <a:lstStyle/>
          <a:p>
            <a:pPr indent="0" marL="0">
              <a:buNone/>
            </a:pPr>
            <a:r>
              <a:rPr lang="en-US" sz="1100" b="1" dirty="0">
                <a:solidFill>
                  <a:srgbClr val="5BA9D8"/>
                </a:solidFill>
                <a:latin typeface="Calibri" pitchFamily="34" charset="0"/>
                <a:ea typeface="Calibri" pitchFamily="34" charset="-122"/>
                <a:cs typeface="Calibri" pitchFamily="34" charset="-120"/>
              </a:rPr>
              <a:t>What changed:  </a:t>
            </a:r>
            <a:pPr indent="0" marL="0">
              <a:buNone/>
            </a:pPr>
            <a:r>
              <a:rPr lang="en-US" sz="1100" dirty="0">
                <a:solidFill>
                  <a:srgbClr val="15314F"/>
                </a:solidFill>
                <a:latin typeface="Calibri" pitchFamily="34" charset="0"/>
                <a:ea typeface="Calibri" pitchFamily="34" charset="-122"/>
                <a:cs typeface="Calibri" pitchFamily="34" charset="-120"/>
              </a:rPr>
              <a:t>THEN now specifies three distinct outcomes and adds the critical phrase “extends beyond the mat” — making clear the change is not just in the gym.</a:t>
            </a:r>
            <a:endParaRPr lang="en-US" sz="1100" dirty="0"/>
          </a:p>
        </p:txBody>
      </p:sp>
      <p:sp>
        <p:nvSpPr>
          <p:cNvPr id="12" name="Shape 9"/>
          <p:cNvSpPr/>
          <p:nvPr/>
        </p:nvSpPr>
        <p:spPr>
          <a:xfrm>
            <a:off x="502920" y="4732020"/>
            <a:ext cx="8138160" cy="0"/>
          </a:xfrm>
          <a:prstGeom prst="line">
            <a:avLst/>
          </a:prstGeom>
          <a:noFill/>
          <a:ln w="9525">
            <a:solidFill>
              <a:srgbClr val="DCE6EE"/>
            </a:solidFill>
            <a:prstDash val="solid"/>
          </a:ln>
        </p:spPr>
      </p:sp>
      <p:sp>
        <p:nvSpPr>
          <p:cNvPr id="13" name="Text 10"/>
          <p:cNvSpPr/>
          <p:nvPr/>
        </p:nvSpPr>
        <p:spPr>
          <a:xfrm>
            <a:off x="502920" y="4823460"/>
            <a:ext cx="3657600" cy="228600"/>
          </a:xfrm>
          <a:prstGeom prst="rect">
            <a:avLst/>
          </a:prstGeom>
          <a:noFill/>
          <a:ln/>
        </p:spPr>
        <p:txBody>
          <a:bodyPr wrap="square" lIns="0" tIns="0" rIns="0" bIns="0" rtlCol="0" anchor="ctr"/>
          <a:lstStyle/>
          <a:p>
            <a:pPr algn="l" indent="0" marL="0">
              <a:buNone/>
            </a:pPr>
            <a:r>
              <a:rPr lang="en-US" sz="900" dirty="0">
                <a:solidFill>
                  <a:srgbClr val="5A6F82"/>
                </a:solidFill>
                <a:latin typeface="Calibri" pitchFamily="34" charset="0"/>
                <a:ea typeface="Calibri" pitchFamily="34" charset="-122"/>
                <a:cs typeface="Calibri" pitchFamily="34" charset="-120"/>
              </a:rPr>
              <a:t>www.amalandcompany.com</a:t>
            </a:r>
            <a:endParaRPr lang="en-US" sz="900" dirty="0"/>
          </a:p>
        </p:txBody>
      </p:sp>
      <p:sp>
        <p:nvSpPr>
          <p:cNvPr id="14" name="Text 11"/>
          <p:cNvSpPr/>
          <p:nvPr/>
        </p:nvSpPr>
        <p:spPr>
          <a:xfrm>
            <a:off x="2743200" y="4823460"/>
            <a:ext cx="3657600" cy="228600"/>
          </a:xfrm>
          <a:prstGeom prst="rect">
            <a:avLst/>
          </a:prstGeom>
          <a:noFill/>
          <a:ln/>
        </p:spPr>
        <p:txBody>
          <a:bodyPr wrap="square" lIns="0" tIns="0" rIns="0" bIns="0" rtlCol="0" anchor="ctr"/>
          <a:lstStyle/>
          <a:p>
            <a:pPr algn="ctr" indent="0" marL="0">
              <a:buNone/>
            </a:pPr>
            <a:r>
              <a:rPr lang="en-US" sz="850" dirty="0">
                <a:solidFill>
                  <a:srgbClr val="9AAEC0"/>
                </a:solidFill>
                <a:latin typeface="Calibri" pitchFamily="34" charset="0"/>
                <a:ea typeface="Calibri" pitchFamily="34" charset="-122"/>
                <a:cs typeface="Calibri" pitchFamily="34" charset="-120"/>
              </a:rPr>
              <a:t>Module 2  ·  Q-Zero — The Hypothesis</a:t>
            </a:r>
            <a:endParaRPr lang="en-US" sz="850" dirty="0"/>
          </a:p>
        </p:txBody>
      </p:sp>
      <p:sp>
        <p:nvSpPr>
          <p:cNvPr id="15" name="Text 12"/>
          <p:cNvSpPr/>
          <p:nvPr/>
        </p:nvSpPr>
        <p:spPr>
          <a:xfrm>
            <a:off x="4983480" y="4823460"/>
            <a:ext cx="3657600" cy="228600"/>
          </a:xfrm>
          <a:prstGeom prst="rect">
            <a:avLst/>
          </a:prstGeom>
          <a:noFill/>
          <a:ln/>
        </p:spPr>
        <p:txBody>
          <a:bodyPr wrap="square" lIns="0" tIns="0" rIns="0" bIns="0" rtlCol="0" anchor="ctr"/>
          <a:lstStyle/>
          <a:p>
            <a:pPr algn="r" indent="0" marL="0">
              <a:buNone/>
            </a:pPr>
            <a:r>
              <a:rPr lang="en-US" sz="900" dirty="0">
                <a:solidFill>
                  <a:srgbClr val="5A6F82"/>
                </a:solidFill>
                <a:latin typeface="Calibri" pitchFamily="34" charset="0"/>
                <a:ea typeface="Calibri" pitchFamily="34" charset="-122"/>
                <a:cs typeface="Calibri" pitchFamily="34" charset="-120"/>
              </a:rPr>
              <a:t>Page 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589520" y="-45720"/>
            <a:ext cx="1554480" cy="777240"/>
          </a:xfrm>
          <a:prstGeom prst="rect">
            <a:avLst/>
          </a:prstGeom>
        </p:spPr>
      </p:pic>
      <p:sp>
        <p:nvSpPr>
          <p:cNvPr id="3" name="Text 0"/>
          <p:cNvSpPr/>
          <p:nvPr/>
        </p:nvSpPr>
        <p:spPr>
          <a:xfrm>
            <a:off x="502920" y="384048"/>
            <a:ext cx="5943600" cy="274320"/>
          </a:xfrm>
          <a:prstGeom prst="rect">
            <a:avLst/>
          </a:prstGeom>
          <a:noFill/>
          <a:ln/>
        </p:spPr>
        <p:txBody>
          <a:bodyPr wrap="square" lIns="0" tIns="0" rIns="0" bIns="0" rtlCol="0" anchor="ctr"/>
          <a:lstStyle/>
          <a:p>
            <a:pPr indent="0" marL="0">
              <a:buNone/>
            </a:pPr>
            <a:r>
              <a:rPr lang="en-US" sz="1050" dirty="0">
                <a:solidFill>
                  <a:srgbClr val="5A6F82"/>
                </a:solidFill>
                <a:latin typeface="Calibri" pitchFamily="34" charset="0"/>
                <a:ea typeface="Calibri" pitchFamily="34" charset="-122"/>
                <a:cs typeface="Calibri" pitchFamily="34" charset="-120"/>
              </a:rPr>
              <a:t>Example  ·  Islam to Muslims</a:t>
            </a:r>
            <a:endParaRPr lang="en-US" sz="1050" dirty="0"/>
          </a:p>
        </p:txBody>
      </p:sp>
      <p:sp>
        <p:nvSpPr>
          <p:cNvPr id="4" name="Text 1"/>
          <p:cNvSpPr/>
          <p:nvPr/>
        </p:nvSpPr>
        <p:spPr>
          <a:xfrm>
            <a:off x="502920" y="640080"/>
            <a:ext cx="7315200" cy="868680"/>
          </a:xfrm>
          <a:prstGeom prst="rect">
            <a:avLst/>
          </a:prstGeom>
          <a:noFill/>
          <a:ln/>
        </p:spPr>
        <p:txBody>
          <a:bodyPr wrap="square" lIns="0" tIns="0" rIns="0" bIns="0" rtlCol="0" anchor="ctr"/>
          <a:lstStyle/>
          <a:p>
            <a:pPr indent="0" marL="0">
              <a:buNone/>
            </a:pPr>
            <a:r>
              <a:rPr lang="en-US" sz="3000" dirty="0">
                <a:solidFill>
                  <a:srgbClr val="15314F"/>
                </a:solidFill>
                <a:latin typeface="Calibri Light" pitchFamily="34" charset="0"/>
                <a:ea typeface="Calibri Light" pitchFamily="34" charset="-122"/>
                <a:cs typeface="Calibri Light" pitchFamily="34" charset="-120"/>
              </a:rPr>
              <a:t>MAS Breakroom</a:t>
            </a:r>
            <a:endParaRPr lang="en-US" sz="3000" dirty="0"/>
          </a:p>
        </p:txBody>
      </p:sp>
      <p:sp>
        <p:nvSpPr>
          <p:cNvPr id="5" name="Text 2"/>
          <p:cNvSpPr/>
          <p:nvPr/>
        </p:nvSpPr>
        <p:spPr>
          <a:xfrm>
            <a:off x="502920" y="1508760"/>
            <a:ext cx="1828800" cy="274320"/>
          </a:xfrm>
          <a:prstGeom prst="rect">
            <a:avLst/>
          </a:prstGeom>
          <a:noFill/>
          <a:ln/>
        </p:spPr>
        <p:txBody>
          <a:bodyPr wrap="square" lIns="0" tIns="0" rIns="0" bIns="0" rtlCol="0" anchor="ctr"/>
          <a:lstStyle/>
          <a:p>
            <a:pPr indent="0" marL="0">
              <a:buNone/>
            </a:pPr>
            <a:r>
              <a:rPr lang="en-US" sz="1000" b="1" spc="300" kern="0" dirty="0">
                <a:solidFill>
                  <a:srgbClr val="5A6F82"/>
                </a:solidFill>
                <a:latin typeface="Calibri" pitchFamily="34" charset="0"/>
                <a:ea typeface="Calibri" pitchFamily="34" charset="-122"/>
                <a:cs typeface="Calibri" pitchFamily="34" charset="-120"/>
              </a:rPr>
              <a:t>BEFORE</a:t>
            </a:r>
            <a:endParaRPr lang="en-US" sz="1000" dirty="0"/>
          </a:p>
        </p:txBody>
      </p:sp>
      <p:sp>
        <p:nvSpPr>
          <p:cNvPr id="6" name="Shape 3"/>
          <p:cNvSpPr/>
          <p:nvPr/>
        </p:nvSpPr>
        <p:spPr>
          <a:xfrm>
            <a:off x="502920" y="1783080"/>
            <a:ext cx="8138160" cy="868680"/>
          </a:xfrm>
          <a:prstGeom prst="roundRect">
            <a:avLst>
              <a:gd name="adj" fmla="val 8421"/>
            </a:avLst>
          </a:prstGeom>
          <a:solidFill>
            <a:srgbClr val="F8FBFD"/>
          </a:solidFill>
          <a:ln w="6350">
            <a:solidFill>
              <a:srgbClr val="DCE6EE"/>
            </a:solidFill>
            <a:prstDash val="solid"/>
          </a:ln>
        </p:spPr>
      </p:sp>
      <p:sp>
        <p:nvSpPr>
          <p:cNvPr id="7" name="Text 4"/>
          <p:cNvSpPr/>
          <p:nvPr/>
        </p:nvSpPr>
        <p:spPr>
          <a:xfrm>
            <a:off x="731520" y="1828800"/>
            <a:ext cx="7680960" cy="777240"/>
          </a:xfrm>
          <a:prstGeom prst="rect">
            <a:avLst/>
          </a:prstGeom>
          <a:noFill/>
          <a:ln/>
        </p:spPr>
        <p:txBody>
          <a:bodyPr wrap="square" lIns="0" tIns="0" rIns="0" bIns="0" rtlCol="0" anchor="ctr"/>
          <a:lstStyle/>
          <a:p>
            <a:pPr indent="0" marL="0">
              <a:buNone/>
            </a:pPr>
            <a:r>
              <a:rPr lang="en-US" sz="1400" i="1" dirty="0">
                <a:solidFill>
                  <a:srgbClr val="5A6F82"/>
                </a:solidFill>
                <a:latin typeface="Calibri Light" pitchFamily="34" charset="0"/>
                <a:ea typeface="Calibri Light" pitchFamily="34" charset="-122"/>
                <a:cs typeface="Calibri Light" pitchFamily="34" charset="-120"/>
              </a:rPr>
              <a:t>If we create programs that guide people to form close bonds for the sake of Allah, then Muslims will have stronger support systems.</a:t>
            </a:r>
            <a:endParaRPr lang="en-US" sz="1400" dirty="0"/>
          </a:p>
        </p:txBody>
      </p:sp>
      <p:sp>
        <p:nvSpPr>
          <p:cNvPr id="8" name="Text 5"/>
          <p:cNvSpPr/>
          <p:nvPr/>
        </p:nvSpPr>
        <p:spPr>
          <a:xfrm>
            <a:off x="502920" y="2788920"/>
            <a:ext cx="1828800" cy="274320"/>
          </a:xfrm>
          <a:prstGeom prst="rect">
            <a:avLst/>
          </a:prstGeom>
          <a:noFill/>
          <a:ln/>
        </p:spPr>
        <p:txBody>
          <a:bodyPr wrap="square" lIns="0" tIns="0" rIns="0" bIns="0" rtlCol="0" anchor="ctr"/>
          <a:lstStyle/>
          <a:p>
            <a:pPr indent="0" marL="0">
              <a:buNone/>
            </a:pPr>
            <a:r>
              <a:rPr lang="en-US" sz="1000" b="1" spc="300" kern="0" dirty="0">
                <a:solidFill>
                  <a:srgbClr val="5BA9D8"/>
                </a:solidFill>
                <a:latin typeface="Calibri" pitchFamily="34" charset="0"/>
                <a:ea typeface="Calibri" pitchFamily="34" charset="-122"/>
                <a:cs typeface="Calibri" pitchFamily="34" charset="-120"/>
              </a:rPr>
              <a:t>AFTER</a:t>
            </a:r>
            <a:endParaRPr lang="en-US" sz="1000" dirty="0"/>
          </a:p>
        </p:txBody>
      </p:sp>
      <p:sp>
        <p:nvSpPr>
          <p:cNvPr id="9" name="Shape 6"/>
          <p:cNvSpPr/>
          <p:nvPr/>
        </p:nvSpPr>
        <p:spPr>
          <a:xfrm>
            <a:off x="502920" y="3063240"/>
            <a:ext cx="8138160" cy="1051560"/>
          </a:xfrm>
          <a:prstGeom prst="roundRect">
            <a:avLst>
              <a:gd name="adj" fmla="val 6957"/>
            </a:avLst>
          </a:prstGeom>
          <a:solidFill>
            <a:srgbClr val="15314F"/>
          </a:solidFill>
          <a:ln w="12700">
            <a:solidFill>
              <a:srgbClr val="15314F"/>
            </a:solidFill>
            <a:prstDash val="solid"/>
          </a:ln>
        </p:spPr>
      </p:sp>
      <p:sp>
        <p:nvSpPr>
          <p:cNvPr id="10" name="Text 7"/>
          <p:cNvSpPr/>
          <p:nvPr/>
        </p:nvSpPr>
        <p:spPr>
          <a:xfrm>
            <a:off x="731520" y="3108960"/>
            <a:ext cx="7680960" cy="960120"/>
          </a:xfrm>
          <a:prstGeom prst="rect">
            <a:avLst/>
          </a:prstGeom>
          <a:noFill/>
          <a:ln/>
        </p:spPr>
        <p:txBody>
          <a:bodyPr wrap="square" lIns="0" tIns="0" rIns="0" bIns="0" rtlCol="0" anchor="ctr"/>
          <a:lstStyle/>
          <a:p>
            <a:pPr indent="0" marL="0">
              <a:buNone/>
            </a:pPr>
            <a:r>
              <a:rPr lang="en-US" sz="1450" i="1" dirty="0">
                <a:solidFill>
                  <a:srgbClr val="FFFFFF"/>
                </a:solidFill>
                <a:latin typeface="Calibri Light" pitchFamily="34" charset="0"/>
                <a:ea typeface="Calibri Light" pitchFamily="34" charset="-122"/>
                <a:cs typeface="Calibri Light" pitchFamily="34" charset="-120"/>
              </a:rPr>
              <a:t>If we create intentional, faith-centered social environments for adults 18–35, then participants will form Islamic friendships that function as mutual accountability structures — deepening their deen outside the program space.</a:t>
            </a:r>
            <a:endParaRPr lang="en-US" sz="1450" dirty="0"/>
          </a:p>
        </p:txBody>
      </p:sp>
      <p:sp>
        <p:nvSpPr>
          <p:cNvPr id="11" name="Text 8"/>
          <p:cNvSpPr/>
          <p:nvPr/>
        </p:nvSpPr>
        <p:spPr>
          <a:xfrm>
            <a:off x="502920" y="4206240"/>
            <a:ext cx="8138160" cy="457200"/>
          </a:xfrm>
          <a:prstGeom prst="rect">
            <a:avLst/>
          </a:prstGeom>
          <a:noFill/>
          <a:ln/>
        </p:spPr>
        <p:txBody>
          <a:bodyPr wrap="square" lIns="0" tIns="0" rIns="0" bIns="0" rtlCol="0" anchor="ctr"/>
          <a:lstStyle/>
          <a:p>
            <a:pPr indent="0" marL="0">
              <a:buNone/>
            </a:pPr>
            <a:r>
              <a:rPr lang="en-US" sz="1100" b="1" dirty="0">
                <a:solidFill>
                  <a:srgbClr val="5BA9D8"/>
                </a:solidFill>
                <a:latin typeface="Calibri" pitchFamily="34" charset="0"/>
                <a:ea typeface="Calibri" pitchFamily="34" charset="-122"/>
                <a:cs typeface="Calibri" pitchFamily="34" charset="-120"/>
              </a:rPr>
              <a:t>What changed:  </a:t>
            </a:r>
            <a:pPr indent="0" marL="0">
              <a:buNone/>
            </a:pPr>
            <a:r>
              <a:rPr lang="en-US" sz="1100" dirty="0">
                <a:solidFill>
                  <a:srgbClr val="15314F"/>
                </a:solidFill>
                <a:latin typeface="Calibri" pitchFamily="34" charset="0"/>
                <a:ea typeface="Calibri" pitchFamily="34" charset="-122"/>
                <a:cs typeface="Calibri" pitchFamily="34" charset="-120"/>
              </a:rPr>
              <a:t>IF now names the audience specifically (adults 18–35). THEN replaces “stronger support systems” (vague) with “mutual accountability structures that deepen their deen outside the program” — specific, directional, mission-tied.</a:t>
            </a:r>
            <a:endParaRPr lang="en-US" sz="1100" dirty="0"/>
          </a:p>
        </p:txBody>
      </p:sp>
      <p:sp>
        <p:nvSpPr>
          <p:cNvPr id="12" name="Shape 9"/>
          <p:cNvSpPr/>
          <p:nvPr/>
        </p:nvSpPr>
        <p:spPr>
          <a:xfrm>
            <a:off x="502920" y="4732020"/>
            <a:ext cx="8138160" cy="0"/>
          </a:xfrm>
          <a:prstGeom prst="line">
            <a:avLst/>
          </a:prstGeom>
          <a:noFill/>
          <a:ln w="9525">
            <a:solidFill>
              <a:srgbClr val="DCE6EE"/>
            </a:solidFill>
            <a:prstDash val="solid"/>
          </a:ln>
        </p:spPr>
      </p:sp>
      <p:sp>
        <p:nvSpPr>
          <p:cNvPr id="13" name="Text 10"/>
          <p:cNvSpPr/>
          <p:nvPr/>
        </p:nvSpPr>
        <p:spPr>
          <a:xfrm>
            <a:off x="502920" y="4823460"/>
            <a:ext cx="3657600" cy="228600"/>
          </a:xfrm>
          <a:prstGeom prst="rect">
            <a:avLst/>
          </a:prstGeom>
          <a:noFill/>
          <a:ln/>
        </p:spPr>
        <p:txBody>
          <a:bodyPr wrap="square" lIns="0" tIns="0" rIns="0" bIns="0" rtlCol="0" anchor="ctr"/>
          <a:lstStyle/>
          <a:p>
            <a:pPr algn="l" indent="0" marL="0">
              <a:buNone/>
            </a:pPr>
            <a:r>
              <a:rPr lang="en-US" sz="900" dirty="0">
                <a:solidFill>
                  <a:srgbClr val="5A6F82"/>
                </a:solidFill>
                <a:latin typeface="Calibri" pitchFamily="34" charset="0"/>
                <a:ea typeface="Calibri" pitchFamily="34" charset="-122"/>
                <a:cs typeface="Calibri" pitchFamily="34" charset="-120"/>
              </a:rPr>
              <a:t>www.amalandcompany.com</a:t>
            </a:r>
            <a:endParaRPr lang="en-US" sz="900" dirty="0"/>
          </a:p>
        </p:txBody>
      </p:sp>
      <p:sp>
        <p:nvSpPr>
          <p:cNvPr id="14" name="Text 11"/>
          <p:cNvSpPr/>
          <p:nvPr/>
        </p:nvSpPr>
        <p:spPr>
          <a:xfrm>
            <a:off x="2743200" y="4823460"/>
            <a:ext cx="3657600" cy="228600"/>
          </a:xfrm>
          <a:prstGeom prst="rect">
            <a:avLst/>
          </a:prstGeom>
          <a:noFill/>
          <a:ln/>
        </p:spPr>
        <p:txBody>
          <a:bodyPr wrap="square" lIns="0" tIns="0" rIns="0" bIns="0" rtlCol="0" anchor="ctr"/>
          <a:lstStyle/>
          <a:p>
            <a:pPr algn="ctr" indent="0" marL="0">
              <a:buNone/>
            </a:pPr>
            <a:r>
              <a:rPr lang="en-US" sz="850" dirty="0">
                <a:solidFill>
                  <a:srgbClr val="9AAEC0"/>
                </a:solidFill>
                <a:latin typeface="Calibri" pitchFamily="34" charset="0"/>
                <a:ea typeface="Calibri" pitchFamily="34" charset="-122"/>
                <a:cs typeface="Calibri" pitchFamily="34" charset="-120"/>
              </a:rPr>
              <a:t>Module 2  ·  Q-Zero — The Hypothesis</a:t>
            </a:r>
            <a:endParaRPr lang="en-US" sz="850" dirty="0"/>
          </a:p>
        </p:txBody>
      </p:sp>
      <p:sp>
        <p:nvSpPr>
          <p:cNvPr id="15" name="Text 12"/>
          <p:cNvSpPr/>
          <p:nvPr/>
        </p:nvSpPr>
        <p:spPr>
          <a:xfrm>
            <a:off x="4983480" y="4823460"/>
            <a:ext cx="3657600" cy="228600"/>
          </a:xfrm>
          <a:prstGeom prst="rect">
            <a:avLst/>
          </a:prstGeom>
          <a:noFill/>
          <a:ln/>
        </p:spPr>
        <p:txBody>
          <a:bodyPr wrap="square" lIns="0" tIns="0" rIns="0" bIns="0" rtlCol="0" anchor="ctr"/>
          <a:lstStyle/>
          <a:p>
            <a:pPr algn="r" indent="0" marL="0">
              <a:buNone/>
            </a:pPr>
            <a:r>
              <a:rPr lang="en-US" sz="900" dirty="0">
                <a:solidFill>
                  <a:srgbClr val="5A6F82"/>
                </a:solidFill>
                <a:latin typeface="Calibri" pitchFamily="34" charset="0"/>
                <a:ea typeface="Calibri" pitchFamily="34" charset="-122"/>
                <a:cs typeface="Calibri" pitchFamily="34" charset="-120"/>
              </a:rPr>
              <a:t>Page 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589520" y="-45720"/>
            <a:ext cx="1554480" cy="777240"/>
          </a:xfrm>
          <a:prstGeom prst="rect">
            <a:avLst/>
          </a:prstGeom>
        </p:spPr>
      </p:pic>
      <p:sp>
        <p:nvSpPr>
          <p:cNvPr id="3" name="Text 0"/>
          <p:cNvSpPr/>
          <p:nvPr/>
        </p:nvSpPr>
        <p:spPr>
          <a:xfrm>
            <a:off x="502920" y="384048"/>
            <a:ext cx="5943600" cy="274320"/>
          </a:xfrm>
          <a:prstGeom prst="rect">
            <a:avLst/>
          </a:prstGeom>
          <a:noFill/>
          <a:ln/>
        </p:spPr>
        <p:txBody>
          <a:bodyPr wrap="square" lIns="0" tIns="0" rIns="0" bIns="0" rtlCol="0" anchor="ctr"/>
          <a:lstStyle/>
          <a:p>
            <a:pPr indent="0" marL="0">
              <a:buNone/>
            </a:pPr>
            <a:r>
              <a:rPr lang="en-US" sz="1050" dirty="0">
                <a:solidFill>
                  <a:srgbClr val="5A6F82"/>
                </a:solidFill>
                <a:latin typeface="Calibri" pitchFamily="34" charset="0"/>
                <a:ea typeface="Calibri" pitchFamily="34" charset="-122"/>
                <a:cs typeface="Calibri" pitchFamily="34" charset="-120"/>
              </a:rPr>
              <a:t>Common pitfalls</a:t>
            </a:r>
            <a:endParaRPr lang="en-US" sz="1050" dirty="0"/>
          </a:p>
        </p:txBody>
      </p:sp>
      <p:sp>
        <p:nvSpPr>
          <p:cNvPr id="4" name="Text 1"/>
          <p:cNvSpPr/>
          <p:nvPr/>
        </p:nvSpPr>
        <p:spPr>
          <a:xfrm>
            <a:off x="502920" y="640080"/>
            <a:ext cx="7315200" cy="868680"/>
          </a:xfrm>
          <a:prstGeom prst="rect">
            <a:avLst/>
          </a:prstGeom>
          <a:noFill/>
          <a:ln/>
        </p:spPr>
        <p:txBody>
          <a:bodyPr wrap="square" lIns="0" tIns="0" rIns="0" bIns="0" rtlCol="0" anchor="ctr"/>
          <a:lstStyle/>
          <a:p>
            <a:pPr indent="0" marL="0">
              <a:buNone/>
            </a:pPr>
            <a:r>
              <a:rPr lang="en-US" sz="3000" dirty="0">
                <a:solidFill>
                  <a:srgbClr val="15314F"/>
                </a:solidFill>
                <a:latin typeface="Calibri Light" pitchFamily="34" charset="0"/>
                <a:ea typeface="Calibri Light" pitchFamily="34" charset="-122"/>
                <a:cs typeface="Calibri Light" pitchFamily="34" charset="-120"/>
              </a:rPr>
              <a:t>Where first-pass Q-Zeros usually fail</a:t>
            </a:r>
            <a:endParaRPr lang="en-US" sz="3000" dirty="0"/>
          </a:p>
        </p:txBody>
      </p:sp>
      <p:sp>
        <p:nvSpPr>
          <p:cNvPr id="5" name="Shape 2"/>
          <p:cNvSpPr/>
          <p:nvPr/>
        </p:nvSpPr>
        <p:spPr>
          <a:xfrm>
            <a:off x="502920" y="1554480"/>
            <a:ext cx="3886200" cy="1280160"/>
          </a:xfrm>
          <a:prstGeom prst="roundRect">
            <a:avLst>
              <a:gd name="adj" fmla="val 5714"/>
            </a:avLst>
          </a:prstGeom>
          <a:solidFill>
            <a:srgbClr val="F8FBFD"/>
          </a:solidFill>
          <a:ln w="6350">
            <a:solidFill>
              <a:srgbClr val="DCE6EE"/>
            </a:solidFill>
            <a:prstDash val="solid"/>
          </a:ln>
          <a:effectLst>
            <a:outerShdw sx="100000" sy="100000" kx="0" ky="0" algn="bl" rotWithShape="0" blurRad="101600" dist="12700" dir="5400000">
              <a:srgbClr val="000000">
                <a:alpha val="5000"/>
              </a:srgbClr>
            </a:outerShdw>
          </a:effectLst>
        </p:spPr>
      </p:sp>
      <p:pic>
        <p:nvPicPr>
          <p:cNvPr id="6" name="Image 1" descr="preencoded.png">    </p:cNvPr>
          <p:cNvPicPr>
            <a:picLocks noChangeAspect="1"/>
          </p:cNvPicPr>
          <p:nvPr/>
        </p:nvPicPr>
        <p:blipFill>
          <a:blip r:embed="rId2"/>
          <a:stretch>
            <a:fillRect/>
          </a:stretch>
        </p:blipFill>
        <p:spPr>
          <a:xfrm>
            <a:off x="685800" y="1755648"/>
            <a:ext cx="347472" cy="347472"/>
          </a:xfrm>
          <a:prstGeom prst="rect">
            <a:avLst/>
          </a:prstGeom>
        </p:spPr>
      </p:pic>
      <p:sp>
        <p:nvSpPr>
          <p:cNvPr id="7" name="Text 3"/>
          <p:cNvSpPr/>
          <p:nvPr/>
        </p:nvSpPr>
        <p:spPr>
          <a:xfrm>
            <a:off x="1143000" y="1737360"/>
            <a:ext cx="3200400" cy="365760"/>
          </a:xfrm>
          <a:prstGeom prst="rect">
            <a:avLst/>
          </a:prstGeom>
          <a:noFill/>
          <a:ln/>
        </p:spPr>
        <p:txBody>
          <a:bodyPr wrap="square" lIns="0" tIns="0" rIns="0" bIns="0" rtlCol="0" anchor="ctr"/>
          <a:lstStyle/>
          <a:p>
            <a:pPr indent="0" marL="0">
              <a:buNone/>
            </a:pPr>
            <a:r>
              <a:rPr lang="en-US" sz="1350" b="1" dirty="0">
                <a:solidFill>
                  <a:srgbClr val="15314F"/>
                </a:solidFill>
                <a:latin typeface="Calibri Light" pitchFamily="34" charset="0"/>
                <a:ea typeface="Calibri Light" pitchFamily="34" charset="-122"/>
                <a:cs typeface="Calibri Light" pitchFamily="34" charset="-120"/>
              </a:rPr>
              <a:t>The IF is still an event name</a:t>
            </a:r>
            <a:endParaRPr lang="en-US" sz="1350" dirty="0"/>
          </a:p>
        </p:txBody>
      </p:sp>
      <p:sp>
        <p:nvSpPr>
          <p:cNvPr id="8" name="Text 4"/>
          <p:cNvSpPr/>
          <p:nvPr/>
        </p:nvSpPr>
        <p:spPr>
          <a:xfrm>
            <a:off x="685800" y="2194560"/>
            <a:ext cx="3611880" cy="594360"/>
          </a:xfrm>
          <a:prstGeom prst="rect">
            <a:avLst/>
          </a:prstGeom>
          <a:noFill/>
          <a:ln/>
        </p:spPr>
        <p:txBody>
          <a:bodyPr wrap="square" lIns="0" tIns="0" rIns="0" bIns="0" rtlCol="0" anchor="ctr"/>
          <a:lstStyle/>
          <a:p>
            <a:pPr indent="0" marL="0">
              <a:buNone/>
            </a:pPr>
            <a:r>
              <a:rPr lang="en-US" sz="1050" dirty="0">
                <a:solidFill>
                  <a:srgbClr val="15314F"/>
                </a:solidFill>
                <a:latin typeface="Calibri" pitchFamily="34" charset="0"/>
                <a:ea typeface="Calibri" pitchFamily="34" charset="-122"/>
                <a:cs typeface="Calibri" pitchFamily="34" charset="-120"/>
              </a:rPr>
              <a:t>“If we host Qiyam” vs. “If we create regular, structured night-prayer experiences for youth with peers and mentors.”</a:t>
            </a:r>
            <a:endParaRPr lang="en-US" sz="1050" dirty="0"/>
          </a:p>
        </p:txBody>
      </p:sp>
      <p:sp>
        <p:nvSpPr>
          <p:cNvPr id="9" name="Shape 5"/>
          <p:cNvSpPr/>
          <p:nvPr/>
        </p:nvSpPr>
        <p:spPr>
          <a:xfrm>
            <a:off x="4754880" y="1554480"/>
            <a:ext cx="3886200" cy="1280160"/>
          </a:xfrm>
          <a:prstGeom prst="roundRect">
            <a:avLst>
              <a:gd name="adj" fmla="val 5714"/>
            </a:avLst>
          </a:prstGeom>
          <a:solidFill>
            <a:srgbClr val="F8FBFD"/>
          </a:solidFill>
          <a:ln w="6350">
            <a:solidFill>
              <a:srgbClr val="DCE6EE"/>
            </a:solidFill>
            <a:prstDash val="solid"/>
          </a:ln>
          <a:effectLst>
            <a:outerShdw sx="100000" sy="100000" kx="0" ky="0" algn="bl" rotWithShape="0" blurRad="101600" dist="12700" dir="5400000">
              <a:srgbClr val="000000">
                <a:alpha val="5000"/>
              </a:srgbClr>
            </a:outerShdw>
          </a:effectLst>
        </p:spPr>
      </p:sp>
      <p:pic>
        <p:nvPicPr>
          <p:cNvPr id="10" name="Image 2" descr="preencoded.png">    </p:cNvPr>
          <p:cNvPicPr>
            <a:picLocks noChangeAspect="1"/>
          </p:cNvPicPr>
          <p:nvPr/>
        </p:nvPicPr>
        <p:blipFill>
          <a:blip r:embed="rId3"/>
          <a:stretch>
            <a:fillRect/>
          </a:stretch>
        </p:blipFill>
        <p:spPr>
          <a:xfrm>
            <a:off x="4937760" y="1755648"/>
            <a:ext cx="347472" cy="347472"/>
          </a:xfrm>
          <a:prstGeom prst="rect">
            <a:avLst/>
          </a:prstGeom>
        </p:spPr>
      </p:pic>
      <p:sp>
        <p:nvSpPr>
          <p:cNvPr id="11" name="Text 6"/>
          <p:cNvSpPr/>
          <p:nvPr/>
        </p:nvSpPr>
        <p:spPr>
          <a:xfrm>
            <a:off x="5394960" y="1737360"/>
            <a:ext cx="3200400" cy="365760"/>
          </a:xfrm>
          <a:prstGeom prst="rect">
            <a:avLst/>
          </a:prstGeom>
          <a:noFill/>
          <a:ln/>
        </p:spPr>
        <p:txBody>
          <a:bodyPr wrap="square" lIns="0" tIns="0" rIns="0" bIns="0" rtlCol="0" anchor="ctr"/>
          <a:lstStyle/>
          <a:p>
            <a:pPr indent="0" marL="0">
              <a:buNone/>
            </a:pPr>
            <a:r>
              <a:rPr lang="en-US" sz="1350" b="1" dirty="0">
                <a:solidFill>
                  <a:srgbClr val="15314F"/>
                </a:solidFill>
                <a:latin typeface="Calibri Light" pitchFamily="34" charset="0"/>
                <a:ea typeface="Calibri Light" pitchFamily="34" charset="-122"/>
                <a:cs typeface="Calibri Light" pitchFamily="34" charset="-120"/>
              </a:rPr>
              <a:t>The THEN is still attendance</a:t>
            </a:r>
            <a:endParaRPr lang="en-US" sz="1350" dirty="0"/>
          </a:p>
        </p:txBody>
      </p:sp>
      <p:sp>
        <p:nvSpPr>
          <p:cNvPr id="12" name="Text 7"/>
          <p:cNvSpPr/>
          <p:nvPr/>
        </p:nvSpPr>
        <p:spPr>
          <a:xfrm>
            <a:off x="4937760" y="2194560"/>
            <a:ext cx="3611880" cy="594360"/>
          </a:xfrm>
          <a:prstGeom prst="rect">
            <a:avLst/>
          </a:prstGeom>
          <a:noFill/>
          <a:ln/>
        </p:spPr>
        <p:txBody>
          <a:bodyPr wrap="square" lIns="0" tIns="0" rIns="0" bIns="0" rtlCol="0" anchor="ctr"/>
          <a:lstStyle/>
          <a:p>
            <a:pPr indent="0" marL="0">
              <a:buNone/>
            </a:pPr>
            <a:r>
              <a:rPr lang="en-US" sz="1050" dirty="0">
                <a:solidFill>
                  <a:srgbClr val="15314F"/>
                </a:solidFill>
                <a:latin typeface="Calibri" pitchFamily="34" charset="0"/>
                <a:ea typeface="Calibri" pitchFamily="34" charset="-122"/>
                <a:cs typeface="Calibri" pitchFamily="34" charset="-120"/>
              </a:rPr>
              <a:t>“Then 200 youth will attend” is a count, not a change. Push to what shifts in the participant 6 months later.</a:t>
            </a:r>
            <a:endParaRPr lang="en-US" sz="1050" dirty="0"/>
          </a:p>
        </p:txBody>
      </p:sp>
      <p:sp>
        <p:nvSpPr>
          <p:cNvPr id="13" name="Shape 8"/>
          <p:cNvSpPr/>
          <p:nvPr/>
        </p:nvSpPr>
        <p:spPr>
          <a:xfrm>
            <a:off x="502920" y="2971800"/>
            <a:ext cx="3886200" cy="1280160"/>
          </a:xfrm>
          <a:prstGeom prst="roundRect">
            <a:avLst>
              <a:gd name="adj" fmla="val 5714"/>
            </a:avLst>
          </a:prstGeom>
          <a:solidFill>
            <a:srgbClr val="F8FBFD"/>
          </a:solidFill>
          <a:ln w="6350">
            <a:solidFill>
              <a:srgbClr val="DCE6EE"/>
            </a:solidFill>
            <a:prstDash val="solid"/>
          </a:ln>
          <a:effectLst>
            <a:outerShdw sx="100000" sy="100000" kx="0" ky="0" algn="bl" rotWithShape="0" blurRad="101600" dist="12700" dir="5400000">
              <a:srgbClr val="000000">
                <a:alpha val="5000"/>
              </a:srgbClr>
            </a:outerShdw>
          </a:effectLst>
        </p:spPr>
      </p:sp>
      <p:pic>
        <p:nvPicPr>
          <p:cNvPr id="14" name="Image 3" descr="preencoded.png">    </p:cNvPr>
          <p:cNvPicPr>
            <a:picLocks noChangeAspect="1"/>
          </p:cNvPicPr>
          <p:nvPr/>
        </p:nvPicPr>
        <p:blipFill>
          <a:blip r:embed="rId4"/>
          <a:stretch>
            <a:fillRect/>
          </a:stretch>
        </p:blipFill>
        <p:spPr>
          <a:xfrm>
            <a:off x="685800" y="3172968"/>
            <a:ext cx="347472" cy="347472"/>
          </a:xfrm>
          <a:prstGeom prst="rect">
            <a:avLst/>
          </a:prstGeom>
        </p:spPr>
      </p:pic>
      <p:sp>
        <p:nvSpPr>
          <p:cNvPr id="15" name="Text 9"/>
          <p:cNvSpPr/>
          <p:nvPr/>
        </p:nvSpPr>
        <p:spPr>
          <a:xfrm>
            <a:off x="1143000" y="3154680"/>
            <a:ext cx="3200400" cy="365760"/>
          </a:xfrm>
          <a:prstGeom prst="rect">
            <a:avLst/>
          </a:prstGeom>
          <a:noFill/>
          <a:ln/>
        </p:spPr>
        <p:txBody>
          <a:bodyPr wrap="square" lIns="0" tIns="0" rIns="0" bIns="0" rtlCol="0" anchor="ctr"/>
          <a:lstStyle/>
          <a:p>
            <a:pPr indent="0" marL="0">
              <a:buNone/>
            </a:pPr>
            <a:r>
              <a:rPr lang="en-US" sz="1350" b="1" dirty="0">
                <a:solidFill>
                  <a:srgbClr val="15314F"/>
                </a:solidFill>
                <a:latin typeface="Calibri Light" pitchFamily="34" charset="0"/>
                <a:ea typeface="Calibri Light" pitchFamily="34" charset="-122"/>
                <a:cs typeface="Calibri Light" pitchFamily="34" charset="-120"/>
              </a:rPr>
              <a:t>The THEN is too vague to test</a:t>
            </a:r>
            <a:endParaRPr lang="en-US" sz="1350" dirty="0"/>
          </a:p>
        </p:txBody>
      </p:sp>
      <p:sp>
        <p:nvSpPr>
          <p:cNvPr id="16" name="Text 10"/>
          <p:cNvSpPr/>
          <p:nvPr/>
        </p:nvSpPr>
        <p:spPr>
          <a:xfrm>
            <a:off x="685800" y="3611880"/>
            <a:ext cx="3611880" cy="594360"/>
          </a:xfrm>
          <a:prstGeom prst="rect">
            <a:avLst/>
          </a:prstGeom>
          <a:noFill/>
          <a:ln/>
        </p:spPr>
        <p:txBody>
          <a:bodyPr wrap="square" lIns="0" tIns="0" rIns="0" bIns="0" rtlCol="0" anchor="ctr"/>
          <a:lstStyle/>
          <a:p>
            <a:pPr indent="0" marL="0">
              <a:buNone/>
            </a:pPr>
            <a:r>
              <a:rPr lang="en-US" sz="1050" dirty="0">
                <a:solidFill>
                  <a:srgbClr val="15314F"/>
                </a:solidFill>
                <a:latin typeface="Calibri" pitchFamily="34" charset="0"/>
                <a:ea typeface="Calibri" pitchFamily="34" charset="-122"/>
                <a:cs typeface="Calibri" pitchFamily="34" charset="-120"/>
              </a:rPr>
              <a:t>“Youth will grow spiritually” — how would you know? Replace with a specific behavior, knowledge, or condition.</a:t>
            </a:r>
            <a:endParaRPr lang="en-US" sz="1050" dirty="0"/>
          </a:p>
        </p:txBody>
      </p:sp>
      <p:sp>
        <p:nvSpPr>
          <p:cNvPr id="17" name="Shape 11"/>
          <p:cNvSpPr/>
          <p:nvPr/>
        </p:nvSpPr>
        <p:spPr>
          <a:xfrm>
            <a:off x="4754880" y="2971800"/>
            <a:ext cx="3886200" cy="1280160"/>
          </a:xfrm>
          <a:prstGeom prst="roundRect">
            <a:avLst>
              <a:gd name="adj" fmla="val 5714"/>
            </a:avLst>
          </a:prstGeom>
          <a:solidFill>
            <a:srgbClr val="F8FBFD"/>
          </a:solidFill>
          <a:ln w="6350">
            <a:solidFill>
              <a:srgbClr val="DCE6EE"/>
            </a:solidFill>
            <a:prstDash val="solid"/>
          </a:ln>
          <a:effectLst>
            <a:outerShdw sx="100000" sy="100000" kx="0" ky="0" algn="bl" rotWithShape="0" blurRad="101600" dist="12700" dir="5400000">
              <a:srgbClr val="000000">
                <a:alpha val="5000"/>
              </a:srgbClr>
            </a:outerShdw>
          </a:effectLst>
        </p:spPr>
      </p:sp>
      <p:pic>
        <p:nvPicPr>
          <p:cNvPr id="18" name="Image 4" descr="preencoded.png">    </p:cNvPr>
          <p:cNvPicPr>
            <a:picLocks noChangeAspect="1"/>
          </p:cNvPicPr>
          <p:nvPr/>
        </p:nvPicPr>
        <p:blipFill>
          <a:blip r:embed="rId5"/>
          <a:stretch>
            <a:fillRect/>
          </a:stretch>
        </p:blipFill>
        <p:spPr>
          <a:xfrm>
            <a:off x="4937760" y="3172968"/>
            <a:ext cx="347472" cy="347472"/>
          </a:xfrm>
          <a:prstGeom prst="rect">
            <a:avLst/>
          </a:prstGeom>
        </p:spPr>
      </p:pic>
      <p:sp>
        <p:nvSpPr>
          <p:cNvPr id="19" name="Text 12"/>
          <p:cNvSpPr/>
          <p:nvPr/>
        </p:nvSpPr>
        <p:spPr>
          <a:xfrm>
            <a:off x="5394960" y="3154680"/>
            <a:ext cx="3200400" cy="365760"/>
          </a:xfrm>
          <a:prstGeom prst="rect">
            <a:avLst/>
          </a:prstGeom>
          <a:noFill/>
          <a:ln/>
        </p:spPr>
        <p:txBody>
          <a:bodyPr wrap="square" lIns="0" tIns="0" rIns="0" bIns="0" rtlCol="0" anchor="ctr"/>
          <a:lstStyle/>
          <a:p>
            <a:pPr indent="0" marL="0">
              <a:buNone/>
            </a:pPr>
            <a:r>
              <a:rPr lang="en-US" sz="1350" b="1" dirty="0">
                <a:solidFill>
                  <a:srgbClr val="15314F"/>
                </a:solidFill>
                <a:latin typeface="Calibri Light" pitchFamily="34" charset="0"/>
                <a:ea typeface="Calibri Light" pitchFamily="34" charset="-122"/>
                <a:cs typeface="Calibri Light" pitchFamily="34" charset="-120"/>
              </a:rPr>
              <a:t>No mission fingerprint</a:t>
            </a:r>
            <a:endParaRPr lang="en-US" sz="1350" dirty="0"/>
          </a:p>
        </p:txBody>
      </p:sp>
      <p:sp>
        <p:nvSpPr>
          <p:cNvPr id="20" name="Text 13"/>
          <p:cNvSpPr/>
          <p:nvPr/>
        </p:nvSpPr>
        <p:spPr>
          <a:xfrm>
            <a:off x="4937760" y="3611880"/>
            <a:ext cx="3611880" cy="594360"/>
          </a:xfrm>
          <a:prstGeom prst="rect">
            <a:avLst/>
          </a:prstGeom>
          <a:noFill/>
          <a:ln/>
        </p:spPr>
        <p:txBody>
          <a:bodyPr wrap="square" lIns="0" tIns="0" rIns="0" bIns="0" rtlCol="0" anchor="ctr"/>
          <a:lstStyle/>
          <a:p>
            <a:pPr indent="0" marL="0">
              <a:buNone/>
            </a:pPr>
            <a:r>
              <a:rPr lang="en-US" sz="1050" dirty="0">
                <a:solidFill>
                  <a:srgbClr val="15314F"/>
                </a:solidFill>
                <a:latin typeface="Calibri" pitchFamily="34" charset="0"/>
                <a:ea typeface="Calibri" pitchFamily="34" charset="-122"/>
                <a:cs typeface="Calibri" pitchFamily="34" charset="-120"/>
              </a:rPr>
              <a:t>If the same THEN could appear in a YMCA or Boys &amp; Girls Club brochure, it's missing the Islamic frame.</a:t>
            </a:r>
            <a:endParaRPr lang="en-US" sz="1050" dirty="0"/>
          </a:p>
        </p:txBody>
      </p:sp>
      <p:sp>
        <p:nvSpPr>
          <p:cNvPr id="21" name="Shape 14"/>
          <p:cNvSpPr/>
          <p:nvPr/>
        </p:nvSpPr>
        <p:spPr>
          <a:xfrm>
            <a:off x="502920" y="4732020"/>
            <a:ext cx="8138160" cy="0"/>
          </a:xfrm>
          <a:prstGeom prst="line">
            <a:avLst/>
          </a:prstGeom>
          <a:noFill/>
          <a:ln w="9525">
            <a:solidFill>
              <a:srgbClr val="DCE6EE"/>
            </a:solidFill>
            <a:prstDash val="solid"/>
          </a:ln>
        </p:spPr>
      </p:sp>
      <p:sp>
        <p:nvSpPr>
          <p:cNvPr id="22" name="Text 15"/>
          <p:cNvSpPr/>
          <p:nvPr/>
        </p:nvSpPr>
        <p:spPr>
          <a:xfrm>
            <a:off x="502920" y="4823460"/>
            <a:ext cx="3657600" cy="228600"/>
          </a:xfrm>
          <a:prstGeom prst="rect">
            <a:avLst/>
          </a:prstGeom>
          <a:noFill/>
          <a:ln/>
        </p:spPr>
        <p:txBody>
          <a:bodyPr wrap="square" lIns="0" tIns="0" rIns="0" bIns="0" rtlCol="0" anchor="ctr"/>
          <a:lstStyle/>
          <a:p>
            <a:pPr algn="l" indent="0" marL="0">
              <a:buNone/>
            </a:pPr>
            <a:r>
              <a:rPr lang="en-US" sz="900" dirty="0">
                <a:solidFill>
                  <a:srgbClr val="5A6F82"/>
                </a:solidFill>
                <a:latin typeface="Calibri" pitchFamily="34" charset="0"/>
                <a:ea typeface="Calibri" pitchFamily="34" charset="-122"/>
                <a:cs typeface="Calibri" pitchFamily="34" charset="-120"/>
              </a:rPr>
              <a:t>www.amalandcompany.com</a:t>
            </a:r>
            <a:endParaRPr lang="en-US" sz="900" dirty="0"/>
          </a:p>
        </p:txBody>
      </p:sp>
      <p:sp>
        <p:nvSpPr>
          <p:cNvPr id="23" name="Text 16"/>
          <p:cNvSpPr/>
          <p:nvPr/>
        </p:nvSpPr>
        <p:spPr>
          <a:xfrm>
            <a:off x="2743200" y="4823460"/>
            <a:ext cx="3657600" cy="228600"/>
          </a:xfrm>
          <a:prstGeom prst="rect">
            <a:avLst/>
          </a:prstGeom>
          <a:noFill/>
          <a:ln/>
        </p:spPr>
        <p:txBody>
          <a:bodyPr wrap="square" lIns="0" tIns="0" rIns="0" bIns="0" rtlCol="0" anchor="ctr"/>
          <a:lstStyle/>
          <a:p>
            <a:pPr algn="ctr" indent="0" marL="0">
              <a:buNone/>
            </a:pPr>
            <a:r>
              <a:rPr lang="en-US" sz="850" dirty="0">
                <a:solidFill>
                  <a:srgbClr val="9AAEC0"/>
                </a:solidFill>
                <a:latin typeface="Calibri" pitchFamily="34" charset="0"/>
                <a:ea typeface="Calibri" pitchFamily="34" charset="-122"/>
                <a:cs typeface="Calibri" pitchFamily="34" charset="-120"/>
              </a:rPr>
              <a:t>Module 2  ·  Q-Zero — The Hypothesis</a:t>
            </a:r>
            <a:endParaRPr lang="en-US" sz="850" dirty="0"/>
          </a:p>
        </p:txBody>
      </p:sp>
      <p:sp>
        <p:nvSpPr>
          <p:cNvPr id="24" name="Text 17"/>
          <p:cNvSpPr/>
          <p:nvPr/>
        </p:nvSpPr>
        <p:spPr>
          <a:xfrm>
            <a:off x="4983480" y="4823460"/>
            <a:ext cx="3657600" cy="228600"/>
          </a:xfrm>
          <a:prstGeom prst="rect">
            <a:avLst/>
          </a:prstGeom>
          <a:noFill/>
          <a:ln/>
        </p:spPr>
        <p:txBody>
          <a:bodyPr wrap="square" lIns="0" tIns="0" rIns="0" bIns="0" rtlCol="0" anchor="ctr"/>
          <a:lstStyle/>
          <a:p>
            <a:pPr algn="r" indent="0" marL="0">
              <a:buNone/>
            </a:pPr>
            <a:r>
              <a:rPr lang="en-US" sz="900" dirty="0">
                <a:solidFill>
                  <a:srgbClr val="5A6F82"/>
                </a:solidFill>
                <a:latin typeface="Calibri" pitchFamily="34" charset="0"/>
                <a:ea typeface="Calibri" pitchFamily="34" charset="-122"/>
                <a:cs typeface="Calibri" pitchFamily="34" charset="-120"/>
              </a:rPr>
              <a:t>Page 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589520" y="-45720"/>
            <a:ext cx="1554480" cy="777240"/>
          </a:xfrm>
          <a:prstGeom prst="rect">
            <a:avLst/>
          </a:prstGeom>
        </p:spPr>
      </p:pic>
      <p:sp>
        <p:nvSpPr>
          <p:cNvPr id="3" name="Text 0"/>
          <p:cNvSpPr/>
          <p:nvPr/>
        </p:nvSpPr>
        <p:spPr>
          <a:xfrm>
            <a:off x="502920" y="384048"/>
            <a:ext cx="5943600" cy="274320"/>
          </a:xfrm>
          <a:prstGeom prst="rect">
            <a:avLst/>
          </a:prstGeom>
          <a:noFill/>
          <a:ln/>
        </p:spPr>
        <p:txBody>
          <a:bodyPr wrap="square" lIns="0" tIns="0" rIns="0" bIns="0" rtlCol="0" anchor="ctr"/>
          <a:lstStyle/>
          <a:p>
            <a:pPr indent="0" marL="0">
              <a:buNone/>
            </a:pPr>
            <a:r>
              <a:rPr lang="en-US" sz="1050" dirty="0">
                <a:solidFill>
                  <a:srgbClr val="5A6F82"/>
                </a:solidFill>
                <a:latin typeface="Calibri" pitchFamily="34" charset="0"/>
                <a:ea typeface="Calibri" pitchFamily="34" charset="-122"/>
                <a:cs typeface="Calibri" pitchFamily="34" charset="-120"/>
              </a:rPr>
              <a:t>Worksheet  ·  25 minutes</a:t>
            </a:r>
            <a:endParaRPr lang="en-US" sz="1050" dirty="0"/>
          </a:p>
        </p:txBody>
      </p:sp>
      <p:sp>
        <p:nvSpPr>
          <p:cNvPr id="4" name="Text 1"/>
          <p:cNvSpPr/>
          <p:nvPr/>
        </p:nvSpPr>
        <p:spPr>
          <a:xfrm>
            <a:off x="502920" y="640080"/>
            <a:ext cx="7315200" cy="868680"/>
          </a:xfrm>
          <a:prstGeom prst="rect">
            <a:avLst/>
          </a:prstGeom>
          <a:noFill/>
          <a:ln/>
        </p:spPr>
        <p:txBody>
          <a:bodyPr wrap="square" lIns="0" tIns="0" rIns="0" bIns="0" rtlCol="0" anchor="ctr"/>
          <a:lstStyle/>
          <a:p>
            <a:pPr indent="0" marL="0">
              <a:buNone/>
            </a:pPr>
            <a:r>
              <a:rPr lang="en-US" sz="3000" dirty="0">
                <a:solidFill>
                  <a:srgbClr val="15314F"/>
                </a:solidFill>
                <a:latin typeface="Calibri Light" pitchFamily="34" charset="0"/>
                <a:ea typeface="Calibri Light" pitchFamily="34" charset="-122"/>
                <a:cs typeface="Calibri Light" pitchFamily="34" charset="-120"/>
              </a:rPr>
              <a:t>Write your Q-Zero</a:t>
            </a:r>
            <a:endParaRPr lang="en-US" sz="3000" dirty="0"/>
          </a:p>
        </p:txBody>
      </p:sp>
      <p:sp>
        <p:nvSpPr>
          <p:cNvPr id="5" name="Shape 2"/>
          <p:cNvSpPr/>
          <p:nvPr/>
        </p:nvSpPr>
        <p:spPr>
          <a:xfrm>
            <a:off x="502920" y="1508760"/>
            <a:ext cx="457200" cy="457200"/>
          </a:xfrm>
          <a:prstGeom prst="ellipse">
            <a:avLst/>
          </a:prstGeom>
          <a:solidFill>
            <a:srgbClr val="15314F"/>
          </a:solidFill>
          <a:ln w="12700">
            <a:solidFill>
              <a:srgbClr val="15314F"/>
            </a:solidFill>
            <a:prstDash val="solid"/>
          </a:ln>
        </p:spPr>
      </p:sp>
      <p:sp>
        <p:nvSpPr>
          <p:cNvPr id="6" name="Text 3"/>
          <p:cNvSpPr/>
          <p:nvPr/>
        </p:nvSpPr>
        <p:spPr>
          <a:xfrm>
            <a:off x="502920" y="1508760"/>
            <a:ext cx="457200" cy="457200"/>
          </a:xfrm>
          <a:prstGeom prst="rect">
            <a:avLst/>
          </a:prstGeom>
          <a:noFill/>
          <a:ln/>
        </p:spPr>
        <p:txBody>
          <a:bodyPr wrap="square" lIns="0" tIns="0" rIns="0" bIns="0" rtlCol="0" anchor="ctr"/>
          <a:lstStyle/>
          <a:p>
            <a:pPr algn="ctr" indent="0" marL="0">
              <a:buNone/>
            </a:pPr>
            <a:r>
              <a:rPr lang="en-US" sz="1800" b="1" dirty="0">
                <a:solidFill>
                  <a:srgbClr val="5BA9D8"/>
                </a:solidFill>
                <a:latin typeface="Calibri Light" pitchFamily="34" charset="0"/>
                <a:ea typeface="Calibri Light" pitchFamily="34" charset="-122"/>
                <a:cs typeface="Calibri Light" pitchFamily="34" charset="-120"/>
              </a:rPr>
              <a:t>1</a:t>
            </a:r>
            <a:endParaRPr lang="en-US" sz="1800" dirty="0"/>
          </a:p>
        </p:txBody>
      </p:sp>
      <p:sp>
        <p:nvSpPr>
          <p:cNvPr id="7" name="Text 4"/>
          <p:cNvSpPr/>
          <p:nvPr/>
        </p:nvSpPr>
        <p:spPr>
          <a:xfrm>
            <a:off x="1143000" y="1490472"/>
            <a:ext cx="2743200" cy="365760"/>
          </a:xfrm>
          <a:prstGeom prst="rect">
            <a:avLst/>
          </a:prstGeom>
          <a:noFill/>
          <a:ln/>
        </p:spPr>
        <p:txBody>
          <a:bodyPr wrap="square" lIns="0" tIns="0" rIns="0" bIns="0" rtlCol="0" anchor="ctr"/>
          <a:lstStyle/>
          <a:p>
            <a:pPr indent="0" marL="0">
              <a:buNone/>
            </a:pPr>
            <a:r>
              <a:rPr lang="en-US" sz="1350" b="1" dirty="0">
                <a:solidFill>
                  <a:srgbClr val="15314F"/>
                </a:solidFill>
                <a:latin typeface="Calibri Light" pitchFamily="34" charset="0"/>
                <a:ea typeface="Calibri Light" pitchFamily="34" charset="-122"/>
                <a:cs typeface="Calibri Light" pitchFamily="34" charset="-120"/>
              </a:rPr>
              <a:t>Name the philosophy</a:t>
            </a:r>
            <a:endParaRPr lang="en-US" sz="1350" dirty="0"/>
          </a:p>
        </p:txBody>
      </p:sp>
      <p:sp>
        <p:nvSpPr>
          <p:cNvPr id="8" name="Text 5"/>
          <p:cNvSpPr/>
          <p:nvPr/>
        </p:nvSpPr>
        <p:spPr>
          <a:xfrm>
            <a:off x="3977640" y="1490472"/>
            <a:ext cx="4754880" cy="548640"/>
          </a:xfrm>
          <a:prstGeom prst="rect">
            <a:avLst/>
          </a:prstGeom>
          <a:noFill/>
          <a:ln/>
        </p:spPr>
        <p:txBody>
          <a:bodyPr wrap="square" lIns="0" tIns="0" rIns="0" bIns="0" rtlCol="0" anchor="ctr"/>
          <a:lstStyle/>
          <a:p>
            <a:pPr indent="0" marL="0">
              <a:buNone/>
            </a:pPr>
            <a:r>
              <a:rPr lang="en-US" sz="1100" dirty="0">
                <a:solidFill>
                  <a:srgbClr val="15314F"/>
                </a:solidFill>
                <a:latin typeface="Calibri" pitchFamily="34" charset="0"/>
                <a:ea typeface="Calibri" pitchFamily="34" charset="-122"/>
                <a:cs typeface="Calibri" pitchFamily="34" charset="-120"/>
              </a:rPr>
              <a:t>No event names, no logistics. Just the underlying approach — what's distinctive about how you do this work.</a:t>
            </a:r>
            <a:endParaRPr lang="en-US" sz="1100" dirty="0"/>
          </a:p>
        </p:txBody>
      </p:sp>
      <p:sp>
        <p:nvSpPr>
          <p:cNvPr id="9" name="Shape 6"/>
          <p:cNvSpPr/>
          <p:nvPr/>
        </p:nvSpPr>
        <p:spPr>
          <a:xfrm>
            <a:off x="502920" y="2103120"/>
            <a:ext cx="457200" cy="457200"/>
          </a:xfrm>
          <a:prstGeom prst="ellipse">
            <a:avLst/>
          </a:prstGeom>
          <a:solidFill>
            <a:srgbClr val="15314F"/>
          </a:solidFill>
          <a:ln w="12700">
            <a:solidFill>
              <a:srgbClr val="15314F"/>
            </a:solidFill>
            <a:prstDash val="solid"/>
          </a:ln>
        </p:spPr>
      </p:sp>
      <p:sp>
        <p:nvSpPr>
          <p:cNvPr id="10" name="Text 7"/>
          <p:cNvSpPr/>
          <p:nvPr/>
        </p:nvSpPr>
        <p:spPr>
          <a:xfrm>
            <a:off x="502920" y="2103120"/>
            <a:ext cx="457200" cy="457200"/>
          </a:xfrm>
          <a:prstGeom prst="rect">
            <a:avLst/>
          </a:prstGeom>
          <a:noFill/>
          <a:ln/>
        </p:spPr>
        <p:txBody>
          <a:bodyPr wrap="square" lIns="0" tIns="0" rIns="0" bIns="0" rtlCol="0" anchor="ctr"/>
          <a:lstStyle/>
          <a:p>
            <a:pPr algn="ctr" indent="0" marL="0">
              <a:buNone/>
            </a:pPr>
            <a:r>
              <a:rPr lang="en-US" sz="1800" b="1" dirty="0">
                <a:solidFill>
                  <a:srgbClr val="5BA9D8"/>
                </a:solidFill>
                <a:latin typeface="Calibri Light" pitchFamily="34" charset="0"/>
                <a:ea typeface="Calibri Light" pitchFamily="34" charset="-122"/>
                <a:cs typeface="Calibri Light" pitchFamily="34" charset="-120"/>
              </a:rPr>
              <a:t>2</a:t>
            </a:r>
            <a:endParaRPr lang="en-US" sz="1800" dirty="0"/>
          </a:p>
        </p:txBody>
      </p:sp>
      <p:sp>
        <p:nvSpPr>
          <p:cNvPr id="11" name="Text 8"/>
          <p:cNvSpPr/>
          <p:nvPr/>
        </p:nvSpPr>
        <p:spPr>
          <a:xfrm>
            <a:off x="1143000" y="2084832"/>
            <a:ext cx="2743200" cy="365760"/>
          </a:xfrm>
          <a:prstGeom prst="rect">
            <a:avLst/>
          </a:prstGeom>
          <a:noFill/>
          <a:ln/>
        </p:spPr>
        <p:txBody>
          <a:bodyPr wrap="square" lIns="0" tIns="0" rIns="0" bIns="0" rtlCol="0" anchor="ctr"/>
          <a:lstStyle/>
          <a:p>
            <a:pPr indent="0" marL="0">
              <a:buNone/>
            </a:pPr>
            <a:r>
              <a:rPr lang="en-US" sz="1350" b="1" dirty="0">
                <a:solidFill>
                  <a:srgbClr val="15314F"/>
                </a:solidFill>
                <a:latin typeface="Calibri Light" pitchFamily="34" charset="0"/>
                <a:ea typeface="Calibri Light" pitchFamily="34" charset="-122"/>
                <a:cs typeface="Calibri Light" pitchFamily="34" charset="-120"/>
              </a:rPr>
              <a:t>Draft your IF</a:t>
            </a:r>
            <a:endParaRPr lang="en-US" sz="1350" dirty="0"/>
          </a:p>
        </p:txBody>
      </p:sp>
      <p:sp>
        <p:nvSpPr>
          <p:cNvPr id="12" name="Text 9"/>
          <p:cNvSpPr/>
          <p:nvPr/>
        </p:nvSpPr>
        <p:spPr>
          <a:xfrm>
            <a:off x="3977640" y="2084832"/>
            <a:ext cx="4754880" cy="548640"/>
          </a:xfrm>
          <a:prstGeom prst="rect">
            <a:avLst/>
          </a:prstGeom>
          <a:noFill/>
          <a:ln/>
        </p:spPr>
        <p:txBody>
          <a:bodyPr wrap="square" lIns="0" tIns="0" rIns="0" bIns="0" rtlCol="0" anchor="ctr"/>
          <a:lstStyle/>
          <a:p>
            <a:pPr indent="0" marL="0">
              <a:buNone/>
            </a:pPr>
            <a:r>
              <a:rPr lang="en-US" sz="1100" dirty="0">
                <a:solidFill>
                  <a:srgbClr val="15314F"/>
                </a:solidFill>
                <a:latin typeface="Calibri" pitchFamily="34" charset="0"/>
                <a:ea typeface="Calibri" pitchFamily="34" charset="-122"/>
                <a:cs typeface="Calibri" pitchFamily="34" charset="-120"/>
              </a:rPr>
              <a:t>“IF we ______________________________” — describe the approach in 1–2 lines.</a:t>
            </a:r>
            <a:endParaRPr lang="en-US" sz="1100" dirty="0"/>
          </a:p>
        </p:txBody>
      </p:sp>
      <p:sp>
        <p:nvSpPr>
          <p:cNvPr id="13" name="Shape 10"/>
          <p:cNvSpPr/>
          <p:nvPr/>
        </p:nvSpPr>
        <p:spPr>
          <a:xfrm>
            <a:off x="502920" y="2697480"/>
            <a:ext cx="457200" cy="457200"/>
          </a:xfrm>
          <a:prstGeom prst="ellipse">
            <a:avLst/>
          </a:prstGeom>
          <a:solidFill>
            <a:srgbClr val="15314F"/>
          </a:solidFill>
          <a:ln w="12700">
            <a:solidFill>
              <a:srgbClr val="15314F"/>
            </a:solidFill>
            <a:prstDash val="solid"/>
          </a:ln>
        </p:spPr>
      </p:sp>
      <p:sp>
        <p:nvSpPr>
          <p:cNvPr id="14" name="Text 11"/>
          <p:cNvSpPr/>
          <p:nvPr/>
        </p:nvSpPr>
        <p:spPr>
          <a:xfrm>
            <a:off x="502920" y="2697480"/>
            <a:ext cx="457200" cy="457200"/>
          </a:xfrm>
          <a:prstGeom prst="rect">
            <a:avLst/>
          </a:prstGeom>
          <a:noFill/>
          <a:ln/>
        </p:spPr>
        <p:txBody>
          <a:bodyPr wrap="square" lIns="0" tIns="0" rIns="0" bIns="0" rtlCol="0" anchor="ctr"/>
          <a:lstStyle/>
          <a:p>
            <a:pPr algn="ctr" indent="0" marL="0">
              <a:buNone/>
            </a:pPr>
            <a:r>
              <a:rPr lang="en-US" sz="1800" b="1" dirty="0">
                <a:solidFill>
                  <a:srgbClr val="5BA9D8"/>
                </a:solidFill>
                <a:latin typeface="Calibri Light" pitchFamily="34" charset="0"/>
                <a:ea typeface="Calibri Light" pitchFamily="34" charset="-122"/>
                <a:cs typeface="Calibri Light" pitchFamily="34" charset="-120"/>
              </a:rPr>
              <a:t>3</a:t>
            </a:r>
            <a:endParaRPr lang="en-US" sz="1800" dirty="0"/>
          </a:p>
        </p:txBody>
      </p:sp>
      <p:sp>
        <p:nvSpPr>
          <p:cNvPr id="15" name="Text 12"/>
          <p:cNvSpPr/>
          <p:nvPr/>
        </p:nvSpPr>
        <p:spPr>
          <a:xfrm>
            <a:off x="1143000" y="2679192"/>
            <a:ext cx="2743200" cy="365760"/>
          </a:xfrm>
          <a:prstGeom prst="rect">
            <a:avLst/>
          </a:prstGeom>
          <a:noFill/>
          <a:ln/>
        </p:spPr>
        <p:txBody>
          <a:bodyPr wrap="square" lIns="0" tIns="0" rIns="0" bIns="0" rtlCol="0" anchor="ctr"/>
          <a:lstStyle/>
          <a:p>
            <a:pPr indent="0" marL="0">
              <a:buNone/>
            </a:pPr>
            <a:r>
              <a:rPr lang="en-US" sz="1350" b="1" dirty="0">
                <a:solidFill>
                  <a:srgbClr val="15314F"/>
                </a:solidFill>
                <a:latin typeface="Calibri Light" pitchFamily="34" charset="0"/>
                <a:ea typeface="Calibri Light" pitchFamily="34" charset="-122"/>
                <a:cs typeface="Calibri Light" pitchFamily="34" charset="-120"/>
              </a:rPr>
              <a:t>Draft your THEN</a:t>
            </a:r>
            <a:endParaRPr lang="en-US" sz="1350" dirty="0"/>
          </a:p>
        </p:txBody>
      </p:sp>
      <p:sp>
        <p:nvSpPr>
          <p:cNvPr id="16" name="Text 13"/>
          <p:cNvSpPr/>
          <p:nvPr/>
        </p:nvSpPr>
        <p:spPr>
          <a:xfrm>
            <a:off x="3977640" y="2679192"/>
            <a:ext cx="4754880" cy="548640"/>
          </a:xfrm>
          <a:prstGeom prst="rect">
            <a:avLst/>
          </a:prstGeom>
          <a:noFill/>
          <a:ln/>
        </p:spPr>
        <p:txBody>
          <a:bodyPr wrap="square" lIns="0" tIns="0" rIns="0" bIns="0" rtlCol="0" anchor="ctr"/>
          <a:lstStyle/>
          <a:p>
            <a:pPr indent="0" marL="0">
              <a:buNone/>
            </a:pPr>
            <a:r>
              <a:rPr lang="en-US" sz="1100" dirty="0">
                <a:solidFill>
                  <a:srgbClr val="15314F"/>
                </a:solidFill>
                <a:latin typeface="Calibri" pitchFamily="34" charset="0"/>
                <a:ea typeface="Calibri" pitchFamily="34" charset="-122"/>
                <a:cs typeface="Calibri" pitchFamily="34" charset="-120"/>
              </a:rPr>
              <a:t>“THEN ______________________________” — a behavioral or condition change in a person, 6–18 months out.</a:t>
            </a:r>
            <a:endParaRPr lang="en-US" sz="1100" dirty="0"/>
          </a:p>
        </p:txBody>
      </p:sp>
      <p:sp>
        <p:nvSpPr>
          <p:cNvPr id="17" name="Shape 14"/>
          <p:cNvSpPr/>
          <p:nvPr/>
        </p:nvSpPr>
        <p:spPr>
          <a:xfrm>
            <a:off x="502920" y="3291840"/>
            <a:ext cx="457200" cy="457200"/>
          </a:xfrm>
          <a:prstGeom prst="ellipse">
            <a:avLst/>
          </a:prstGeom>
          <a:solidFill>
            <a:srgbClr val="15314F"/>
          </a:solidFill>
          <a:ln w="12700">
            <a:solidFill>
              <a:srgbClr val="15314F"/>
            </a:solidFill>
            <a:prstDash val="solid"/>
          </a:ln>
        </p:spPr>
      </p:sp>
      <p:sp>
        <p:nvSpPr>
          <p:cNvPr id="18" name="Text 15"/>
          <p:cNvSpPr/>
          <p:nvPr/>
        </p:nvSpPr>
        <p:spPr>
          <a:xfrm>
            <a:off x="502920" y="3291840"/>
            <a:ext cx="457200" cy="457200"/>
          </a:xfrm>
          <a:prstGeom prst="rect">
            <a:avLst/>
          </a:prstGeom>
          <a:noFill/>
          <a:ln/>
        </p:spPr>
        <p:txBody>
          <a:bodyPr wrap="square" lIns="0" tIns="0" rIns="0" bIns="0" rtlCol="0" anchor="ctr"/>
          <a:lstStyle/>
          <a:p>
            <a:pPr algn="ctr" indent="0" marL="0">
              <a:buNone/>
            </a:pPr>
            <a:r>
              <a:rPr lang="en-US" sz="1800" b="1" dirty="0">
                <a:solidFill>
                  <a:srgbClr val="5BA9D8"/>
                </a:solidFill>
                <a:latin typeface="Calibri Light" pitchFamily="34" charset="0"/>
                <a:ea typeface="Calibri Light" pitchFamily="34" charset="-122"/>
                <a:cs typeface="Calibri Light" pitchFamily="34" charset="-120"/>
              </a:rPr>
              <a:t>4</a:t>
            </a:r>
            <a:endParaRPr lang="en-US" sz="1800" dirty="0"/>
          </a:p>
        </p:txBody>
      </p:sp>
      <p:sp>
        <p:nvSpPr>
          <p:cNvPr id="19" name="Text 16"/>
          <p:cNvSpPr/>
          <p:nvPr/>
        </p:nvSpPr>
        <p:spPr>
          <a:xfrm>
            <a:off x="1143000" y="3273552"/>
            <a:ext cx="2743200" cy="365760"/>
          </a:xfrm>
          <a:prstGeom prst="rect">
            <a:avLst/>
          </a:prstGeom>
          <a:noFill/>
          <a:ln/>
        </p:spPr>
        <p:txBody>
          <a:bodyPr wrap="square" lIns="0" tIns="0" rIns="0" bIns="0" rtlCol="0" anchor="ctr"/>
          <a:lstStyle/>
          <a:p>
            <a:pPr indent="0" marL="0">
              <a:buNone/>
            </a:pPr>
            <a:r>
              <a:rPr lang="en-US" sz="1350" b="1" dirty="0">
                <a:solidFill>
                  <a:srgbClr val="15314F"/>
                </a:solidFill>
                <a:latin typeface="Calibri Light" pitchFamily="34" charset="0"/>
                <a:ea typeface="Calibri Light" pitchFamily="34" charset="-122"/>
                <a:cs typeface="Calibri Light" pitchFamily="34" charset="-120"/>
              </a:rPr>
              <a:t>Traffic-light yourself</a:t>
            </a:r>
            <a:endParaRPr lang="en-US" sz="1350" dirty="0"/>
          </a:p>
        </p:txBody>
      </p:sp>
      <p:sp>
        <p:nvSpPr>
          <p:cNvPr id="20" name="Text 17"/>
          <p:cNvSpPr/>
          <p:nvPr/>
        </p:nvSpPr>
        <p:spPr>
          <a:xfrm>
            <a:off x="3977640" y="3273552"/>
            <a:ext cx="4754880" cy="548640"/>
          </a:xfrm>
          <a:prstGeom prst="rect">
            <a:avLst/>
          </a:prstGeom>
          <a:noFill/>
          <a:ln/>
        </p:spPr>
        <p:txBody>
          <a:bodyPr wrap="square" lIns="0" tIns="0" rIns="0" bIns="0" rtlCol="0" anchor="ctr"/>
          <a:lstStyle/>
          <a:p>
            <a:pPr indent="0" marL="0">
              <a:buNone/>
            </a:pPr>
            <a:r>
              <a:rPr lang="en-US" sz="1100" dirty="0">
                <a:solidFill>
                  <a:srgbClr val="15314F"/>
                </a:solidFill>
                <a:latin typeface="Calibri" pitchFamily="34" charset="0"/>
                <a:ea typeface="Calibri" pitchFamily="34" charset="-122"/>
                <a:cs typeface="Calibri" pitchFamily="34" charset="-120"/>
              </a:rPr>
              <a:t>Self-rate Red / Yellow / Green. If Yellow, sharpen. Then bring it to the group.</a:t>
            </a:r>
            <a:endParaRPr lang="en-US" sz="1100" dirty="0"/>
          </a:p>
        </p:txBody>
      </p:sp>
      <p:sp>
        <p:nvSpPr>
          <p:cNvPr id="21" name="Shape 18"/>
          <p:cNvSpPr/>
          <p:nvPr/>
        </p:nvSpPr>
        <p:spPr>
          <a:xfrm>
            <a:off x="502920" y="3886200"/>
            <a:ext cx="457200" cy="457200"/>
          </a:xfrm>
          <a:prstGeom prst="ellipse">
            <a:avLst/>
          </a:prstGeom>
          <a:solidFill>
            <a:srgbClr val="15314F"/>
          </a:solidFill>
          <a:ln w="12700">
            <a:solidFill>
              <a:srgbClr val="15314F"/>
            </a:solidFill>
            <a:prstDash val="solid"/>
          </a:ln>
        </p:spPr>
      </p:sp>
      <p:sp>
        <p:nvSpPr>
          <p:cNvPr id="22" name="Text 19"/>
          <p:cNvSpPr/>
          <p:nvPr/>
        </p:nvSpPr>
        <p:spPr>
          <a:xfrm>
            <a:off x="502920" y="3886200"/>
            <a:ext cx="457200" cy="457200"/>
          </a:xfrm>
          <a:prstGeom prst="rect">
            <a:avLst/>
          </a:prstGeom>
          <a:noFill/>
          <a:ln/>
        </p:spPr>
        <p:txBody>
          <a:bodyPr wrap="square" lIns="0" tIns="0" rIns="0" bIns="0" rtlCol="0" anchor="ctr"/>
          <a:lstStyle/>
          <a:p>
            <a:pPr algn="ctr" indent="0" marL="0">
              <a:buNone/>
            </a:pPr>
            <a:r>
              <a:rPr lang="en-US" sz="1800" b="1" dirty="0">
                <a:solidFill>
                  <a:srgbClr val="5BA9D8"/>
                </a:solidFill>
                <a:latin typeface="Calibri Light" pitchFamily="34" charset="0"/>
                <a:ea typeface="Calibri Light" pitchFamily="34" charset="-122"/>
                <a:cs typeface="Calibri Light" pitchFamily="34" charset="-120"/>
              </a:rPr>
              <a:t>5</a:t>
            </a:r>
            <a:endParaRPr lang="en-US" sz="1800" dirty="0"/>
          </a:p>
        </p:txBody>
      </p:sp>
      <p:sp>
        <p:nvSpPr>
          <p:cNvPr id="23" name="Text 20"/>
          <p:cNvSpPr/>
          <p:nvPr/>
        </p:nvSpPr>
        <p:spPr>
          <a:xfrm>
            <a:off x="1143000" y="3867912"/>
            <a:ext cx="2743200" cy="365760"/>
          </a:xfrm>
          <a:prstGeom prst="rect">
            <a:avLst/>
          </a:prstGeom>
          <a:noFill/>
          <a:ln/>
        </p:spPr>
        <p:txBody>
          <a:bodyPr wrap="square" lIns="0" tIns="0" rIns="0" bIns="0" rtlCol="0" anchor="ctr"/>
          <a:lstStyle/>
          <a:p>
            <a:pPr indent="0" marL="0">
              <a:buNone/>
            </a:pPr>
            <a:r>
              <a:rPr lang="en-US" sz="1350" b="1" dirty="0">
                <a:solidFill>
                  <a:srgbClr val="15314F"/>
                </a:solidFill>
                <a:latin typeface="Calibri Light" pitchFamily="34" charset="0"/>
                <a:ea typeface="Calibri Light" pitchFamily="34" charset="-122"/>
                <a:cs typeface="Calibri Light" pitchFamily="34" charset="-120"/>
              </a:rPr>
              <a:t>Revise with feedback</a:t>
            </a:r>
            <a:endParaRPr lang="en-US" sz="1350" dirty="0"/>
          </a:p>
        </p:txBody>
      </p:sp>
      <p:sp>
        <p:nvSpPr>
          <p:cNvPr id="24" name="Text 21"/>
          <p:cNvSpPr/>
          <p:nvPr/>
        </p:nvSpPr>
        <p:spPr>
          <a:xfrm>
            <a:off x="3977640" y="3867912"/>
            <a:ext cx="4754880" cy="548640"/>
          </a:xfrm>
          <a:prstGeom prst="rect">
            <a:avLst/>
          </a:prstGeom>
          <a:noFill/>
          <a:ln/>
        </p:spPr>
        <p:txBody>
          <a:bodyPr wrap="square" lIns="0" tIns="0" rIns="0" bIns="0" rtlCol="0" anchor="ctr"/>
          <a:lstStyle/>
          <a:p>
            <a:pPr indent="0" marL="0">
              <a:buNone/>
            </a:pPr>
            <a:r>
              <a:rPr lang="en-US" sz="1100" dirty="0">
                <a:solidFill>
                  <a:srgbClr val="15314F"/>
                </a:solidFill>
                <a:latin typeface="Calibri" pitchFamily="34" charset="0"/>
                <a:ea typeface="Calibri" pitchFamily="34" charset="-122"/>
                <a:cs typeface="Calibri" pitchFamily="34" charset="-120"/>
              </a:rPr>
              <a:t>After group input, write your Version 2 IF–THEN underneath. This is what travels with you to Module 3.</a:t>
            </a:r>
            <a:endParaRPr lang="en-US" sz="1100" dirty="0"/>
          </a:p>
        </p:txBody>
      </p:sp>
      <p:sp>
        <p:nvSpPr>
          <p:cNvPr id="25" name="Shape 22"/>
          <p:cNvSpPr/>
          <p:nvPr/>
        </p:nvSpPr>
        <p:spPr>
          <a:xfrm>
            <a:off x="502920" y="4732020"/>
            <a:ext cx="8138160" cy="0"/>
          </a:xfrm>
          <a:prstGeom prst="line">
            <a:avLst/>
          </a:prstGeom>
          <a:noFill/>
          <a:ln w="9525">
            <a:solidFill>
              <a:srgbClr val="DCE6EE"/>
            </a:solidFill>
            <a:prstDash val="solid"/>
          </a:ln>
        </p:spPr>
      </p:sp>
      <p:sp>
        <p:nvSpPr>
          <p:cNvPr id="26" name="Text 23"/>
          <p:cNvSpPr/>
          <p:nvPr/>
        </p:nvSpPr>
        <p:spPr>
          <a:xfrm>
            <a:off x="502920" y="4823460"/>
            <a:ext cx="3657600" cy="228600"/>
          </a:xfrm>
          <a:prstGeom prst="rect">
            <a:avLst/>
          </a:prstGeom>
          <a:noFill/>
          <a:ln/>
        </p:spPr>
        <p:txBody>
          <a:bodyPr wrap="square" lIns="0" tIns="0" rIns="0" bIns="0" rtlCol="0" anchor="ctr"/>
          <a:lstStyle/>
          <a:p>
            <a:pPr algn="l" indent="0" marL="0">
              <a:buNone/>
            </a:pPr>
            <a:r>
              <a:rPr lang="en-US" sz="900" dirty="0">
                <a:solidFill>
                  <a:srgbClr val="5A6F82"/>
                </a:solidFill>
                <a:latin typeface="Calibri" pitchFamily="34" charset="0"/>
                <a:ea typeface="Calibri" pitchFamily="34" charset="-122"/>
                <a:cs typeface="Calibri" pitchFamily="34" charset="-120"/>
              </a:rPr>
              <a:t>www.amalandcompany.com</a:t>
            </a:r>
            <a:endParaRPr lang="en-US" sz="900" dirty="0"/>
          </a:p>
        </p:txBody>
      </p:sp>
      <p:sp>
        <p:nvSpPr>
          <p:cNvPr id="27" name="Text 24"/>
          <p:cNvSpPr/>
          <p:nvPr/>
        </p:nvSpPr>
        <p:spPr>
          <a:xfrm>
            <a:off x="2743200" y="4823460"/>
            <a:ext cx="3657600" cy="228600"/>
          </a:xfrm>
          <a:prstGeom prst="rect">
            <a:avLst/>
          </a:prstGeom>
          <a:noFill/>
          <a:ln/>
        </p:spPr>
        <p:txBody>
          <a:bodyPr wrap="square" lIns="0" tIns="0" rIns="0" bIns="0" rtlCol="0" anchor="ctr"/>
          <a:lstStyle/>
          <a:p>
            <a:pPr algn="ctr" indent="0" marL="0">
              <a:buNone/>
            </a:pPr>
            <a:r>
              <a:rPr lang="en-US" sz="850" dirty="0">
                <a:solidFill>
                  <a:srgbClr val="9AAEC0"/>
                </a:solidFill>
                <a:latin typeface="Calibri" pitchFamily="34" charset="0"/>
                <a:ea typeface="Calibri" pitchFamily="34" charset="-122"/>
                <a:cs typeface="Calibri" pitchFamily="34" charset="-120"/>
              </a:rPr>
              <a:t>Module 2  ·  Q-Zero — The Hypothesis</a:t>
            </a:r>
            <a:endParaRPr lang="en-US" sz="850" dirty="0"/>
          </a:p>
        </p:txBody>
      </p:sp>
      <p:sp>
        <p:nvSpPr>
          <p:cNvPr id="28" name="Text 25"/>
          <p:cNvSpPr/>
          <p:nvPr/>
        </p:nvSpPr>
        <p:spPr>
          <a:xfrm>
            <a:off x="4983480" y="4823460"/>
            <a:ext cx="3657600" cy="228600"/>
          </a:xfrm>
          <a:prstGeom prst="rect">
            <a:avLst/>
          </a:prstGeom>
          <a:noFill/>
          <a:ln/>
        </p:spPr>
        <p:txBody>
          <a:bodyPr wrap="square" lIns="0" tIns="0" rIns="0" bIns="0" rtlCol="0" anchor="ctr"/>
          <a:lstStyle/>
          <a:p>
            <a:pPr algn="r" indent="0" marL="0">
              <a:buNone/>
            </a:pPr>
            <a:r>
              <a:rPr lang="en-US" sz="900" dirty="0">
                <a:solidFill>
                  <a:srgbClr val="5A6F82"/>
                </a:solidFill>
                <a:latin typeface="Calibri" pitchFamily="34" charset="0"/>
                <a:ea typeface="Calibri" pitchFamily="34" charset="-122"/>
                <a:cs typeface="Calibri" pitchFamily="34" charset="-120"/>
              </a:rPr>
              <a:t>Page 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589520" y="-45720"/>
            <a:ext cx="1554480" cy="777240"/>
          </a:xfrm>
          <a:prstGeom prst="rect">
            <a:avLst/>
          </a:prstGeom>
        </p:spPr>
      </p:pic>
      <p:sp>
        <p:nvSpPr>
          <p:cNvPr id="3" name="Text 0"/>
          <p:cNvSpPr/>
          <p:nvPr/>
        </p:nvSpPr>
        <p:spPr>
          <a:xfrm>
            <a:off x="502920" y="384048"/>
            <a:ext cx="5943600" cy="274320"/>
          </a:xfrm>
          <a:prstGeom prst="rect">
            <a:avLst/>
          </a:prstGeom>
          <a:noFill/>
          <a:ln/>
        </p:spPr>
        <p:txBody>
          <a:bodyPr wrap="square" lIns="0" tIns="0" rIns="0" bIns="0" rtlCol="0" anchor="ctr"/>
          <a:lstStyle/>
          <a:p>
            <a:pPr indent="0" marL="0">
              <a:buNone/>
            </a:pPr>
            <a:r>
              <a:rPr lang="en-US" sz="1050" dirty="0">
                <a:solidFill>
                  <a:srgbClr val="5A6F82"/>
                </a:solidFill>
                <a:latin typeface="Calibri" pitchFamily="34" charset="0"/>
                <a:ea typeface="Calibri" pitchFamily="34" charset="-122"/>
                <a:cs typeface="Calibri" pitchFamily="34" charset="-120"/>
              </a:rPr>
              <a:t>Reflection  ·  5 minutes</a:t>
            </a:r>
            <a:endParaRPr lang="en-US" sz="1050" dirty="0"/>
          </a:p>
        </p:txBody>
      </p:sp>
      <p:sp>
        <p:nvSpPr>
          <p:cNvPr id="4" name="Text 1"/>
          <p:cNvSpPr/>
          <p:nvPr/>
        </p:nvSpPr>
        <p:spPr>
          <a:xfrm>
            <a:off x="502920" y="640080"/>
            <a:ext cx="7315200" cy="868680"/>
          </a:xfrm>
          <a:prstGeom prst="rect">
            <a:avLst/>
          </a:prstGeom>
          <a:noFill/>
          <a:ln/>
        </p:spPr>
        <p:txBody>
          <a:bodyPr wrap="square" lIns="0" tIns="0" rIns="0" bIns="0" rtlCol="0" anchor="ctr"/>
          <a:lstStyle/>
          <a:p>
            <a:pPr indent="0" marL="0">
              <a:buNone/>
            </a:pPr>
            <a:r>
              <a:rPr lang="en-US" sz="3000" dirty="0">
                <a:solidFill>
                  <a:srgbClr val="15314F"/>
                </a:solidFill>
                <a:latin typeface="Calibri Light" pitchFamily="34" charset="0"/>
                <a:ea typeface="Calibri Light" pitchFamily="34" charset="-122"/>
                <a:cs typeface="Calibri Light" pitchFamily="34" charset="-120"/>
              </a:rPr>
              <a:t>Three questions to test your Q-Zero</a:t>
            </a:r>
            <a:endParaRPr lang="en-US" sz="3000" dirty="0"/>
          </a:p>
        </p:txBody>
      </p:sp>
      <p:sp>
        <p:nvSpPr>
          <p:cNvPr id="5" name="Text 2"/>
          <p:cNvSpPr/>
          <p:nvPr/>
        </p:nvSpPr>
        <p:spPr>
          <a:xfrm>
            <a:off x="502920" y="1645920"/>
            <a:ext cx="457200" cy="640080"/>
          </a:xfrm>
          <a:prstGeom prst="rect">
            <a:avLst/>
          </a:prstGeom>
          <a:noFill/>
          <a:ln/>
        </p:spPr>
        <p:txBody>
          <a:bodyPr wrap="square" lIns="0" tIns="0" rIns="0" bIns="0" rtlCol="0" anchor="ctr"/>
          <a:lstStyle/>
          <a:p>
            <a:pPr indent="0" marL="0">
              <a:buNone/>
            </a:pPr>
            <a:r>
              <a:rPr lang="en-US" sz="4800" dirty="0">
                <a:solidFill>
                  <a:srgbClr val="5BA9D8"/>
                </a:solidFill>
                <a:latin typeface="Calibri Light" pitchFamily="34" charset="0"/>
                <a:ea typeface="Calibri Light" pitchFamily="34" charset="-122"/>
                <a:cs typeface="Calibri Light" pitchFamily="34" charset="-120"/>
              </a:rPr>
              <a:t>“</a:t>
            </a:r>
            <a:endParaRPr lang="en-US" sz="4800" dirty="0"/>
          </a:p>
        </p:txBody>
      </p:sp>
      <p:sp>
        <p:nvSpPr>
          <p:cNvPr id="6" name="Text 3"/>
          <p:cNvSpPr/>
          <p:nvPr/>
        </p:nvSpPr>
        <p:spPr>
          <a:xfrm>
            <a:off x="1005840" y="1691640"/>
            <a:ext cx="7680960" cy="777240"/>
          </a:xfrm>
          <a:prstGeom prst="rect">
            <a:avLst/>
          </a:prstGeom>
          <a:noFill/>
          <a:ln/>
        </p:spPr>
        <p:txBody>
          <a:bodyPr wrap="square" lIns="0" tIns="0" rIns="0" bIns="0" rtlCol="0" anchor="ctr"/>
          <a:lstStyle/>
          <a:p>
            <a:pPr indent="0" marL="0">
              <a:buNone/>
            </a:pPr>
            <a:r>
              <a:rPr lang="en-US" sz="1400" i="1" dirty="0">
                <a:solidFill>
                  <a:srgbClr val="15314F"/>
                </a:solidFill>
                <a:latin typeface="Calibri Light" pitchFamily="34" charset="0"/>
                <a:ea typeface="Calibri Light" pitchFamily="34" charset="-122"/>
                <a:cs typeface="Calibri Light" pitchFamily="34" charset="-120"/>
              </a:rPr>
              <a:t>Could another nonprofit — without Islamic framing — write the exact same THEN I just wrote?</a:t>
            </a:r>
            <a:endParaRPr lang="en-US" sz="1400" dirty="0"/>
          </a:p>
        </p:txBody>
      </p:sp>
      <p:sp>
        <p:nvSpPr>
          <p:cNvPr id="7" name="Text 4"/>
          <p:cNvSpPr/>
          <p:nvPr/>
        </p:nvSpPr>
        <p:spPr>
          <a:xfrm>
            <a:off x="502920" y="2514600"/>
            <a:ext cx="457200" cy="640080"/>
          </a:xfrm>
          <a:prstGeom prst="rect">
            <a:avLst/>
          </a:prstGeom>
          <a:noFill/>
          <a:ln/>
        </p:spPr>
        <p:txBody>
          <a:bodyPr wrap="square" lIns="0" tIns="0" rIns="0" bIns="0" rtlCol="0" anchor="ctr"/>
          <a:lstStyle/>
          <a:p>
            <a:pPr indent="0" marL="0">
              <a:buNone/>
            </a:pPr>
            <a:r>
              <a:rPr lang="en-US" sz="4800" dirty="0">
                <a:solidFill>
                  <a:srgbClr val="5BA9D8"/>
                </a:solidFill>
                <a:latin typeface="Calibri Light" pitchFamily="34" charset="0"/>
                <a:ea typeface="Calibri Light" pitchFamily="34" charset="-122"/>
                <a:cs typeface="Calibri Light" pitchFamily="34" charset="-120"/>
              </a:rPr>
              <a:t>“</a:t>
            </a:r>
            <a:endParaRPr lang="en-US" sz="4800" dirty="0"/>
          </a:p>
        </p:txBody>
      </p:sp>
      <p:sp>
        <p:nvSpPr>
          <p:cNvPr id="8" name="Text 5"/>
          <p:cNvSpPr/>
          <p:nvPr/>
        </p:nvSpPr>
        <p:spPr>
          <a:xfrm>
            <a:off x="1005840" y="2560320"/>
            <a:ext cx="7680960" cy="777240"/>
          </a:xfrm>
          <a:prstGeom prst="rect">
            <a:avLst/>
          </a:prstGeom>
          <a:noFill/>
          <a:ln/>
        </p:spPr>
        <p:txBody>
          <a:bodyPr wrap="square" lIns="0" tIns="0" rIns="0" bIns="0" rtlCol="0" anchor="ctr"/>
          <a:lstStyle/>
          <a:p>
            <a:pPr indent="0" marL="0">
              <a:buNone/>
            </a:pPr>
            <a:r>
              <a:rPr lang="en-US" sz="1400" i="1" dirty="0">
                <a:solidFill>
                  <a:srgbClr val="15314F"/>
                </a:solidFill>
                <a:latin typeface="Calibri Light" pitchFamily="34" charset="0"/>
                <a:ea typeface="Calibri Light" pitchFamily="34" charset="-122"/>
                <a:cs typeface="Calibri Light" pitchFamily="34" charset="-120"/>
              </a:rPr>
              <a:t>If my program ran perfectly but no one's life changed, would my THEN still be true?</a:t>
            </a:r>
            <a:endParaRPr lang="en-US" sz="1400" dirty="0"/>
          </a:p>
        </p:txBody>
      </p:sp>
      <p:sp>
        <p:nvSpPr>
          <p:cNvPr id="9" name="Text 6"/>
          <p:cNvSpPr/>
          <p:nvPr/>
        </p:nvSpPr>
        <p:spPr>
          <a:xfrm>
            <a:off x="502920" y="3383280"/>
            <a:ext cx="457200" cy="640080"/>
          </a:xfrm>
          <a:prstGeom prst="rect">
            <a:avLst/>
          </a:prstGeom>
          <a:noFill/>
          <a:ln/>
        </p:spPr>
        <p:txBody>
          <a:bodyPr wrap="square" lIns="0" tIns="0" rIns="0" bIns="0" rtlCol="0" anchor="ctr"/>
          <a:lstStyle/>
          <a:p>
            <a:pPr indent="0" marL="0">
              <a:buNone/>
            </a:pPr>
            <a:r>
              <a:rPr lang="en-US" sz="4800" dirty="0">
                <a:solidFill>
                  <a:srgbClr val="5BA9D8"/>
                </a:solidFill>
                <a:latin typeface="Calibri Light" pitchFamily="34" charset="0"/>
                <a:ea typeface="Calibri Light" pitchFamily="34" charset="-122"/>
                <a:cs typeface="Calibri Light" pitchFamily="34" charset="-120"/>
              </a:rPr>
              <a:t>“</a:t>
            </a:r>
            <a:endParaRPr lang="en-US" sz="4800" dirty="0"/>
          </a:p>
        </p:txBody>
      </p:sp>
      <p:sp>
        <p:nvSpPr>
          <p:cNvPr id="10" name="Text 7"/>
          <p:cNvSpPr/>
          <p:nvPr/>
        </p:nvSpPr>
        <p:spPr>
          <a:xfrm>
            <a:off x="1005840" y="3429000"/>
            <a:ext cx="7680960" cy="777240"/>
          </a:xfrm>
          <a:prstGeom prst="rect">
            <a:avLst/>
          </a:prstGeom>
          <a:noFill/>
          <a:ln/>
        </p:spPr>
        <p:txBody>
          <a:bodyPr wrap="square" lIns="0" tIns="0" rIns="0" bIns="0" rtlCol="0" anchor="ctr"/>
          <a:lstStyle/>
          <a:p>
            <a:pPr indent="0" marL="0">
              <a:buNone/>
            </a:pPr>
            <a:r>
              <a:rPr lang="en-US" sz="1400" i="1" dirty="0">
                <a:solidFill>
                  <a:srgbClr val="15314F"/>
                </a:solidFill>
                <a:latin typeface="Calibri Light" pitchFamily="34" charset="0"/>
                <a:ea typeface="Calibri Light" pitchFamily="34" charset="-122"/>
                <a:cs typeface="Calibri Light" pitchFamily="34" charset="-120"/>
              </a:rPr>
              <a:t>When I read my IF aloud, does it describe a philosophy I could defend — or just a logistical fact about an event?</a:t>
            </a:r>
            <a:endParaRPr lang="en-US" sz="1400" dirty="0"/>
          </a:p>
        </p:txBody>
      </p:sp>
      <p:sp>
        <p:nvSpPr>
          <p:cNvPr id="11" name="Shape 8"/>
          <p:cNvSpPr/>
          <p:nvPr/>
        </p:nvSpPr>
        <p:spPr>
          <a:xfrm>
            <a:off x="502920" y="4732020"/>
            <a:ext cx="8138160" cy="0"/>
          </a:xfrm>
          <a:prstGeom prst="line">
            <a:avLst/>
          </a:prstGeom>
          <a:noFill/>
          <a:ln w="9525">
            <a:solidFill>
              <a:srgbClr val="DCE6EE"/>
            </a:solidFill>
            <a:prstDash val="solid"/>
          </a:ln>
        </p:spPr>
      </p:sp>
      <p:sp>
        <p:nvSpPr>
          <p:cNvPr id="12" name="Text 9"/>
          <p:cNvSpPr/>
          <p:nvPr/>
        </p:nvSpPr>
        <p:spPr>
          <a:xfrm>
            <a:off x="502920" y="4823460"/>
            <a:ext cx="3657600" cy="228600"/>
          </a:xfrm>
          <a:prstGeom prst="rect">
            <a:avLst/>
          </a:prstGeom>
          <a:noFill/>
          <a:ln/>
        </p:spPr>
        <p:txBody>
          <a:bodyPr wrap="square" lIns="0" tIns="0" rIns="0" bIns="0" rtlCol="0" anchor="ctr"/>
          <a:lstStyle/>
          <a:p>
            <a:pPr algn="l" indent="0" marL="0">
              <a:buNone/>
            </a:pPr>
            <a:r>
              <a:rPr lang="en-US" sz="900" dirty="0">
                <a:solidFill>
                  <a:srgbClr val="5A6F82"/>
                </a:solidFill>
                <a:latin typeface="Calibri" pitchFamily="34" charset="0"/>
                <a:ea typeface="Calibri" pitchFamily="34" charset="-122"/>
                <a:cs typeface="Calibri" pitchFamily="34" charset="-120"/>
              </a:rPr>
              <a:t>www.amalandcompany.com</a:t>
            </a:r>
            <a:endParaRPr lang="en-US" sz="900" dirty="0"/>
          </a:p>
        </p:txBody>
      </p:sp>
      <p:sp>
        <p:nvSpPr>
          <p:cNvPr id="13" name="Text 10"/>
          <p:cNvSpPr/>
          <p:nvPr/>
        </p:nvSpPr>
        <p:spPr>
          <a:xfrm>
            <a:off x="2743200" y="4823460"/>
            <a:ext cx="3657600" cy="228600"/>
          </a:xfrm>
          <a:prstGeom prst="rect">
            <a:avLst/>
          </a:prstGeom>
          <a:noFill/>
          <a:ln/>
        </p:spPr>
        <p:txBody>
          <a:bodyPr wrap="square" lIns="0" tIns="0" rIns="0" bIns="0" rtlCol="0" anchor="ctr"/>
          <a:lstStyle/>
          <a:p>
            <a:pPr algn="ctr" indent="0" marL="0">
              <a:buNone/>
            </a:pPr>
            <a:r>
              <a:rPr lang="en-US" sz="850" dirty="0">
                <a:solidFill>
                  <a:srgbClr val="9AAEC0"/>
                </a:solidFill>
                <a:latin typeface="Calibri" pitchFamily="34" charset="0"/>
                <a:ea typeface="Calibri" pitchFamily="34" charset="-122"/>
                <a:cs typeface="Calibri" pitchFamily="34" charset="-120"/>
              </a:rPr>
              <a:t>Module 2  ·  Q-Zero — The Hypothesis</a:t>
            </a:r>
            <a:endParaRPr lang="en-US" sz="850" dirty="0"/>
          </a:p>
        </p:txBody>
      </p:sp>
      <p:sp>
        <p:nvSpPr>
          <p:cNvPr id="14" name="Text 11"/>
          <p:cNvSpPr/>
          <p:nvPr/>
        </p:nvSpPr>
        <p:spPr>
          <a:xfrm>
            <a:off x="4983480" y="4823460"/>
            <a:ext cx="3657600" cy="228600"/>
          </a:xfrm>
          <a:prstGeom prst="rect">
            <a:avLst/>
          </a:prstGeom>
          <a:noFill/>
          <a:ln/>
        </p:spPr>
        <p:txBody>
          <a:bodyPr wrap="square" lIns="0" tIns="0" rIns="0" bIns="0" rtlCol="0" anchor="ctr"/>
          <a:lstStyle/>
          <a:p>
            <a:pPr algn="r" indent="0" marL="0">
              <a:buNone/>
            </a:pPr>
            <a:r>
              <a:rPr lang="en-US" sz="900" dirty="0">
                <a:solidFill>
                  <a:srgbClr val="5A6F82"/>
                </a:solidFill>
                <a:latin typeface="Calibri" pitchFamily="34" charset="0"/>
                <a:ea typeface="Calibri" pitchFamily="34" charset="-122"/>
                <a:cs typeface="Calibri" pitchFamily="34" charset="-120"/>
              </a:rPr>
              <a:t>Page 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589520" y="-45720"/>
            <a:ext cx="1554480" cy="777240"/>
          </a:xfrm>
          <a:prstGeom prst="rect">
            <a:avLst/>
          </a:prstGeom>
        </p:spPr>
      </p:pic>
      <p:sp>
        <p:nvSpPr>
          <p:cNvPr id="3" name="Text 0"/>
          <p:cNvSpPr/>
          <p:nvPr/>
        </p:nvSpPr>
        <p:spPr>
          <a:xfrm>
            <a:off x="502920" y="384048"/>
            <a:ext cx="5943600" cy="274320"/>
          </a:xfrm>
          <a:prstGeom prst="rect">
            <a:avLst/>
          </a:prstGeom>
          <a:noFill/>
          <a:ln/>
        </p:spPr>
        <p:txBody>
          <a:bodyPr wrap="square" lIns="0" tIns="0" rIns="0" bIns="0" rtlCol="0" anchor="ctr"/>
          <a:lstStyle/>
          <a:p>
            <a:pPr indent="0" marL="0">
              <a:buNone/>
            </a:pPr>
            <a:r>
              <a:rPr lang="en-US" sz="1050" dirty="0">
                <a:solidFill>
                  <a:srgbClr val="5A6F82"/>
                </a:solidFill>
                <a:latin typeface="Calibri" pitchFamily="34" charset="0"/>
                <a:ea typeface="Calibri" pitchFamily="34" charset="-122"/>
                <a:cs typeface="Calibri" pitchFamily="34" charset="-120"/>
              </a:rPr>
              <a:t>Key takeaways</a:t>
            </a:r>
            <a:endParaRPr lang="en-US" sz="1050" dirty="0"/>
          </a:p>
        </p:txBody>
      </p:sp>
      <p:sp>
        <p:nvSpPr>
          <p:cNvPr id="4" name="Text 1"/>
          <p:cNvSpPr/>
          <p:nvPr/>
        </p:nvSpPr>
        <p:spPr>
          <a:xfrm>
            <a:off x="502920" y="640080"/>
            <a:ext cx="7315200" cy="868680"/>
          </a:xfrm>
          <a:prstGeom prst="rect">
            <a:avLst/>
          </a:prstGeom>
          <a:noFill/>
          <a:ln/>
        </p:spPr>
        <p:txBody>
          <a:bodyPr wrap="square" lIns="0" tIns="0" rIns="0" bIns="0" rtlCol="0" anchor="ctr"/>
          <a:lstStyle/>
          <a:p>
            <a:pPr indent="0" marL="0">
              <a:buNone/>
            </a:pPr>
            <a:r>
              <a:rPr lang="en-US" sz="3000" dirty="0">
                <a:solidFill>
                  <a:srgbClr val="15314F"/>
                </a:solidFill>
                <a:latin typeface="Calibri Light" pitchFamily="34" charset="0"/>
                <a:ea typeface="Calibri Light" pitchFamily="34" charset="-122"/>
                <a:cs typeface="Calibri Light" pitchFamily="34" charset="-120"/>
              </a:rPr>
              <a:t>What to carry into Module 3</a:t>
            </a:r>
            <a:endParaRPr lang="en-US" sz="3000" dirty="0"/>
          </a:p>
        </p:txBody>
      </p:sp>
      <p:pic>
        <p:nvPicPr>
          <p:cNvPr id="5" name="Image 1" descr="preencoded.png">    </p:cNvPr>
          <p:cNvPicPr>
            <a:picLocks noChangeAspect="1"/>
          </p:cNvPicPr>
          <p:nvPr/>
        </p:nvPicPr>
        <p:blipFill>
          <a:blip r:embed="rId2"/>
          <a:stretch>
            <a:fillRect/>
          </a:stretch>
        </p:blipFill>
        <p:spPr>
          <a:xfrm>
            <a:off x="502920" y="1645920"/>
            <a:ext cx="320040" cy="320040"/>
          </a:xfrm>
          <a:prstGeom prst="rect">
            <a:avLst/>
          </a:prstGeom>
        </p:spPr>
      </p:pic>
      <p:sp>
        <p:nvSpPr>
          <p:cNvPr id="6" name="Text 2"/>
          <p:cNvSpPr/>
          <p:nvPr/>
        </p:nvSpPr>
        <p:spPr>
          <a:xfrm>
            <a:off x="1005840" y="1554480"/>
            <a:ext cx="7680960" cy="320040"/>
          </a:xfrm>
          <a:prstGeom prst="rect">
            <a:avLst/>
          </a:prstGeom>
          <a:noFill/>
          <a:ln/>
        </p:spPr>
        <p:txBody>
          <a:bodyPr wrap="square" lIns="0" tIns="0" rIns="0" bIns="0" rtlCol="0" anchor="ctr"/>
          <a:lstStyle/>
          <a:p>
            <a:pPr indent="0" marL="0">
              <a:buNone/>
            </a:pPr>
            <a:r>
              <a:rPr lang="en-US" sz="1450" b="1" dirty="0">
                <a:solidFill>
                  <a:srgbClr val="15314F"/>
                </a:solidFill>
                <a:latin typeface="Calibri Light" pitchFamily="34" charset="0"/>
                <a:ea typeface="Calibri Light" pitchFamily="34" charset="-122"/>
                <a:cs typeface="Calibri Light" pitchFamily="34" charset="-120"/>
              </a:rPr>
              <a:t>Q-Zero is one sentence — but it's the spine.</a:t>
            </a:r>
            <a:endParaRPr lang="en-US" sz="1450" dirty="0"/>
          </a:p>
        </p:txBody>
      </p:sp>
      <p:sp>
        <p:nvSpPr>
          <p:cNvPr id="7" name="Text 3"/>
          <p:cNvSpPr/>
          <p:nvPr/>
        </p:nvSpPr>
        <p:spPr>
          <a:xfrm>
            <a:off x="1005840" y="1874520"/>
            <a:ext cx="7680960" cy="365760"/>
          </a:xfrm>
          <a:prstGeom prst="rect">
            <a:avLst/>
          </a:prstGeom>
          <a:noFill/>
          <a:ln/>
        </p:spPr>
        <p:txBody>
          <a:bodyPr wrap="square" lIns="0" tIns="0" rIns="0" bIns="0" rtlCol="0" anchor="ctr"/>
          <a:lstStyle/>
          <a:p>
            <a:pPr indent="0" marL="0">
              <a:buNone/>
            </a:pPr>
            <a:r>
              <a:rPr lang="en-US" sz="1150" dirty="0">
                <a:solidFill>
                  <a:srgbClr val="5A6F82"/>
                </a:solidFill>
                <a:latin typeface="Calibri" pitchFamily="34" charset="0"/>
                <a:ea typeface="Calibri" pitchFamily="34" charset="-122"/>
                <a:cs typeface="Calibri" pitchFamily="34" charset="-120"/>
              </a:rPr>
              <a:t>If your IF–THEN is wrong, every later level is wrong. Every later artifact rebuilds on this sentence.</a:t>
            </a:r>
            <a:endParaRPr lang="en-US" sz="1150" dirty="0"/>
          </a:p>
        </p:txBody>
      </p:sp>
      <p:pic>
        <p:nvPicPr>
          <p:cNvPr id="8" name="Image 2" descr="preencoded.png">    </p:cNvPr>
          <p:cNvPicPr>
            <a:picLocks noChangeAspect="1"/>
          </p:cNvPicPr>
          <p:nvPr/>
        </p:nvPicPr>
        <p:blipFill>
          <a:blip r:embed="rId3"/>
          <a:stretch>
            <a:fillRect/>
          </a:stretch>
        </p:blipFill>
        <p:spPr>
          <a:xfrm>
            <a:off x="502920" y="2331720"/>
            <a:ext cx="320040" cy="320040"/>
          </a:xfrm>
          <a:prstGeom prst="rect">
            <a:avLst/>
          </a:prstGeom>
        </p:spPr>
      </p:pic>
      <p:sp>
        <p:nvSpPr>
          <p:cNvPr id="9" name="Text 4"/>
          <p:cNvSpPr/>
          <p:nvPr/>
        </p:nvSpPr>
        <p:spPr>
          <a:xfrm>
            <a:off x="1005840" y="2240280"/>
            <a:ext cx="7680960" cy="320040"/>
          </a:xfrm>
          <a:prstGeom prst="rect">
            <a:avLst/>
          </a:prstGeom>
          <a:noFill/>
          <a:ln/>
        </p:spPr>
        <p:txBody>
          <a:bodyPr wrap="square" lIns="0" tIns="0" rIns="0" bIns="0" rtlCol="0" anchor="ctr"/>
          <a:lstStyle/>
          <a:p>
            <a:pPr indent="0" marL="0">
              <a:buNone/>
            </a:pPr>
            <a:r>
              <a:rPr lang="en-US" sz="1450" b="1" dirty="0">
                <a:solidFill>
                  <a:srgbClr val="15314F"/>
                </a:solidFill>
                <a:latin typeface="Calibri Light" pitchFamily="34" charset="0"/>
                <a:ea typeface="Calibri Light" pitchFamily="34" charset="-122"/>
                <a:cs typeface="Calibri Light" pitchFamily="34" charset="-120"/>
              </a:rPr>
              <a:t>Three laws, not three preferences.</a:t>
            </a:r>
            <a:endParaRPr lang="en-US" sz="1450" dirty="0"/>
          </a:p>
        </p:txBody>
      </p:sp>
      <p:sp>
        <p:nvSpPr>
          <p:cNvPr id="10" name="Text 5"/>
          <p:cNvSpPr/>
          <p:nvPr/>
        </p:nvSpPr>
        <p:spPr>
          <a:xfrm>
            <a:off x="1005840" y="2560320"/>
            <a:ext cx="7680960" cy="365760"/>
          </a:xfrm>
          <a:prstGeom prst="rect">
            <a:avLst/>
          </a:prstGeom>
          <a:noFill/>
          <a:ln/>
        </p:spPr>
        <p:txBody>
          <a:bodyPr wrap="square" lIns="0" tIns="0" rIns="0" bIns="0" rtlCol="0" anchor="ctr"/>
          <a:lstStyle/>
          <a:p>
            <a:pPr indent="0" marL="0">
              <a:buNone/>
            </a:pPr>
            <a:r>
              <a:rPr lang="en-US" sz="1150" dirty="0">
                <a:solidFill>
                  <a:srgbClr val="5A6F82"/>
                </a:solidFill>
                <a:latin typeface="Calibri" pitchFamily="34" charset="0"/>
                <a:ea typeface="Calibri" pitchFamily="34" charset="-122"/>
                <a:cs typeface="Calibri" pitchFamily="34" charset="-120"/>
              </a:rPr>
              <a:t>Liberate the IF. Demand a Behavioral THEN. Tie to Mission. Every Q-Zero must pass all three.</a:t>
            </a:r>
            <a:endParaRPr lang="en-US" sz="1150" dirty="0"/>
          </a:p>
        </p:txBody>
      </p:sp>
      <p:pic>
        <p:nvPicPr>
          <p:cNvPr id="11" name="Image 3" descr="preencoded.png">    </p:cNvPr>
          <p:cNvPicPr>
            <a:picLocks noChangeAspect="1"/>
          </p:cNvPicPr>
          <p:nvPr/>
        </p:nvPicPr>
        <p:blipFill>
          <a:blip r:embed="rId4"/>
          <a:stretch>
            <a:fillRect/>
          </a:stretch>
        </p:blipFill>
        <p:spPr>
          <a:xfrm>
            <a:off x="502920" y="3017520"/>
            <a:ext cx="320040" cy="320040"/>
          </a:xfrm>
          <a:prstGeom prst="rect">
            <a:avLst/>
          </a:prstGeom>
        </p:spPr>
      </p:pic>
      <p:sp>
        <p:nvSpPr>
          <p:cNvPr id="12" name="Text 6"/>
          <p:cNvSpPr/>
          <p:nvPr/>
        </p:nvSpPr>
        <p:spPr>
          <a:xfrm>
            <a:off x="1005840" y="2926080"/>
            <a:ext cx="7680960" cy="320040"/>
          </a:xfrm>
          <a:prstGeom prst="rect">
            <a:avLst/>
          </a:prstGeom>
          <a:noFill/>
          <a:ln/>
        </p:spPr>
        <p:txBody>
          <a:bodyPr wrap="square" lIns="0" tIns="0" rIns="0" bIns="0" rtlCol="0" anchor="ctr"/>
          <a:lstStyle/>
          <a:p>
            <a:pPr indent="0" marL="0">
              <a:buNone/>
            </a:pPr>
            <a:r>
              <a:rPr lang="en-US" sz="1450" b="1" dirty="0">
                <a:solidFill>
                  <a:srgbClr val="15314F"/>
                </a:solidFill>
                <a:latin typeface="Calibri Light" pitchFamily="34" charset="0"/>
                <a:ea typeface="Calibri Light" pitchFamily="34" charset="-122"/>
                <a:cs typeface="Calibri Light" pitchFamily="34" charset="-120"/>
              </a:rPr>
              <a:t>Yellow is normal. Stay there until you're Green.</a:t>
            </a:r>
            <a:endParaRPr lang="en-US" sz="1450" dirty="0"/>
          </a:p>
        </p:txBody>
      </p:sp>
      <p:sp>
        <p:nvSpPr>
          <p:cNvPr id="13" name="Text 7"/>
          <p:cNvSpPr/>
          <p:nvPr/>
        </p:nvSpPr>
        <p:spPr>
          <a:xfrm>
            <a:off x="1005840" y="3246120"/>
            <a:ext cx="7680960" cy="365760"/>
          </a:xfrm>
          <a:prstGeom prst="rect">
            <a:avLst/>
          </a:prstGeom>
          <a:noFill/>
          <a:ln/>
        </p:spPr>
        <p:txBody>
          <a:bodyPr wrap="square" lIns="0" tIns="0" rIns="0" bIns="0" rtlCol="0" anchor="ctr"/>
          <a:lstStyle/>
          <a:p>
            <a:pPr indent="0" marL="0">
              <a:buNone/>
            </a:pPr>
            <a:r>
              <a:rPr lang="en-US" sz="1150" dirty="0">
                <a:solidFill>
                  <a:srgbClr val="5A6F82"/>
                </a:solidFill>
                <a:latin typeface="Calibri" pitchFamily="34" charset="0"/>
                <a:ea typeface="Calibri" pitchFamily="34" charset="-122"/>
                <a:cs typeface="Calibri" pitchFamily="34" charset="-120"/>
              </a:rPr>
              <a:t>First drafts almost always rate Yellow. Sharpening from Yellow to Green is the actual work of Module 2.</a:t>
            </a:r>
            <a:endParaRPr lang="en-US" sz="1150" dirty="0"/>
          </a:p>
        </p:txBody>
      </p:sp>
      <p:pic>
        <p:nvPicPr>
          <p:cNvPr id="14" name="Image 4" descr="preencoded.png">    </p:cNvPr>
          <p:cNvPicPr>
            <a:picLocks noChangeAspect="1"/>
          </p:cNvPicPr>
          <p:nvPr/>
        </p:nvPicPr>
        <p:blipFill>
          <a:blip r:embed="rId5"/>
          <a:stretch>
            <a:fillRect/>
          </a:stretch>
        </p:blipFill>
        <p:spPr>
          <a:xfrm>
            <a:off x="502920" y="3703320"/>
            <a:ext cx="320040" cy="320040"/>
          </a:xfrm>
          <a:prstGeom prst="rect">
            <a:avLst/>
          </a:prstGeom>
        </p:spPr>
      </p:pic>
      <p:sp>
        <p:nvSpPr>
          <p:cNvPr id="15" name="Text 8"/>
          <p:cNvSpPr/>
          <p:nvPr/>
        </p:nvSpPr>
        <p:spPr>
          <a:xfrm>
            <a:off x="1005840" y="3611880"/>
            <a:ext cx="7680960" cy="320040"/>
          </a:xfrm>
          <a:prstGeom prst="rect">
            <a:avLst/>
          </a:prstGeom>
          <a:noFill/>
          <a:ln/>
        </p:spPr>
        <p:txBody>
          <a:bodyPr wrap="square" lIns="0" tIns="0" rIns="0" bIns="0" rtlCol="0" anchor="ctr"/>
          <a:lstStyle/>
          <a:p>
            <a:pPr indent="0" marL="0">
              <a:buNone/>
            </a:pPr>
            <a:r>
              <a:rPr lang="en-US" sz="1450" b="1" dirty="0">
                <a:solidFill>
                  <a:srgbClr val="15314F"/>
                </a:solidFill>
                <a:latin typeface="Calibri Light" pitchFamily="34" charset="0"/>
                <a:ea typeface="Calibri Light" pitchFamily="34" charset="-122"/>
                <a:cs typeface="Calibri Light" pitchFamily="34" charset="-120"/>
              </a:rPr>
              <a:t>MASGLA's fingerprint is non-negotiable.</a:t>
            </a:r>
            <a:endParaRPr lang="en-US" sz="1450" dirty="0"/>
          </a:p>
        </p:txBody>
      </p:sp>
      <p:sp>
        <p:nvSpPr>
          <p:cNvPr id="16" name="Text 9"/>
          <p:cNvSpPr/>
          <p:nvPr/>
        </p:nvSpPr>
        <p:spPr>
          <a:xfrm>
            <a:off x="1005840" y="3931920"/>
            <a:ext cx="7680960" cy="365760"/>
          </a:xfrm>
          <a:prstGeom prst="rect">
            <a:avLst/>
          </a:prstGeom>
          <a:noFill/>
          <a:ln/>
        </p:spPr>
        <p:txBody>
          <a:bodyPr wrap="square" lIns="0" tIns="0" rIns="0" bIns="0" rtlCol="0" anchor="ctr"/>
          <a:lstStyle/>
          <a:p>
            <a:pPr indent="0" marL="0">
              <a:buNone/>
            </a:pPr>
            <a:r>
              <a:rPr lang="en-US" sz="1150" dirty="0">
                <a:solidFill>
                  <a:srgbClr val="5A6F82"/>
                </a:solidFill>
                <a:latin typeface="Calibri" pitchFamily="34" charset="0"/>
                <a:ea typeface="Calibri" pitchFamily="34" charset="-122"/>
                <a:cs typeface="Calibri" pitchFamily="34" charset="-120"/>
              </a:rPr>
              <a:t>If a secular org could write your THEN, it's not yet your THEN. The Islamic frame is what makes our TOCs ours.</a:t>
            </a:r>
            <a:endParaRPr lang="en-US" sz="1150" dirty="0"/>
          </a:p>
        </p:txBody>
      </p:sp>
      <p:sp>
        <p:nvSpPr>
          <p:cNvPr id="17" name="Shape 10"/>
          <p:cNvSpPr/>
          <p:nvPr/>
        </p:nvSpPr>
        <p:spPr>
          <a:xfrm>
            <a:off x="502920" y="4732020"/>
            <a:ext cx="8138160" cy="0"/>
          </a:xfrm>
          <a:prstGeom prst="line">
            <a:avLst/>
          </a:prstGeom>
          <a:noFill/>
          <a:ln w="9525">
            <a:solidFill>
              <a:srgbClr val="DCE6EE"/>
            </a:solidFill>
            <a:prstDash val="solid"/>
          </a:ln>
        </p:spPr>
      </p:sp>
      <p:sp>
        <p:nvSpPr>
          <p:cNvPr id="18" name="Text 11"/>
          <p:cNvSpPr/>
          <p:nvPr/>
        </p:nvSpPr>
        <p:spPr>
          <a:xfrm>
            <a:off x="502920" y="4823460"/>
            <a:ext cx="3657600" cy="228600"/>
          </a:xfrm>
          <a:prstGeom prst="rect">
            <a:avLst/>
          </a:prstGeom>
          <a:noFill/>
          <a:ln/>
        </p:spPr>
        <p:txBody>
          <a:bodyPr wrap="square" lIns="0" tIns="0" rIns="0" bIns="0" rtlCol="0" anchor="ctr"/>
          <a:lstStyle/>
          <a:p>
            <a:pPr algn="l" indent="0" marL="0">
              <a:buNone/>
            </a:pPr>
            <a:r>
              <a:rPr lang="en-US" sz="900" dirty="0">
                <a:solidFill>
                  <a:srgbClr val="5A6F82"/>
                </a:solidFill>
                <a:latin typeface="Calibri" pitchFamily="34" charset="0"/>
                <a:ea typeface="Calibri" pitchFamily="34" charset="-122"/>
                <a:cs typeface="Calibri" pitchFamily="34" charset="-120"/>
              </a:rPr>
              <a:t>www.amalandcompany.com</a:t>
            </a:r>
            <a:endParaRPr lang="en-US" sz="900" dirty="0"/>
          </a:p>
        </p:txBody>
      </p:sp>
      <p:sp>
        <p:nvSpPr>
          <p:cNvPr id="19" name="Text 12"/>
          <p:cNvSpPr/>
          <p:nvPr/>
        </p:nvSpPr>
        <p:spPr>
          <a:xfrm>
            <a:off x="2743200" y="4823460"/>
            <a:ext cx="3657600" cy="228600"/>
          </a:xfrm>
          <a:prstGeom prst="rect">
            <a:avLst/>
          </a:prstGeom>
          <a:noFill/>
          <a:ln/>
        </p:spPr>
        <p:txBody>
          <a:bodyPr wrap="square" lIns="0" tIns="0" rIns="0" bIns="0" rtlCol="0" anchor="ctr"/>
          <a:lstStyle/>
          <a:p>
            <a:pPr algn="ctr" indent="0" marL="0">
              <a:buNone/>
            </a:pPr>
            <a:r>
              <a:rPr lang="en-US" sz="850" dirty="0">
                <a:solidFill>
                  <a:srgbClr val="9AAEC0"/>
                </a:solidFill>
                <a:latin typeface="Calibri" pitchFamily="34" charset="0"/>
                <a:ea typeface="Calibri" pitchFamily="34" charset="-122"/>
                <a:cs typeface="Calibri" pitchFamily="34" charset="-120"/>
              </a:rPr>
              <a:t>Module 2  ·  Q-Zero — The Hypothesis</a:t>
            </a:r>
            <a:endParaRPr lang="en-US" sz="850" dirty="0"/>
          </a:p>
        </p:txBody>
      </p:sp>
      <p:sp>
        <p:nvSpPr>
          <p:cNvPr id="20" name="Text 13"/>
          <p:cNvSpPr/>
          <p:nvPr/>
        </p:nvSpPr>
        <p:spPr>
          <a:xfrm>
            <a:off x="4983480" y="4823460"/>
            <a:ext cx="3657600" cy="228600"/>
          </a:xfrm>
          <a:prstGeom prst="rect">
            <a:avLst/>
          </a:prstGeom>
          <a:noFill/>
          <a:ln/>
        </p:spPr>
        <p:txBody>
          <a:bodyPr wrap="square" lIns="0" tIns="0" rIns="0" bIns="0" rtlCol="0" anchor="ctr"/>
          <a:lstStyle/>
          <a:p>
            <a:pPr algn="r" indent="0" marL="0">
              <a:buNone/>
            </a:pPr>
            <a:r>
              <a:rPr lang="en-US" sz="900" dirty="0">
                <a:solidFill>
                  <a:srgbClr val="5A6F82"/>
                </a:solidFill>
                <a:latin typeface="Calibri" pitchFamily="34" charset="0"/>
                <a:ea typeface="Calibri" pitchFamily="34" charset="-122"/>
                <a:cs typeface="Calibri" pitchFamily="34" charset="-120"/>
              </a:rPr>
              <a:t>Page 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5314F"/>
        </a:solidFill>
      </p:bgPr>
    </p:bg>
    <p:spTree>
      <p:nvGrpSpPr>
        <p:cNvPr id="1" name=""/>
        <p:cNvGrpSpPr/>
        <p:nvPr/>
      </p:nvGrpSpPr>
      <p:grpSpPr>
        <a:xfrm>
          <a:off x="0" y="0"/>
          <a:ext cx="0" cy="0"/>
          <a:chOff x="0" y="0"/>
          <a:chExt cx="0" cy="0"/>
        </a:xfrm>
      </p:grpSpPr>
      <p:sp>
        <p:nvSpPr>
          <p:cNvPr id="2" name="Text 0"/>
          <p:cNvSpPr/>
          <p:nvPr/>
        </p:nvSpPr>
        <p:spPr>
          <a:xfrm>
            <a:off x="502920" y="1325880"/>
            <a:ext cx="8138160" cy="320040"/>
          </a:xfrm>
          <a:prstGeom prst="rect">
            <a:avLst/>
          </a:prstGeom>
          <a:noFill/>
          <a:ln/>
        </p:spPr>
        <p:txBody>
          <a:bodyPr wrap="square" lIns="0" tIns="0" rIns="0" bIns="0" rtlCol="0" anchor="ctr"/>
          <a:lstStyle/>
          <a:p>
            <a:pPr algn="ctr" indent="0" marL="0">
              <a:buNone/>
            </a:pPr>
            <a:r>
              <a:rPr lang="en-US" sz="1200" b="1" spc="500" kern="0" dirty="0">
                <a:solidFill>
                  <a:srgbClr val="5BA9D8"/>
                </a:solidFill>
                <a:latin typeface="Calibri" pitchFamily="34" charset="0"/>
                <a:ea typeface="Calibri" pitchFamily="34" charset="-122"/>
                <a:cs typeface="Calibri" pitchFamily="34" charset="-120"/>
              </a:rPr>
              <a:t>Coming next  ·  Module 3</a:t>
            </a:r>
            <a:endParaRPr lang="en-US" sz="1200" dirty="0"/>
          </a:p>
        </p:txBody>
      </p:sp>
      <p:sp>
        <p:nvSpPr>
          <p:cNvPr id="3" name="Text 1"/>
          <p:cNvSpPr/>
          <p:nvPr/>
        </p:nvSpPr>
        <p:spPr>
          <a:xfrm>
            <a:off x="502920" y="1691640"/>
            <a:ext cx="8138160" cy="1371600"/>
          </a:xfrm>
          <a:prstGeom prst="rect">
            <a:avLst/>
          </a:prstGeom>
          <a:noFill/>
          <a:ln/>
        </p:spPr>
        <p:txBody>
          <a:bodyPr wrap="square" lIns="0" tIns="0" rIns="0" bIns="0" rtlCol="0" anchor="ctr"/>
          <a:lstStyle/>
          <a:p>
            <a:pPr algn="ctr" indent="0" marL="0">
              <a:buNone/>
            </a:pPr>
            <a:r>
              <a:rPr lang="en-US" sz="3800" dirty="0">
                <a:solidFill>
                  <a:srgbClr val="FFFFFF"/>
                </a:solidFill>
                <a:latin typeface="Calibri Light" pitchFamily="34" charset="0"/>
                <a:ea typeface="Calibri Light" pitchFamily="34" charset="-122"/>
                <a:cs typeface="Calibri Light" pitchFamily="34" charset="-120"/>
              </a:rPr>
              <a:t>The Impact Pathway</a:t>
            </a:r>
            <a:endParaRPr lang="en-US" sz="3800" dirty="0"/>
          </a:p>
        </p:txBody>
      </p:sp>
      <p:sp>
        <p:nvSpPr>
          <p:cNvPr id="4" name="Text 2"/>
          <p:cNvSpPr/>
          <p:nvPr/>
        </p:nvSpPr>
        <p:spPr>
          <a:xfrm>
            <a:off x="914400" y="3246120"/>
            <a:ext cx="7315200" cy="1280160"/>
          </a:xfrm>
          <a:prstGeom prst="rect">
            <a:avLst/>
          </a:prstGeom>
          <a:noFill/>
          <a:ln/>
        </p:spPr>
        <p:txBody>
          <a:bodyPr wrap="square" lIns="0" tIns="0" rIns="0" bIns="0" rtlCol="0" anchor="ctr"/>
          <a:lstStyle/>
          <a:p>
            <a:pPr algn="ctr" indent="0" marL="0">
              <a:buNone/>
            </a:pPr>
            <a:r>
              <a:rPr lang="en-US" sz="1400" dirty="0">
                <a:solidFill>
                  <a:srgbClr val="B8DDF0"/>
                </a:solidFill>
                <a:latin typeface="Calibri" pitchFamily="34" charset="0"/>
                <a:ea typeface="Calibri" pitchFamily="34" charset="-122"/>
                <a:cs typeface="Calibri" pitchFamily="34" charset="-120"/>
              </a:rPr>
              <a:t>We expand your Q-Zero into the full five-level causal chain — from the people you serve through to long-term impact, with assumptions named at every link.</a:t>
            </a:r>
            <a:endParaRPr lang="en-US" sz="1400" dirty="0"/>
          </a:p>
        </p:txBody>
      </p:sp>
      <p:sp>
        <p:nvSpPr>
          <p:cNvPr id="5" name="Text 3"/>
          <p:cNvSpPr/>
          <p:nvPr/>
        </p:nvSpPr>
        <p:spPr>
          <a:xfrm>
            <a:off x="502920" y="4777740"/>
            <a:ext cx="8138160" cy="228600"/>
          </a:xfrm>
          <a:prstGeom prst="rect">
            <a:avLst/>
          </a:prstGeom>
          <a:noFill/>
          <a:ln/>
        </p:spPr>
        <p:txBody>
          <a:bodyPr wrap="square" lIns="0" tIns="0" rIns="0" bIns="0" rtlCol="0" anchor="ctr"/>
          <a:lstStyle/>
          <a:p>
            <a:pPr algn="ctr" indent="0" marL="0">
              <a:buNone/>
            </a:pPr>
            <a:r>
              <a:rPr lang="en-US" sz="900" spc="300" kern="0" dirty="0">
                <a:solidFill>
                  <a:srgbClr val="5BA9D8"/>
                </a:solidFill>
                <a:latin typeface="Calibri" pitchFamily="34" charset="0"/>
                <a:ea typeface="Calibri" pitchFamily="34" charset="-122"/>
                <a:cs typeface="Calibri" pitchFamily="34" charset="-120"/>
              </a:rPr>
              <a:t>AMAL &amp; COMPANY  ·  SCALING SOCIAL IMPACT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2 — Q-Zero — The Hypothesis</dc:title>
  <dc:subject>PptxGenJS Presentation</dc:subject>
  <dc:creator>MASGLA · Amal &amp; Company</dc:creator>
  <cp:lastModifiedBy>MASGLA · Amal &amp; Company</cp:lastModifiedBy>
  <cp:revision>1</cp:revision>
  <dcterms:created xsi:type="dcterms:W3CDTF">2026-06-29T09:35:40Z</dcterms:created>
  <dcterms:modified xsi:type="dcterms:W3CDTF">2026-06-29T09:35:40Z</dcterms:modified>
</cp:coreProperties>
</file>
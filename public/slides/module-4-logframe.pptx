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about structure, not new content. We're translating the pathway from Module 3 into the format the rest of the world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logics. Vertical = your causal claim, made visible. Horizontal = your measurement plan, made visible. Most TOCs get the vertical right and skip the horizontal. We're building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canonical structure. Note INPUTS is described separately in many logframes — it sits above ACTIVITY but is often omitted from the table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cells for GOAL. Re-emphasize the relationship: narrative names it, indicator proves it, baseline + target sizes the change, verification provides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cells for OUTCOME. Re-emphasize the relationship: narrative names it, indicator proves it, baseline + target sizes the change, verification provides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cells for OUTPUT. Re-emphasize the relationship: narrative names it, indicator proves it, baseline + target sizes the change, verification provides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cells for ACTIVITY. Re-emphasize the relationship: narrative names it, indicator proves it, baseline + target sizes the change, verification provides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both checks before declaring a logframe done. The vertical check usually surfaces a missing level or an unsupported causal claim. The horizontal check usually surfaces a weak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appear in nearly every first-draft logframe. Make a copy of this slide and use it as your editing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minutes. First 25: silent drafting. Final 15: pair review where the partner runs both the vertical and horizontal checks. By the end, every participant should have a draft 4×4.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question always reveals where the program lead has the least confidence. That's a feature — it's the row to invest in for Module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The transition to Module 5: now that you have a logframe, you need a measurement plan that actually delivers the evidence each row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21945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3931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&amp;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097280" y="60350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97280" y="813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4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SOCIAL IMPACT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50292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2103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the</a:t>
            </a:r>
            <a:endParaRPr lang="en-US" sz="5000" dirty="0"/>
          </a:p>
          <a:p>
            <a:pPr indent="0" marL="0">
              <a:buNone/>
            </a:pPr>
            <a:r>
              <a:rPr lang="en-US" sz="5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Logframe</a:t>
            </a:r>
            <a:endParaRPr lang="en-US" sz="5000" dirty="0"/>
          </a:p>
        </p:txBody>
      </p:sp>
      <p:sp>
        <p:nvSpPr>
          <p:cNvPr id="9" name="Text 5"/>
          <p:cNvSpPr/>
          <p:nvPr/>
        </p:nvSpPr>
        <p:spPr>
          <a:xfrm>
            <a:off x="5029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your pathway into a formal 4×4 Logical Framework Matrix.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464058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98348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by Amal &amp; Company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 4 of 5  ·  Same content, structured for funders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3 you built the pathway — a flowing, narrative map. The logframe takes that same chain and organizes it into a table funders, evaluators, and leadership can read at a glance.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916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2356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4268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44268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235708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Q-Zero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17620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1762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909060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Pathway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90972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5314F"/>
          </a:solidFill>
          <a:ln w="6350">
            <a:solidFill>
              <a:srgbClr val="1531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90972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582412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Logframe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64324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64324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255764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&amp; Validating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 Logframe?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Framework Matrix — “logframe” for short — is the standard format funders, evaluators, and government partners expect when reviewing program impact. It's not new theory. It's your pathway, structured as a table.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697480"/>
            <a:ext cx="3886200" cy="1920240"/>
          </a:xfrm>
          <a:prstGeom prst="roundRect">
            <a:avLst>
              <a:gd name="adj" fmla="val 381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Vertical logic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35661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 chain. Activities produce Outputs. Outputs enable Outcomes. Outcomes drive the Goal.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54880" y="2697480"/>
            <a:ext cx="3886200" cy="1920240"/>
          </a:xfrm>
          <a:prstGeom prst="roundRect">
            <a:avLst>
              <a:gd name="adj" fmla="val 381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718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23560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Horizontal logic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29200" y="35661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level: what it is (Narrative), how you'll know (Indicator), where you start and end (Baseline + Target), and how you'll collect evidence (Verification).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structure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levels  ·  Four columns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371600" cy="41148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74520" y="1600200"/>
            <a:ext cx="2011680" cy="41148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7452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86200" y="1600200"/>
            <a:ext cx="1691640" cy="41148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600200"/>
            <a:ext cx="1645920" cy="41148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TARGET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223760" y="1600200"/>
            <a:ext cx="1508760" cy="41148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2376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2011680"/>
            <a:ext cx="1371600" cy="64008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057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874520" y="2011680"/>
            <a:ext cx="201168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6596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community change MASGLA contributes to over 3–5 years.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86200" y="2011680"/>
            <a:ext cx="169164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77640" y="2057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signal that community is moving in the right direction.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77840" y="2011680"/>
            <a:ext cx="164592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vs. where we hope to be at 3–5 yrs.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223760" y="2011680"/>
            <a:ext cx="150876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2057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surveys, alumni data, partner reports.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02920" y="2651760"/>
            <a:ext cx="1371600" cy="64008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874520" y="265176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6596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a person within 6–18 months. Behavioral, knowledge, or capacity.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886200" y="2651760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7764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observable measure of that change.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577840" y="265176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showing change now vs. target at 3/6/12 mo.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223760" y="2651760"/>
            <a:ext cx="1508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surveys, interviews, follow-up calls.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3291840"/>
            <a:ext cx="1371600" cy="64008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3337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874520" y="3291840"/>
            <a:ext cx="201168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96596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countable result of activities. What your program produces.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886200" y="3291840"/>
            <a:ext cx="169164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9776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# of participants, sessions, events, trained people.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577840" y="3291840"/>
            <a:ext cx="164592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6928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(now) + Target (by when).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223760" y="3291840"/>
            <a:ext cx="1508760" cy="640080"/>
          </a:xfrm>
          <a:prstGeom prst="rect">
            <a:avLst/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15200" y="3337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sign-ins, Program Dashboard.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02920" y="3931920"/>
            <a:ext cx="1371600" cy="64008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436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874520" y="393192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96596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sessions, retreats, classes your team delivers.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886200" y="3931920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977640" y="3977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milestones: sessions/month, sites active.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577840" y="393192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69280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actual delivery.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223760" y="3931920"/>
            <a:ext cx="1508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0" y="3977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Calendars, staff logs, facilitator reports.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top-to-bottom to verify vertical logic. Read left-to-right to verify horizontal logic.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rows  ·  1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 — long-term community change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schoolers across MASGLA's regions who carry Islamic identity and brotherhood into adult Muslim leadership.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93776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camp alumni still actively involved in an Islamic community space 2 years after camp.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TARGET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8580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not yet tracked.  ·  Target: 70% actively involved at 2-yr follow-up.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3776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3776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alumni survey by the Youth Department. Usrah enrollment records.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Goal is a contribution, not a solo claim. Phrase it as the community state your program helps move toward.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rows  ·  2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 — medium-term change in people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Participants form lasting Islamic bonds and adopt trackable spiritual habits they continue independently after camp.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93776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reporting consistent salah AND at least one active Islamic friendship at the 3-month follow-up.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TARGET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8580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40% consistent salah at intake.  ·  Target: 65% at 3-month follow-up.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3776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3776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3-month post-camp survey. Facilitator check-in calls. WhatsApp self-report.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Outcome row is where your TOC's value lives. If this row is weak, the whole logframe is weak.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rows  ·  3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— what you deliver, counted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 carefully vetted high schoolers complete the full Angelus Oaks Youth Camp program.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93776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 completing the full 5-day camp.  ·  # of 1:1 mentorship sessions held.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TARGET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8580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80 completions last year.  ·  Target: 100 completions, avg. 2 mentor sessions each.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3776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3776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 attendance logs. Vetting + interview records. Mentor session logs.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are where most MASGLA programs already track today — but check that your output includes the QUALITY of delivery, not just the count.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rows  ·  4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 — what your team does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5-day spiritually structured overnight retreat at Angelus Oaks with mentorship pairs, group bonding, worship programming, and reflection time.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23774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93776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 delivered on scheduled dates with all sessions complete. Mentors briefed and present on Day 1.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TARGET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8580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Target: 100% of planned sessions delivered as designed.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59359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3776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3776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 schedule. Mentor preparation records. Post-camp facilitator debrief.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Activity-level indicators check delivery integrity. They protect against “we ran it, but not as designed.”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Verify both logics before you ship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Vertical logic check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2377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bottom to top. “If we do these Activities, does it logically follow we'd produce these Outputs? If Outputs hold, would Outcomes follow?” Any gap in the if-then chain = vertical gap.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7724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Activities → Outputs → Outcomes → Goal. Each level should feel like the natural cause of the level above.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55448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2356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Horizontal logic check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29200" y="2377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row, ask: “If the indicator reaches the target, does that prove this level of the chain actually happened?” If not, your indicator is measuring the wrong thing.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02920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Indicator → Target → Verification. The whole row must convincingly evidence the narrative.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mistakes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Catch these before your funder does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992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dressed as outcomes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“300 youth attended Qiyam” is a count. Push to what changed in those 300.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46120" y="1508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70992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86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Goals too vague to verify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4290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“Strong Muslim youth” isn't a goal. Add population + behavior + timeframe.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989320" y="1508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0992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294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means of verification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1722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“% with stronger identity” — but who collects it, with what tool, when, where stored?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" y="29718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7296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Activities confused with outputs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8580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“Held 4 Qiyam events” is an activity. The output is what those events produced.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246120" y="29718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17296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86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Outcomes you can't attribute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342900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“Youth have stronger identity” — which youth, your program, what period?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 ·  40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your 4×4 logframe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5087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Fill the four rows. For each row, fill all four columns. When stuck, return to your Module 3 pathway — the content is already there.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1097280" cy="36576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2057400"/>
            <a:ext cx="1760220" cy="36576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91640" y="2057400"/>
            <a:ext cx="1577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0420" y="2057400"/>
            <a:ext cx="1760220" cy="36576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51860" y="2057400"/>
            <a:ext cx="1577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120640" y="2057400"/>
            <a:ext cx="1760220" cy="36576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057400"/>
            <a:ext cx="1577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Target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80860" y="2057400"/>
            <a:ext cx="1760220" cy="365760"/>
          </a:xfrm>
          <a:prstGeom prst="rect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2300" y="2057400"/>
            <a:ext cx="1577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2423160"/>
            <a:ext cx="1097280" cy="54864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600200" y="242316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60420" y="242316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0" y="242316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80860" y="242316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2971800"/>
            <a:ext cx="1097280" cy="54864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600200" y="297180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60420" y="297180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20640" y="297180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80860" y="297180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3520440"/>
            <a:ext cx="1097280" cy="54864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3520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600200" y="352044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60420" y="352044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20640" y="352044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80860" y="352044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4069080"/>
            <a:ext cx="1097280" cy="548640"/>
          </a:xfrm>
          <a:prstGeom prst="rect">
            <a:avLst/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600200" y="406908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0420" y="406908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120640" y="406908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80860" y="4069080"/>
            <a:ext cx="17602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·  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questions to test your logframe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my logframe bottom to top. Does each level feel like the natural cause of the one above it — or is there a leap I'm waving past?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005840" y="2560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each row, if my indicator hits its target, does that genuinely prove the narrative summary happened?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is my logframe weakest — Goal, Outcome, Output, or Activity? Why is that the weak row?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carry into Module 5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554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logframe isn't new content.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0058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your pathway re-organized into a 4×4 table. Same chain, different presentation.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240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logics — both must check.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00584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= causal chain. Horizontal = measurement plan. A logframe that fails either is incomplete.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Outcome row is where the value lives.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00584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programs over-invest in Activity/Output rows and under-invest in Outcome. That's backwards.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Verification is non-negotiable.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00584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needs: who collects it, what tool, when, where stored. No exceptions.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Building the Logframe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 ·  Module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Measuring &amp; Validating Impact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measurement plan with SMART indicators, baselines, targets, and a register of the assumptions you'll track.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777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&amp; COMPANY  ·  SCALING SOCIAL IMPACT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— Building the Logframe</dc:title>
  <dc:subject>PptxGenJS Presentation</dc:subject>
  <dc:creator>MASGLA · Amal &amp; Company</dc:creator>
  <cp:lastModifiedBy>MASGLA · Amal &amp; Company</cp:lastModifiedBy>
  <cp:revision>1</cp:revision>
  <dcterms:created xsi:type="dcterms:W3CDTF">2026-06-29T09:35:42Z</dcterms:created>
  <dcterms:modified xsi:type="dcterms:W3CDTF">2026-06-29T09:35:42Z</dcterms:modified>
</cp:coreProperties>
</file>